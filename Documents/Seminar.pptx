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svg" ContentType="image/svg"/>
  <Override PartName="/ppt/media/image9.png" ContentType="image/png"/>
  <Override PartName="/ppt/media/image7.png" ContentType="image/png"/>
  <Override PartName="/ppt/media/image11.png" ContentType="image/png"/>
  <Override PartName="/ppt/media/image8.png" ContentType="image/png"/>
  <Override PartName="/ppt/media/image10.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Lst>
  <p:sldSz cx="18288000" cy="10287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C062C76-50F1-4422-A764-1AEA0C979BA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8B67A341-0160-438E-8960-E550BD0CD837}"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32D11989-BC4F-45A5-99FE-CB8FB35C8097}"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583068C-3C43-4767-AB0A-D1B07BC19D24}"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473B3C89-E3A0-4634-A80F-3D5F537F6B35}"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BD60386B-EF44-40B5-A642-71118CDF907A}"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6142C0A4-1A1F-412C-BB6C-BE80AF66F50E}"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7FC1E9BC-BD84-4FB9-BB6D-E739928259EF}"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61A5253F-AF00-4954-8559-1A773681C77F}"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E11397E9-F771-4B38-A516-00ED080683D1}"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EA1BC0AC-8213-478E-A7F9-E222E04F4878}"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a:t>
            </a:r>
            <a:r>
              <a:rPr b="0" lang="en-US" sz="4400" spc="-1" strike="noStrike">
                <a:solidFill>
                  <a:schemeClr val="dk1"/>
                </a:solidFill>
                <a:latin typeface="Calibri"/>
              </a:rPr>
              <a:t>Master 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C6807949-2775-4EEB-83E4-BA1B8631EDC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D9F62A36-7E0F-4BE4-B6B0-057D1E6BA06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34437C05-7D46-4B06-A8F8-A3310129C2A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641E3E4D-C123-4B9F-8A4D-9C14873CACC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9144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9144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9EBF799B-32CD-449E-9F24-5A8F3A7FC2C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9144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F0ED6303-5168-44E5-A9AB-CB5183E3D5D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9144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9144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9144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FAC48425-10BC-4A1D-BA91-E0C9206D187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D3633250-0102-4016-90FD-E7F14C75697F}"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6873214F-4A21-47D0-B476-AF08DA74471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9144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9144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9144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9144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40250571-A3A7-4B08-999D-62ACDD1653E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9144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pc="-1" strike="noStrike">
                <a:solidFill>
                  <a:schemeClr val="dk1">
                    <a:tint val="75000"/>
                  </a:schemeClr>
                </a:solidFill>
                <a:latin typeface="Calibri"/>
              </a:defRPr>
            </a:lvl1pPr>
          </a:lstStyle>
          <a:p>
            <a:pPr indent="0" defTabSz="9144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pc="-1" strike="noStrike">
                <a:solidFill>
                  <a:schemeClr val="dk1">
                    <a:tint val="75000"/>
                  </a:schemeClr>
                </a:solidFill>
                <a:latin typeface="Calibri"/>
              </a:defRPr>
            </a:lvl1pPr>
          </a:lstStyle>
          <a:p>
            <a:pPr indent="0" algn="r" defTabSz="914400">
              <a:lnSpc>
                <a:spcPct val="100000"/>
              </a:lnSpc>
              <a:buNone/>
            </a:pPr>
            <a:fld id="{8277F5AD-6E85-4E6D-841E-6DC3DA36ED7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7" name="Freeform 1"/>
          <p:cNvSpPr/>
          <p:nvPr/>
        </p:nvSpPr>
        <p:spPr>
          <a:xfrm>
            <a:off x="356040" y="379440"/>
            <a:ext cx="1298160" cy="1298160"/>
          </a:xfrm>
          <a:custGeom>
            <a:avLst/>
            <a:gdLst>
              <a:gd name="textAreaLeft" fmla="*/ 0 w 1298160"/>
              <a:gd name="textAreaRight" fmla="*/ 1298520 w 1298160"/>
              <a:gd name="textAreaTop" fmla="*/ 0 h 1298160"/>
              <a:gd name="textAreaBottom" fmla="*/ 1298520 h 1298160"/>
            </a:gdLst>
            <a:ahLst/>
            <a:rect l="textAreaLeft" t="textAreaTop" r="textAreaRight" b="textAreaBottom"/>
            <a:pathLst>
              <a:path w="1298365" h="1298365">
                <a:moveTo>
                  <a:pt x="0" y="0"/>
                </a:moveTo>
                <a:lnTo>
                  <a:pt x="1298364" y="0"/>
                </a:lnTo>
                <a:lnTo>
                  <a:pt x="1298364" y="1298364"/>
                </a:lnTo>
                <a:lnTo>
                  <a:pt x="0" y="129836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68" name="TextBox 14"/>
          <p:cNvSpPr/>
          <p:nvPr/>
        </p:nvSpPr>
        <p:spPr>
          <a:xfrm>
            <a:off x="1654200" y="421920"/>
            <a:ext cx="16633440" cy="801360"/>
          </a:xfrm>
          <a:prstGeom prst="rect">
            <a:avLst/>
          </a:prstGeom>
          <a:noFill/>
          <a:ln w="0">
            <a:noFill/>
          </a:ln>
        </p:spPr>
        <p:style>
          <a:lnRef idx="0"/>
          <a:fillRef idx="0"/>
          <a:effectRef idx="0"/>
          <a:fontRef idx="minor"/>
        </p:style>
        <p:txBody>
          <a:bodyPr lIns="0" rIns="0" tIns="0" bIns="0" anchor="t">
            <a:spAutoFit/>
          </a:bodyPr>
          <a:p>
            <a:pPr algn="ctr" defTabSz="914400">
              <a:lnSpc>
                <a:spcPts val="6313"/>
              </a:lnSpc>
            </a:pPr>
            <a:r>
              <a:rPr b="0" lang="en-US" sz="4510" spc="-1" strike="noStrike">
                <a:solidFill>
                  <a:srgbClr val="ffffff"/>
                </a:solidFill>
                <a:latin typeface="Canva Sans Bold"/>
                <a:ea typeface="Canva Sans Bold"/>
              </a:rPr>
              <a:t>ST.THOMAS INSTITUTE FOR SCIENCE AND TECHNOLOGY</a:t>
            </a:r>
            <a:endParaRPr b="0" lang="en-US" sz="4510" spc="-1" strike="noStrike">
              <a:solidFill>
                <a:srgbClr val="ffffff"/>
              </a:solidFill>
              <a:latin typeface="Arial"/>
            </a:endParaRPr>
          </a:p>
        </p:txBody>
      </p:sp>
      <p:sp>
        <p:nvSpPr>
          <p:cNvPr id="69" name="TextBox 22"/>
          <p:cNvSpPr/>
          <p:nvPr/>
        </p:nvSpPr>
        <p:spPr>
          <a:xfrm>
            <a:off x="1371600" y="4217040"/>
            <a:ext cx="15422400" cy="1725480"/>
          </a:xfrm>
          <a:prstGeom prst="rect">
            <a:avLst/>
          </a:prstGeom>
          <a:noFill/>
          <a:ln w="0">
            <a:noFill/>
          </a:ln>
        </p:spPr>
        <p:style>
          <a:lnRef idx="0"/>
          <a:fillRef idx="0"/>
          <a:effectRef idx="0"/>
          <a:fontRef idx="minor"/>
        </p:style>
        <p:txBody>
          <a:bodyPr lIns="0" rIns="0" tIns="0" bIns="0" anchor="t">
            <a:spAutoFit/>
          </a:bodyPr>
          <a:p>
            <a:pPr algn="ctr" defTabSz="914400">
              <a:lnSpc>
                <a:spcPts val="6795"/>
              </a:lnSpc>
            </a:pPr>
            <a:r>
              <a:rPr b="0" lang="en-US" sz="4860" spc="-1" strike="noStrike">
                <a:solidFill>
                  <a:srgbClr val="ffffff"/>
                </a:solidFill>
                <a:latin typeface="Canva Sans Bold"/>
                <a:ea typeface="Canva Sans Bold"/>
              </a:rPr>
              <a:t>Smart Recipe Generation through Food Image and</a:t>
            </a:r>
            <a:endParaRPr b="0" lang="en-US" sz="4860" spc="-1" strike="noStrike">
              <a:solidFill>
                <a:srgbClr val="ffffff"/>
              </a:solidFill>
              <a:latin typeface="Arial"/>
            </a:endParaRPr>
          </a:p>
          <a:p>
            <a:pPr algn="ctr" defTabSz="914400">
              <a:lnSpc>
                <a:spcPts val="6795"/>
              </a:lnSpc>
            </a:pPr>
            <a:r>
              <a:rPr b="0" lang="en-US" sz="4860" spc="-1" strike="noStrike">
                <a:solidFill>
                  <a:srgbClr val="ffffff"/>
                </a:solidFill>
                <a:latin typeface="Canva Sans Bold"/>
                <a:ea typeface="Canva Sans Bold"/>
              </a:rPr>
              <a:t>Cooking Recipe Analysis</a:t>
            </a:r>
            <a:endParaRPr b="0" lang="en-US" sz="486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70" name="TextBox 4"/>
          <p:cNvSpPr/>
          <p:nvPr/>
        </p:nvSpPr>
        <p:spPr>
          <a:xfrm>
            <a:off x="1828800" y="560520"/>
            <a:ext cx="15422400" cy="1725480"/>
          </a:xfrm>
          <a:prstGeom prst="rect">
            <a:avLst/>
          </a:prstGeom>
          <a:noFill/>
          <a:ln w="0">
            <a:noFill/>
          </a:ln>
        </p:spPr>
        <p:style>
          <a:lnRef idx="0"/>
          <a:fillRef idx="0"/>
          <a:effectRef idx="0"/>
          <a:fontRef idx="minor"/>
        </p:style>
        <p:txBody>
          <a:bodyPr lIns="0" rIns="0" tIns="0" bIns="0" anchor="t">
            <a:spAutoFit/>
          </a:bodyPr>
          <a:p>
            <a:pPr algn="ctr" defTabSz="914400">
              <a:lnSpc>
                <a:spcPts val="6795"/>
              </a:lnSpc>
            </a:pPr>
            <a:r>
              <a:rPr b="0" lang="en-US" sz="4860" spc="-1" strike="noStrike">
                <a:solidFill>
                  <a:srgbClr val="ffffff"/>
                </a:solidFill>
                <a:latin typeface="Canva Sans Bold"/>
                <a:ea typeface="Canva Sans Bold"/>
              </a:rPr>
              <a:t>Smart Recipe Generation through Food Image and</a:t>
            </a:r>
            <a:endParaRPr b="0" lang="en-US" sz="4860" spc="-1" strike="noStrike">
              <a:solidFill>
                <a:srgbClr val="ffffff"/>
              </a:solidFill>
              <a:latin typeface="Arial"/>
            </a:endParaRPr>
          </a:p>
          <a:p>
            <a:pPr algn="ctr" defTabSz="914400">
              <a:lnSpc>
                <a:spcPts val="6795"/>
              </a:lnSpc>
            </a:pPr>
            <a:r>
              <a:rPr b="0" lang="en-US" sz="4860" spc="-1" strike="noStrike">
                <a:solidFill>
                  <a:srgbClr val="ffffff"/>
                </a:solidFill>
                <a:latin typeface="Canva Sans Bold"/>
                <a:ea typeface="Canva Sans Bold"/>
              </a:rPr>
              <a:t>Cooking Recipe Analysis</a:t>
            </a:r>
            <a:endParaRPr b="0" lang="en-US" sz="4860" spc="-1" strike="noStrike">
              <a:solidFill>
                <a:srgbClr val="ffffff"/>
              </a:solidFill>
              <a:latin typeface="Arial"/>
            </a:endParaRPr>
          </a:p>
        </p:txBody>
      </p:sp>
      <p:sp>
        <p:nvSpPr>
          <p:cNvPr id="71" name="TextBox 5"/>
          <p:cNvSpPr/>
          <p:nvPr/>
        </p:nvSpPr>
        <p:spPr>
          <a:xfrm>
            <a:off x="13143240" y="7543800"/>
            <a:ext cx="4001760" cy="1960920"/>
          </a:xfrm>
          <a:prstGeom prst="rect">
            <a:avLst/>
          </a:prstGeom>
          <a:noFill/>
          <a:ln w="0">
            <a:noFill/>
          </a:ln>
        </p:spPr>
        <p:style>
          <a:lnRef idx="0"/>
          <a:fillRef idx="0"/>
          <a:effectRef idx="0"/>
          <a:fontRef idx="minor"/>
        </p:style>
        <p:txBody>
          <a:bodyPr lIns="0" rIns="0" tIns="0" bIns="0" anchor="t">
            <a:spAutoFit/>
          </a:bodyPr>
          <a:p>
            <a:pPr defTabSz="914400">
              <a:lnSpc>
                <a:spcPts val="3861"/>
              </a:lnSpc>
            </a:pPr>
            <a:r>
              <a:rPr b="1" lang="en-US" sz="2760" spc="-1" strike="noStrike">
                <a:solidFill>
                  <a:srgbClr val="ffffff"/>
                </a:solidFill>
                <a:latin typeface="Canva Sans Bold"/>
                <a:ea typeface="Canva Sans Bold"/>
              </a:rPr>
              <a:t>GUIDED BY :</a:t>
            </a:r>
            <a:endParaRPr b="1" lang="en-US" sz="2760" spc="-1" strike="noStrike">
              <a:solidFill>
                <a:srgbClr val="ffffff"/>
              </a:solidFill>
              <a:latin typeface="Arial"/>
            </a:endParaRPr>
          </a:p>
          <a:p>
            <a:pPr defTabSz="914400">
              <a:lnSpc>
                <a:spcPts val="3861"/>
              </a:lnSpc>
            </a:pPr>
            <a:r>
              <a:rPr b="1" lang="en-US" sz="2760" spc="-1" strike="noStrike">
                <a:solidFill>
                  <a:srgbClr val="ffffff"/>
                </a:solidFill>
                <a:latin typeface="Canva Sans Bold"/>
                <a:ea typeface="Canva Sans Bold"/>
              </a:rPr>
              <a:t>MRS. BINDHYA PS</a:t>
            </a:r>
            <a:endParaRPr b="1" lang="en-US" sz="2760" spc="-1" strike="noStrike">
              <a:solidFill>
                <a:srgbClr val="ffffff"/>
              </a:solidFill>
              <a:latin typeface="Arial"/>
            </a:endParaRPr>
          </a:p>
          <a:p>
            <a:pPr defTabSz="914400">
              <a:lnSpc>
                <a:spcPts val="3861"/>
              </a:lnSpc>
            </a:pPr>
            <a:r>
              <a:rPr b="1" lang="en-US" sz="2760" spc="-1" strike="noStrike">
                <a:solidFill>
                  <a:srgbClr val="ffffff"/>
                </a:solidFill>
                <a:latin typeface="Canva Sans Bold"/>
                <a:ea typeface="Canva Sans Bold"/>
              </a:rPr>
              <a:t>ASST. PROFESSOR, CSE</a:t>
            </a:r>
            <a:endParaRPr b="1" lang="en-US" sz="2760" spc="-1" strike="noStrike">
              <a:solidFill>
                <a:srgbClr val="ffffff"/>
              </a:solidFill>
              <a:latin typeface="Arial"/>
            </a:endParaRPr>
          </a:p>
          <a:p>
            <a:pPr defTabSz="914400">
              <a:lnSpc>
                <a:spcPts val="3861"/>
              </a:lnSpc>
            </a:pPr>
            <a:endParaRPr b="1" lang="en-US" sz="1800" spc="-1" strike="noStrike">
              <a:solidFill>
                <a:srgbClr val="ffffff"/>
              </a:solidFill>
              <a:latin typeface="Arial"/>
            </a:endParaRPr>
          </a:p>
        </p:txBody>
      </p:sp>
      <p:sp>
        <p:nvSpPr>
          <p:cNvPr id="72" name=""/>
          <p:cNvSpPr txBox="1"/>
          <p:nvPr/>
        </p:nvSpPr>
        <p:spPr>
          <a:xfrm>
            <a:off x="3429000" y="4719960"/>
            <a:ext cx="3200400" cy="1223640"/>
          </a:xfrm>
          <a:prstGeom prst="rect">
            <a:avLst/>
          </a:prstGeom>
          <a:noFill/>
          <a:ln w="0">
            <a:noFill/>
          </a:ln>
        </p:spPr>
        <p:txBody>
          <a:bodyPr lIns="90000" rIns="90000" tIns="45000" bIns="45000" anchor="ctr">
            <a:noAutofit/>
          </a:bodyPr>
          <a:p>
            <a:r>
              <a:rPr b="1" lang="en-US" sz="2400" spc="-1" strike="noStrike">
                <a:solidFill>
                  <a:srgbClr val="ffffff"/>
                </a:solidFill>
                <a:latin typeface="Arial"/>
              </a:rPr>
              <a:t>Adimalupu Ganesh</a:t>
            </a:r>
            <a:endParaRPr b="1" lang="en-US" sz="2400" spc="-1" strike="noStrike">
              <a:solidFill>
                <a:srgbClr val="ffffff"/>
              </a:solidFill>
              <a:latin typeface="Arial"/>
            </a:endParaRPr>
          </a:p>
          <a:p>
            <a:r>
              <a:rPr b="1" lang="en-US" sz="2400" spc="-1" strike="noStrike">
                <a:solidFill>
                  <a:srgbClr val="ffffff"/>
                </a:solidFill>
                <a:latin typeface="Arial"/>
              </a:rPr>
              <a:t>STI21CS011</a:t>
            </a:r>
            <a:endParaRPr b="1" lang="en-US" sz="2400" spc="-1" strike="noStrike">
              <a:solidFill>
                <a:srgbClr val="ffffff"/>
              </a:solidFill>
              <a:latin typeface="Arial"/>
            </a:endParaRPr>
          </a:p>
        </p:txBody>
      </p:sp>
      <p:sp>
        <p:nvSpPr>
          <p:cNvPr id="73" name=""/>
          <p:cNvSpPr txBox="1"/>
          <p:nvPr/>
        </p:nvSpPr>
        <p:spPr>
          <a:xfrm>
            <a:off x="12801600" y="4719960"/>
            <a:ext cx="3429000" cy="1223640"/>
          </a:xfrm>
          <a:prstGeom prst="rect">
            <a:avLst/>
          </a:prstGeom>
          <a:noFill/>
          <a:ln w="0">
            <a:noFill/>
          </a:ln>
        </p:spPr>
        <p:txBody>
          <a:bodyPr lIns="90000" rIns="90000" tIns="45000" bIns="45000" anchor="ctr">
            <a:noAutofit/>
          </a:bodyPr>
          <a:p>
            <a:r>
              <a:rPr b="1" lang="en-US" sz="2400" spc="-1" strike="noStrike">
                <a:solidFill>
                  <a:srgbClr val="ffffff"/>
                </a:solidFill>
                <a:latin typeface="Arial"/>
              </a:rPr>
              <a:t>Darshan Kumar</a:t>
            </a:r>
            <a:endParaRPr b="1" lang="en-US" sz="2400" spc="-1" strike="noStrike">
              <a:solidFill>
                <a:srgbClr val="ffffff"/>
              </a:solidFill>
              <a:latin typeface="Arial"/>
            </a:endParaRPr>
          </a:p>
          <a:p>
            <a:r>
              <a:rPr b="1" lang="en-US" sz="2400" spc="-1" strike="noStrike">
                <a:solidFill>
                  <a:srgbClr val="ffffff"/>
                </a:solidFill>
                <a:latin typeface="Arial"/>
              </a:rPr>
              <a:t>STI21CS024</a:t>
            </a:r>
            <a:endParaRPr b="1" lang="en-US" sz="2400" spc="-1" strike="noStrike">
              <a:solidFill>
                <a:srgbClr val="ffffff"/>
              </a:solidFill>
              <a:latin typeface="Arial"/>
            </a:endParaRPr>
          </a:p>
        </p:txBody>
      </p:sp>
      <p:sp>
        <p:nvSpPr>
          <p:cNvPr id="74" name=""/>
          <p:cNvSpPr txBox="1"/>
          <p:nvPr/>
        </p:nvSpPr>
        <p:spPr>
          <a:xfrm>
            <a:off x="10058400" y="4719960"/>
            <a:ext cx="2971800" cy="1223640"/>
          </a:xfrm>
          <a:prstGeom prst="rect">
            <a:avLst/>
          </a:prstGeom>
          <a:noFill/>
          <a:ln w="0">
            <a:noFill/>
          </a:ln>
        </p:spPr>
        <p:txBody>
          <a:bodyPr lIns="90000" rIns="90000" tIns="45000" bIns="45000" anchor="ctr">
            <a:noAutofit/>
          </a:bodyPr>
          <a:p>
            <a:r>
              <a:rPr b="1" lang="en-US" sz="2400" spc="-1" strike="noStrike">
                <a:solidFill>
                  <a:srgbClr val="ffffff"/>
                </a:solidFill>
                <a:latin typeface="Arial"/>
              </a:rPr>
              <a:t>Joel Blesson</a:t>
            </a:r>
            <a:endParaRPr b="1" lang="en-US" sz="2400" spc="-1" strike="noStrike">
              <a:solidFill>
                <a:srgbClr val="ffffff"/>
              </a:solidFill>
              <a:latin typeface="Arial"/>
            </a:endParaRPr>
          </a:p>
          <a:p>
            <a:r>
              <a:rPr b="1" lang="en-US" sz="2400" spc="-1" strike="noStrike">
                <a:solidFill>
                  <a:srgbClr val="ffffff"/>
                </a:solidFill>
                <a:latin typeface="Arial"/>
              </a:rPr>
              <a:t>STI21CS038</a:t>
            </a:r>
            <a:endParaRPr b="1" lang="en-US" sz="2400" spc="-1" strike="noStrike">
              <a:solidFill>
                <a:srgbClr val="ffffff"/>
              </a:solidFill>
              <a:latin typeface="Arial"/>
            </a:endParaRPr>
          </a:p>
        </p:txBody>
      </p:sp>
      <p:sp>
        <p:nvSpPr>
          <p:cNvPr id="75" name=""/>
          <p:cNvSpPr txBox="1"/>
          <p:nvPr/>
        </p:nvSpPr>
        <p:spPr>
          <a:xfrm>
            <a:off x="6858000" y="4719960"/>
            <a:ext cx="2743200" cy="1223640"/>
          </a:xfrm>
          <a:prstGeom prst="rect">
            <a:avLst/>
          </a:prstGeom>
          <a:noFill/>
          <a:ln w="0">
            <a:noFill/>
          </a:ln>
        </p:spPr>
        <p:txBody>
          <a:bodyPr lIns="90000" rIns="90000" tIns="45000" bIns="45000" anchor="ctr">
            <a:noAutofit/>
          </a:bodyPr>
          <a:p>
            <a:pPr algn="just">
              <a:spcBef>
                <a:spcPts val="865"/>
              </a:spcBef>
            </a:pPr>
            <a:r>
              <a:rPr b="1" lang="en-US" sz="2400" spc="-1" strike="noStrike">
                <a:solidFill>
                  <a:srgbClr val="ffffff"/>
                </a:solidFill>
                <a:latin typeface="Arial"/>
              </a:rPr>
              <a:t>Navafa Noushad</a:t>
            </a:r>
            <a:endParaRPr b="1" lang="en-US" sz="2400" spc="-1" strike="noStrike">
              <a:solidFill>
                <a:srgbClr val="ffffff"/>
              </a:solidFill>
              <a:latin typeface="Arial"/>
            </a:endParaRPr>
          </a:p>
          <a:p>
            <a:r>
              <a:rPr b="1" lang="en-US" sz="2400" spc="-1" strike="noStrike">
                <a:solidFill>
                  <a:srgbClr val="ffffff"/>
                </a:solidFill>
                <a:latin typeface="Arial"/>
              </a:rPr>
              <a:t>STI21CS047</a:t>
            </a:r>
            <a:endParaRPr b="1" lang="en-US"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76" name="Group 2"/>
          <p:cNvGrpSpPr/>
          <p:nvPr/>
        </p:nvGrpSpPr>
        <p:grpSpPr>
          <a:xfrm>
            <a:off x="232560" y="372960"/>
            <a:ext cx="17263440" cy="9271080"/>
            <a:chOff x="232560" y="372960"/>
            <a:chExt cx="17263440" cy="9271080"/>
          </a:xfrm>
        </p:grpSpPr>
        <p:sp>
          <p:nvSpPr>
            <p:cNvPr id="77" name="Freeform 3"/>
            <p:cNvSpPr/>
            <p:nvPr/>
          </p:nvSpPr>
          <p:spPr>
            <a:xfrm>
              <a:off x="232560" y="372960"/>
              <a:ext cx="17263440" cy="9271080"/>
            </a:xfrm>
            <a:custGeom>
              <a:avLst/>
              <a:gdLst>
                <a:gd name="textAreaLeft" fmla="*/ 0 w 17263440"/>
                <a:gd name="textAreaRight" fmla="*/ 17263800 w 17263440"/>
                <a:gd name="textAreaTop" fmla="*/ 0 h 9271080"/>
                <a:gd name="textAreaBottom" fmla="*/ 9271440 h 9271080"/>
              </a:gdLst>
              <a:ahLst/>
              <a:rect l="textAreaLeft" t="textAreaTop" r="textAreaRight" b="textAreaBottom"/>
              <a:pathLst>
                <a:path w="4546827" h="2441871">
                  <a:moveTo>
                    <a:pt x="22871" y="0"/>
                  </a:moveTo>
                  <a:lnTo>
                    <a:pt x="4523956" y="0"/>
                  </a:lnTo>
                  <a:cubicBezTo>
                    <a:pt x="4536587" y="0"/>
                    <a:pt x="4546827" y="10240"/>
                    <a:pt x="4546827" y="22871"/>
                  </a:cubicBezTo>
                  <a:lnTo>
                    <a:pt x="4546827" y="2419001"/>
                  </a:lnTo>
                  <a:cubicBezTo>
                    <a:pt x="4546827" y="2425066"/>
                    <a:pt x="4544418" y="2430884"/>
                    <a:pt x="4540128" y="2435173"/>
                  </a:cubicBezTo>
                  <a:cubicBezTo>
                    <a:pt x="4535839" y="2439462"/>
                    <a:pt x="4530022" y="2441871"/>
                    <a:pt x="4523956" y="2441871"/>
                  </a:cubicBezTo>
                  <a:lnTo>
                    <a:pt x="22871" y="2441871"/>
                  </a:lnTo>
                  <a:cubicBezTo>
                    <a:pt x="10240" y="2441871"/>
                    <a:pt x="0" y="2431632"/>
                    <a:pt x="0" y="2419001"/>
                  </a:cubicBezTo>
                  <a:lnTo>
                    <a:pt x="0" y="22871"/>
                  </a:lnTo>
                  <a:cubicBezTo>
                    <a:pt x="0" y="10240"/>
                    <a:pt x="10240" y="0"/>
                    <a:pt x="22871" y="0"/>
                  </a:cubicBezTo>
                  <a:close/>
                </a:path>
              </a:pathLst>
            </a:custGeom>
            <a:solidFill>
              <a:srgbClr val="000000"/>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TextBox 4"/>
            <p:cNvSpPr/>
            <p:nvPr/>
          </p:nvSpPr>
          <p:spPr>
            <a:xfrm>
              <a:off x="232560" y="481320"/>
              <a:ext cx="17263440" cy="9162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pPr>
              <a:endParaRPr b="0" lang="en-US" sz="1800" spc="-1" strike="noStrike">
                <a:solidFill>
                  <a:schemeClr val="dk1"/>
                </a:solidFill>
                <a:latin typeface="Calibri"/>
              </a:endParaRPr>
            </a:p>
          </p:txBody>
        </p:sp>
      </p:grpSp>
      <p:sp>
        <p:nvSpPr>
          <p:cNvPr id="79" name="Freeform 5"/>
          <p:cNvSpPr/>
          <p:nvPr/>
        </p:nvSpPr>
        <p:spPr>
          <a:xfrm>
            <a:off x="6815520" y="518400"/>
            <a:ext cx="11472120" cy="9249480"/>
          </a:xfrm>
          <a:custGeom>
            <a:avLst/>
            <a:gdLst>
              <a:gd name="textAreaLeft" fmla="*/ 0 w 11472120"/>
              <a:gd name="textAreaRight" fmla="*/ 11472480 w 11472120"/>
              <a:gd name="textAreaTop" fmla="*/ 0 h 9249480"/>
              <a:gd name="textAreaBottom" fmla="*/ 9249840 h 9249480"/>
            </a:gdLst>
            <a:ahLst/>
            <a:rect l="textAreaLeft" t="textAreaTop" r="textAreaRight" b="textAreaBottom"/>
            <a:pathLst>
              <a:path w="11472648" h="9249848">
                <a:moveTo>
                  <a:pt x="0" y="0"/>
                </a:moveTo>
                <a:lnTo>
                  <a:pt x="11472648" y="0"/>
                </a:lnTo>
                <a:lnTo>
                  <a:pt x="11472648" y="9249848"/>
                </a:lnTo>
                <a:lnTo>
                  <a:pt x="0" y="924984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80" name="TextBox 6"/>
          <p:cNvSpPr/>
          <p:nvPr/>
        </p:nvSpPr>
        <p:spPr>
          <a:xfrm>
            <a:off x="213480" y="1998000"/>
            <a:ext cx="11445120" cy="3970440"/>
          </a:xfrm>
          <a:prstGeom prst="rect">
            <a:avLst/>
          </a:prstGeom>
          <a:noFill/>
          <a:ln w="0">
            <a:noFill/>
          </a:ln>
        </p:spPr>
        <p:style>
          <a:lnRef idx="0"/>
          <a:fillRef idx="0"/>
          <a:effectRef idx="0"/>
          <a:fontRef idx="minor"/>
        </p:style>
        <p:txBody>
          <a:bodyPr lIns="0" rIns="0" tIns="0" bIns="0" anchor="t">
            <a:spAutoFit/>
          </a:bodyPr>
          <a:p>
            <a:pPr defTabSz="914400">
              <a:lnSpc>
                <a:spcPts val="6253"/>
              </a:lnSpc>
            </a:pPr>
            <a:r>
              <a:rPr b="0" lang="en-US" sz="5130" spc="-1" strike="noStrike">
                <a:solidFill>
                  <a:srgbClr val="3bee96"/>
                </a:solidFill>
                <a:latin typeface="Inter Bold"/>
                <a:ea typeface="Inter Bold"/>
              </a:rPr>
              <a:t>Smart Recipe Generation through Food Image and Cooking Recipe Analysis</a:t>
            </a:r>
            <a:endParaRPr b="0" lang="en-US" sz="5130" spc="-1" strike="noStrike">
              <a:solidFill>
                <a:srgbClr val="ffffff"/>
              </a:solidFill>
              <a:latin typeface="Arial"/>
            </a:endParaRPr>
          </a:p>
          <a:p>
            <a:pPr defTabSz="914400">
              <a:lnSpc>
                <a:spcPts val="6253"/>
              </a:lnSpc>
            </a:pPr>
            <a:endParaRPr b="0" lang="en-US" sz="1800" spc="-1" strike="noStrike">
              <a:solidFill>
                <a:srgbClr val="ffffff"/>
              </a:solidFill>
              <a:latin typeface="Arial"/>
            </a:endParaRPr>
          </a:p>
          <a:p>
            <a:pPr defTabSz="914400">
              <a:lnSpc>
                <a:spcPts val="6253"/>
              </a:lnSpc>
            </a:pPr>
            <a:endParaRPr b="0" lang="en-US" sz="1800" spc="-1" strike="noStrike">
              <a:solidFill>
                <a:srgbClr val="ffffff"/>
              </a:solidFill>
              <a:latin typeface="Arial"/>
            </a:endParaRPr>
          </a:p>
        </p:txBody>
      </p:sp>
    </p:spTree>
  </p:cSld>
  <p:transition spd="slow">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81" name="TextBox 2"/>
          <p:cNvSpPr/>
          <p:nvPr/>
        </p:nvSpPr>
        <p:spPr>
          <a:xfrm>
            <a:off x="1478880" y="464760"/>
            <a:ext cx="6836040" cy="10315800"/>
          </a:xfrm>
          <a:prstGeom prst="rect">
            <a:avLst/>
          </a:prstGeom>
          <a:noFill/>
          <a:ln w="0">
            <a:noFill/>
          </a:ln>
        </p:spPr>
        <p:style>
          <a:lnRef idx="0"/>
          <a:fillRef idx="0"/>
          <a:effectRef idx="0"/>
          <a:fontRef idx="minor"/>
        </p:style>
        <p:txBody>
          <a:bodyPr lIns="0" rIns="0" tIns="0" bIns="0" anchor="t">
            <a:spAutoFit/>
          </a:bodyPr>
          <a:p>
            <a:pPr algn="just" defTabSz="914400">
              <a:lnSpc>
                <a:spcPts val="6769"/>
              </a:lnSpc>
            </a:pPr>
            <a:endParaRPr b="0" lang="en-US" sz="1800" spc="-1" strike="noStrike">
              <a:solidFill>
                <a:srgbClr val="ffffff"/>
              </a:solidFill>
              <a:latin typeface="Arial"/>
            </a:endParaRPr>
          </a:p>
          <a:p>
            <a:pPr algn="just" defTabSz="914400">
              <a:lnSpc>
                <a:spcPts val="6769"/>
              </a:lnSpc>
            </a:pPr>
            <a:endParaRPr b="0" lang="en-US" sz="1800" spc="-1" strike="noStrike">
              <a:solidFill>
                <a:srgbClr val="ffffff"/>
              </a:solidFill>
              <a:latin typeface="Arial"/>
            </a:endParaRPr>
          </a:p>
          <a:p>
            <a:pPr algn="just" defTabSz="914400">
              <a:lnSpc>
                <a:spcPts val="6769"/>
              </a:lnSpc>
            </a:pPr>
            <a:r>
              <a:rPr b="0" lang="en-US" sz="2850" spc="-1" strike="noStrike">
                <a:solidFill>
                  <a:srgbClr val="ffffff"/>
                </a:solidFill>
                <a:latin typeface="Inter Bold"/>
                <a:ea typeface="Inter Bold"/>
              </a:rPr>
              <a:t>1   INTRODUCTION &amp; OVER VIEW</a:t>
            </a:r>
            <a:endParaRPr b="0" lang="en-US" sz="2850" spc="-1" strike="noStrike">
              <a:solidFill>
                <a:srgbClr val="ffffff"/>
              </a:solidFill>
              <a:latin typeface="Arial"/>
            </a:endParaRPr>
          </a:p>
          <a:p>
            <a:pPr algn="just" defTabSz="914400">
              <a:lnSpc>
                <a:spcPts val="6769"/>
              </a:lnSpc>
            </a:pPr>
            <a:r>
              <a:rPr b="0" lang="en-US" sz="2850" spc="-1" strike="noStrike">
                <a:solidFill>
                  <a:srgbClr val="ffffff"/>
                </a:solidFill>
                <a:latin typeface="Inter Bold"/>
                <a:ea typeface="Inter Bold"/>
              </a:rPr>
              <a:t>2  CHALLANGES IN COOKING TODAY </a:t>
            </a:r>
            <a:endParaRPr b="0" lang="en-US" sz="2850" spc="-1" strike="noStrike">
              <a:solidFill>
                <a:srgbClr val="ffffff"/>
              </a:solidFill>
              <a:latin typeface="Arial"/>
            </a:endParaRPr>
          </a:p>
          <a:p>
            <a:pPr algn="just" defTabSz="914400">
              <a:lnSpc>
                <a:spcPts val="6769"/>
              </a:lnSpc>
            </a:pPr>
            <a:r>
              <a:rPr b="0" lang="en-US" sz="2850" spc="-1" strike="noStrike">
                <a:solidFill>
                  <a:srgbClr val="ffffff"/>
                </a:solidFill>
                <a:latin typeface="Inter Bold"/>
                <a:ea typeface="Inter Bold"/>
              </a:rPr>
              <a:t>3  PROPOSED SOLUTIONS</a:t>
            </a:r>
            <a:endParaRPr b="0" lang="en-US" sz="2850" spc="-1" strike="noStrike">
              <a:solidFill>
                <a:srgbClr val="ffffff"/>
              </a:solidFill>
              <a:latin typeface="Arial"/>
            </a:endParaRPr>
          </a:p>
          <a:p>
            <a:pPr algn="just" defTabSz="914400">
              <a:lnSpc>
                <a:spcPts val="6769"/>
              </a:lnSpc>
            </a:pPr>
            <a:r>
              <a:rPr b="0" lang="en-US" sz="2850" spc="-1" strike="noStrike">
                <a:solidFill>
                  <a:srgbClr val="ffffff"/>
                </a:solidFill>
                <a:latin typeface="Inter Bold"/>
                <a:ea typeface="Inter Bold"/>
              </a:rPr>
              <a:t>4  METHODOLOGIES</a:t>
            </a:r>
            <a:endParaRPr b="0" lang="en-US" sz="2850" spc="-1" strike="noStrike">
              <a:solidFill>
                <a:srgbClr val="ffffff"/>
              </a:solidFill>
              <a:latin typeface="Arial"/>
            </a:endParaRPr>
          </a:p>
          <a:p>
            <a:pPr algn="just" defTabSz="914400">
              <a:lnSpc>
                <a:spcPts val="6769"/>
              </a:lnSpc>
            </a:pPr>
            <a:r>
              <a:rPr b="0" lang="en-US" sz="2850" spc="-1" strike="noStrike">
                <a:solidFill>
                  <a:srgbClr val="ffffff"/>
                </a:solidFill>
                <a:latin typeface="Inter Bold"/>
                <a:ea typeface="Inter Bold"/>
              </a:rPr>
              <a:t>5  HOW ITS WORKS</a:t>
            </a:r>
            <a:endParaRPr b="0" lang="en-US" sz="2850" spc="-1" strike="noStrike">
              <a:solidFill>
                <a:srgbClr val="ffffff"/>
              </a:solidFill>
              <a:latin typeface="Arial"/>
            </a:endParaRPr>
          </a:p>
          <a:p>
            <a:pPr algn="just" defTabSz="914400">
              <a:lnSpc>
                <a:spcPts val="6769"/>
              </a:lnSpc>
            </a:pPr>
            <a:r>
              <a:rPr b="0" lang="en-US" sz="2850" spc="-1" strike="noStrike">
                <a:solidFill>
                  <a:srgbClr val="ffffff"/>
                </a:solidFill>
                <a:latin typeface="Inter Bold"/>
                <a:ea typeface="Inter Bold"/>
              </a:rPr>
              <a:t>6  KEY FEATURES &amp; BENEFITS</a:t>
            </a:r>
            <a:endParaRPr b="0" lang="en-US" sz="2850" spc="-1" strike="noStrike">
              <a:solidFill>
                <a:srgbClr val="ffffff"/>
              </a:solidFill>
              <a:latin typeface="Arial"/>
            </a:endParaRPr>
          </a:p>
          <a:p>
            <a:pPr algn="just" defTabSz="914400">
              <a:lnSpc>
                <a:spcPts val="6769"/>
              </a:lnSpc>
            </a:pPr>
            <a:r>
              <a:rPr b="0" lang="en-US" sz="2850" spc="-1" strike="noStrike">
                <a:solidFill>
                  <a:srgbClr val="ffffff"/>
                </a:solidFill>
                <a:latin typeface="Inter Bold"/>
                <a:ea typeface="Inter Bold"/>
              </a:rPr>
              <a:t>7  USE CASES</a:t>
            </a:r>
            <a:endParaRPr b="0" lang="en-US" sz="2850" spc="-1" strike="noStrike">
              <a:solidFill>
                <a:srgbClr val="ffffff"/>
              </a:solidFill>
              <a:latin typeface="Arial"/>
            </a:endParaRPr>
          </a:p>
          <a:p>
            <a:pPr algn="just" defTabSz="914400">
              <a:lnSpc>
                <a:spcPts val="6769"/>
              </a:lnSpc>
            </a:pPr>
            <a:r>
              <a:rPr b="0" lang="en-US" sz="2850" spc="-1" strike="noStrike">
                <a:solidFill>
                  <a:srgbClr val="ffffff"/>
                </a:solidFill>
                <a:latin typeface="Inter Bold"/>
                <a:ea typeface="Inter Bold"/>
              </a:rPr>
              <a:t>8  TRAINING MODEL</a:t>
            </a:r>
            <a:endParaRPr b="0" lang="en-US" sz="2850" spc="-1" strike="noStrike">
              <a:solidFill>
                <a:srgbClr val="ffffff"/>
              </a:solidFill>
              <a:latin typeface="Arial"/>
            </a:endParaRPr>
          </a:p>
          <a:p>
            <a:pPr algn="just" defTabSz="914400">
              <a:lnSpc>
                <a:spcPts val="6769"/>
              </a:lnSpc>
            </a:pPr>
            <a:endParaRPr b="0" lang="en-US" sz="1800" spc="-1" strike="noStrike">
              <a:solidFill>
                <a:srgbClr val="ffffff"/>
              </a:solidFill>
              <a:latin typeface="Arial"/>
            </a:endParaRPr>
          </a:p>
          <a:p>
            <a:pPr algn="just" defTabSz="914400">
              <a:lnSpc>
                <a:spcPts val="6769"/>
              </a:lnSpc>
            </a:pPr>
            <a:endParaRPr b="0" lang="en-US" sz="1800" spc="-1" strike="noStrike">
              <a:solidFill>
                <a:srgbClr val="ffffff"/>
              </a:solidFill>
              <a:latin typeface="Arial"/>
            </a:endParaRPr>
          </a:p>
        </p:txBody>
      </p:sp>
      <p:sp>
        <p:nvSpPr>
          <p:cNvPr id="82" name="TextBox 3"/>
          <p:cNvSpPr/>
          <p:nvPr/>
        </p:nvSpPr>
        <p:spPr>
          <a:xfrm>
            <a:off x="10049400" y="2062800"/>
            <a:ext cx="7080840" cy="6998400"/>
          </a:xfrm>
          <a:prstGeom prst="rect">
            <a:avLst/>
          </a:prstGeom>
          <a:noFill/>
          <a:ln w="0">
            <a:noFill/>
          </a:ln>
        </p:spPr>
        <p:style>
          <a:lnRef idx="0"/>
          <a:fillRef idx="0"/>
          <a:effectRef idx="0"/>
          <a:fontRef idx="minor"/>
        </p:style>
        <p:txBody>
          <a:bodyPr lIns="0" rIns="0" tIns="0" bIns="0" anchor="t">
            <a:spAutoFit/>
          </a:bodyPr>
          <a:p>
            <a:pPr algn="just" defTabSz="914400">
              <a:lnSpc>
                <a:spcPts val="6919"/>
              </a:lnSpc>
            </a:pPr>
            <a:r>
              <a:rPr b="0" lang="en-US" sz="2910" spc="-1" strike="noStrike">
                <a:solidFill>
                  <a:srgbClr val="ffffff"/>
                </a:solidFill>
                <a:latin typeface="Inter Bold"/>
                <a:ea typeface="Inter Bold"/>
              </a:rPr>
              <a:t>9   SYSTEM ARCHITECTURE</a:t>
            </a:r>
            <a:endParaRPr b="0" lang="en-US" sz="2910" spc="-1" strike="noStrike">
              <a:solidFill>
                <a:srgbClr val="ffffff"/>
              </a:solidFill>
              <a:latin typeface="Arial"/>
            </a:endParaRPr>
          </a:p>
          <a:p>
            <a:pPr algn="just" defTabSz="914400">
              <a:lnSpc>
                <a:spcPts val="6673"/>
              </a:lnSpc>
            </a:pPr>
            <a:r>
              <a:rPr b="0" lang="en-US" sz="2810" spc="-1" strike="noStrike">
                <a:solidFill>
                  <a:srgbClr val="ffffff"/>
                </a:solidFill>
                <a:latin typeface="Inter Bold"/>
                <a:ea typeface="Inter Bold"/>
              </a:rPr>
              <a:t>10 TRAINING WITH DIFFERENT MODELS</a:t>
            </a:r>
            <a:endParaRPr b="0" lang="en-US" sz="2810" spc="-1" strike="noStrike">
              <a:solidFill>
                <a:srgbClr val="ffffff"/>
              </a:solidFill>
              <a:latin typeface="Arial"/>
            </a:endParaRPr>
          </a:p>
          <a:p>
            <a:pPr algn="just" defTabSz="914400">
              <a:lnSpc>
                <a:spcPts val="6919"/>
              </a:lnSpc>
            </a:pPr>
            <a:r>
              <a:rPr b="0" lang="en-US" sz="2910" spc="-1" strike="noStrike">
                <a:solidFill>
                  <a:srgbClr val="ffffff"/>
                </a:solidFill>
                <a:latin typeface="Inter Bold"/>
                <a:ea typeface="Inter Bold"/>
              </a:rPr>
              <a:t>11  EXAMPLE</a:t>
            </a:r>
            <a:endParaRPr b="0" lang="en-US" sz="2910" spc="-1" strike="noStrike">
              <a:solidFill>
                <a:srgbClr val="ffffff"/>
              </a:solidFill>
              <a:latin typeface="Arial"/>
            </a:endParaRPr>
          </a:p>
          <a:p>
            <a:pPr algn="just" defTabSz="914400">
              <a:lnSpc>
                <a:spcPts val="6919"/>
              </a:lnSpc>
            </a:pPr>
            <a:r>
              <a:rPr b="0" lang="en-US" sz="2910" spc="-1" strike="noStrike">
                <a:solidFill>
                  <a:srgbClr val="ffffff"/>
                </a:solidFill>
                <a:latin typeface="Inter Bold"/>
                <a:ea typeface="Inter Bold"/>
              </a:rPr>
              <a:t>12  EVALUTAING THE MODELS</a:t>
            </a:r>
            <a:endParaRPr b="0" lang="en-US" sz="2910" spc="-1" strike="noStrike">
              <a:solidFill>
                <a:srgbClr val="ffffff"/>
              </a:solidFill>
              <a:latin typeface="Arial"/>
            </a:endParaRPr>
          </a:p>
          <a:p>
            <a:pPr algn="just" defTabSz="914400">
              <a:lnSpc>
                <a:spcPts val="6919"/>
              </a:lnSpc>
            </a:pPr>
            <a:r>
              <a:rPr b="0" lang="en-US" sz="2910" spc="-1" strike="noStrike">
                <a:solidFill>
                  <a:srgbClr val="ffffff"/>
                </a:solidFill>
                <a:latin typeface="Inter Bold"/>
                <a:ea typeface="Inter Bold"/>
              </a:rPr>
              <a:t>13  WORKING</a:t>
            </a:r>
            <a:endParaRPr b="0" lang="en-US" sz="2910" spc="-1" strike="noStrike">
              <a:solidFill>
                <a:srgbClr val="ffffff"/>
              </a:solidFill>
              <a:latin typeface="Arial"/>
            </a:endParaRPr>
          </a:p>
          <a:p>
            <a:pPr algn="just" defTabSz="914400">
              <a:lnSpc>
                <a:spcPts val="6919"/>
              </a:lnSpc>
            </a:pPr>
            <a:r>
              <a:rPr b="0" lang="en-US" sz="2910" spc="-1" strike="noStrike">
                <a:solidFill>
                  <a:srgbClr val="ffffff"/>
                </a:solidFill>
                <a:latin typeface="Inter Bold"/>
                <a:ea typeface="Inter Bold"/>
              </a:rPr>
              <a:t>14  FORMULA EXPLAINATION</a:t>
            </a:r>
            <a:endParaRPr b="0" lang="en-US" sz="2910" spc="-1" strike="noStrike">
              <a:solidFill>
                <a:srgbClr val="ffffff"/>
              </a:solidFill>
              <a:latin typeface="Arial"/>
            </a:endParaRPr>
          </a:p>
          <a:p>
            <a:pPr algn="just" defTabSz="914400">
              <a:lnSpc>
                <a:spcPts val="6919"/>
              </a:lnSpc>
            </a:pPr>
            <a:r>
              <a:rPr b="0" lang="en-US" sz="2910" spc="-1" strike="noStrike">
                <a:solidFill>
                  <a:srgbClr val="ffffff"/>
                </a:solidFill>
                <a:latin typeface="Inter Bold"/>
                <a:ea typeface="Inter Bold"/>
              </a:rPr>
              <a:t>15  CONCLUSION</a:t>
            </a:r>
            <a:endParaRPr b="0" lang="en-US" sz="2910" spc="-1" strike="noStrike">
              <a:solidFill>
                <a:srgbClr val="ffffff"/>
              </a:solidFill>
              <a:latin typeface="Arial"/>
            </a:endParaRPr>
          </a:p>
          <a:p>
            <a:pPr algn="just" defTabSz="914400">
              <a:lnSpc>
                <a:spcPts val="6919"/>
              </a:lnSpc>
            </a:pPr>
            <a:r>
              <a:rPr b="0" lang="en-US" sz="2910" spc="-1" strike="noStrike">
                <a:solidFill>
                  <a:srgbClr val="ffffff"/>
                </a:solidFill>
                <a:latin typeface="Inter Bold"/>
                <a:ea typeface="Inter Bold"/>
              </a:rPr>
              <a:t>16  REFERENCES</a:t>
            </a:r>
            <a:endParaRPr b="0" lang="en-US" sz="2910" spc="-1" strike="noStrike">
              <a:solidFill>
                <a:srgbClr val="ffffff"/>
              </a:solidFill>
              <a:latin typeface="Arial"/>
            </a:endParaRPr>
          </a:p>
        </p:txBody>
      </p:sp>
      <p:sp>
        <p:nvSpPr>
          <p:cNvPr id="83" name="TextBox 4"/>
          <p:cNvSpPr/>
          <p:nvPr/>
        </p:nvSpPr>
        <p:spPr>
          <a:xfrm>
            <a:off x="6735960" y="470160"/>
            <a:ext cx="3313440" cy="711360"/>
          </a:xfrm>
          <a:prstGeom prst="rect">
            <a:avLst/>
          </a:prstGeom>
          <a:noFill/>
          <a:ln w="0">
            <a:noFill/>
          </a:ln>
        </p:spPr>
        <p:style>
          <a:lnRef idx="0"/>
          <a:fillRef idx="0"/>
          <a:effectRef idx="0"/>
          <a:fontRef idx="minor"/>
        </p:style>
        <p:txBody>
          <a:bodyPr lIns="0" rIns="0" tIns="0" bIns="0" anchor="t">
            <a:spAutoFit/>
          </a:bodyPr>
          <a:p>
            <a:pPr algn="ctr" defTabSz="914400">
              <a:lnSpc>
                <a:spcPts val="5598"/>
              </a:lnSpc>
            </a:pPr>
            <a:r>
              <a:rPr b="0" lang="en-US" sz="5600" spc="-236" strike="noStrike">
                <a:solidFill>
                  <a:srgbClr val="ffffff"/>
                </a:solidFill>
                <a:latin typeface="Inter Bold"/>
                <a:ea typeface="Inter Bold"/>
              </a:rPr>
              <a:t>CONTENT</a:t>
            </a:r>
            <a:endParaRPr b="0" lang="en-US" sz="5600" spc="-1" strike="noStrike">
              <a:solidFill>
                <a:srgbClr val="ffffff"/>
              </a:solidFill>
              <a:latin typeface="Arial"/>
            </a:endParaRPr>
          </a:p>
        </p:txBody>
      </p:sp>
    </p:spTree>
  </p:cSld>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84" name="TextBox 2"/>
          <p:cNvSpPr/>
          <p:nvPr/>
        </p:nvSpPr>
        <p:spPr>
          <a:xfrm>
            <a:off x="1796400" y="645120"/>
            <a:ext cx="14695200" cy="2310840"/>
          </a:xfrm>
          <a:prstGeom prst="rect">
            <a:avLst/>
          </a:prstGeom>
          <a:noFill/>
          <a:ln w="0">
            <a:noFill/>
          </a:ln>
        </p:spPr>
        <p:style>
          <a:lnRef idx="0"/>
          <a:fillRef idx="0"/>
          <a:effectRef idx="0"/>
          <a:fontRef idx="minor"/>
        </p:style>
        <p:txBody>
          <a:bodyPr lIns="0" rIns="0" tIns="0" bIns="0" anchor="t">
            <a:spAutoFit/>
          </a:bodyPr>
          <a:p>
            <a:pPr algn="just" defTabSz="914400">
              <a:lnSpc>
                <a:spcPts val="18193"/>
              </a:lnSpc>
            </a:pPr>
            <a:r>
              <a:rPr b="0" lang="en-US" sz="18200" spc="-1" strike="noStrike">
                <a:solidFill>
                  <a:srgbClr val="ffffff"/>
                </a:solidFill>
                <a:latin typeface="Inter Bold"/>
                <a:ea typeface="Inter Bold"/>
              </a:rPr>
              <a:t>Introduction</a:t>
            </a:r>
            <a:endParaRPr b="0" lang="en-US" sz="18200" spc="-1" strike="noStrike">
              <a:solidFill>
                <a:srgbClr val="ffffff"/>
              </a:solidFill>
              <a:latin typeface="Arial"/>
            </a:endParaRPr>
          </a:p>
        </p:txBody>
      </p:sp>
      <p:sp>
        <p:nvSpPr>
          <p:cNvPr id="85" name="TextBox 3"/>
          <p:cNvSpPr/>
          <p:nvPr/>
        </p:nvSpPr>
        <p:spPr>
          <a:xfrm>
            <a:off x="1398240" y="2983680"/>
            <a:ext cx="3042360" cy="924120"/>
          </a:xfrm>
          <a:prstGeom prst="rect">
            <a:avLst/>
          </a:prstGeom>
          <a:noFill/>
          <a:ln w="0">
            <a:noFill/>
          </a:ln>
        </p:spPr>
        <p:style>
          <a:lnRef idx="0"/>
          <a:fillRef idx="0"/>
          <a:effectRef idx="0"/>
          <a:fontRef idx="minor"/>
        </p:style>
        <p:txBody>
          <a:bodyPr lIns="0" rIns="0" tIns="0" bIns="0" anchor="t">
            <a:spAutoFit/>
          </a:bodyPr>
          <a:p>
            <a:pPr algn="just" defTabSz="914400">
              <a:lnSpc>
                <a:spcPts val="7279"/>
              </a:lnSpc>
            </a:pPr>
            <a:r>
              <a:rPr b="0" lang="en-US" sz="5200" spc="-1" strike="noStrike">
                <a:solidFill>
                  <a:srgbClr val="ffffff"/>
                </a:solidFill>
                <a:latin typeface="Canva Sans Bold"/>
                <a:ea typeface="Canva Sans Bold"/>
              </a:rPr>
              <a:t>Overview</a:t>
            </a:r>
            <a:endParaRPr b="0" lang="en-US" sz="5200" spc="-1" strike="noStrike">
              <a:solidFill>
                <a:srgbClr val="ffffff"/>
              </a:solidFill>
              <a:latin typeface="Arial"/>
            </a:endParaRPr>
          </a:p>
        </p:txBody>
      </p:sp>
      <p:sp>
        <p:nvSpPr>
          <p:cNvPr id="86" name="TextBox 4"/>
          <p:cNvSpPr/>
          <p:nvPr/>
        </p:nvSpPr>
        <p:spPr>
          <a:xfrm>
            <a:off x="1286280" y="4091400"/>
            <a:ext cx="15614280" cy="5422680"/>
          </a:xfrm>
          <a:prstGeom prst="rect">
            <a:avLst/>
          </a:prstGeom>
          <a:noFill/>
          <a:ln w="0">
            <a:noFill/>
          </a:ln>
        </p:spPr>
        <p:style>
          <a:lnRef idx="0"/>
          <a:fillRef idx="0"/>
          <a:effectRef idx="0"/>
          <a:fontRef idx="minor"/>
        </p:style>
        <p:txBody>
          <a:bodyPr lIns="0" rIns="0" tIns="0" bIns="0" anchor="t">
            <a:spAutoFit/>
          </a:bodyPr>
          <a:p>
            <a:pPr lvl="1" marL="470520" indent="-235440" algn="just" defTabSz="914400">
              <a:lnSpc>
                <a:spcPts val="3050"/>
              </a:lnSpc>
              <a:buClr>
                <a:srgbClr val="ffffff"/>
              </a:buClr>
              <a:buFont typeface="Arial"/>
              <a:buChar char="•"/>
            </a:pPr>
            <a:r>
              <a:rPr b="0" lang="en-US" sz="2180" spc="-1" strike="noStrike">
                <a:solidFill>
                  <a:srgbClr val="ffffff"/>
                </a:solidFill>
                <a:latin typeface="Canva Sans"/>
                <a:ea typeface="Canva Sans"/>
              </a:rPr>
              <a:t>Context: High obesity rates and associated health risks (e.g., diabetes, cancer) have led to a growing need for effective diet management.</a:t>
            </a:r>
            <a:endParaRPr b="0" lang="en-US" sz="2180" spc="-1" strike="noStrike">
              <a:solidFill>
                <a:srgbClr val="ffffff"/>
              </a:solidFill>
              <a:latin typeface="Arial"/>
            </a:endParaRPr>
          </a:p>
          <a:p>
            <a:pPr lvl="1" marL="470520" indent="-235440" algn="just" defTabSz="914400">
              <a:lnSpc>
                <a:spcPts val="3050"/>
              </a:lnSpc>
              <a:buClr>
                <a:srgbClr val="ffffff"/>
              </a:buClr>
              <a:buFont typeface="Arial"/>
              <a:buChar char="•"/>
            </a:pPr>
            <a:r>
              <a:rPr b="0" lang="en-US" sz="2180" spc="-1" strike="noStrike">
                <a:solidFill>
                  <a:srgbClr val="ffffff"/>
                </a:solidFill>
                <a:latin typeface="Canva Sans"/>
                <a:ea typeface="Canva Sans"/>
              </a:rPr>
              <a:t>Problem: Traditional food journaling is effort-intensive, leading to low user compliance.</a:t>
            </a:r>
            <a:endParaRPr b="0" lang="en-US" sz="2180" spc="-1" strike="noStrike">
              <a:solidFill>
                <a:srgbClr val="ffffff"/>
              </a:solidFill>
              <a:latin typeface="Arial"/>
            </a:endParaRPr>
          </a:p>
          <a:p>
            <a:pPr lvl="1" marL="470520" indent="-235440" algn="just" defTabSz="914400">
              <a:lnSpc>
                <a:spcPts val="3050"/>
              </a:lnSpc>
              <a:buClr>
                <a:srgbClr val="ffffff"/>
              </a:buClr>
              <a:buFont typeface="Arial"/>
              <a:buChar char="•"/>
            </a:pPr>
            <a:r>
              <a:rPr b="0" lang="en-US" sz="2180" spc="-1" strike="noStrike">
                <a:solidFill>
                  <a:srgbClr val="ffffff"/>
                </a:solidFill>
                <a:latin typeface="Canva Sans"/>
                <a:ea typeface="Canva Sans"/>
              </a:rPr>
              <a:t>Objective: Develop an automated system that simplifies food logging through image recognition and recipe analysis, with a focus on domestic cooking.</a:t>
            </a:r>
            <a:endParaRPr b="0" lang="en-US" sz="2180" spc="-1" strike="noStrike">
              <a:solidFill>
                <a:srgbClr val="ffffff"/>
              </a:solidFill>
              <a:latin typeface="Arial"/>
            </a:endParaRPr>
          </a:p>
          <a:p>
            <a:pPr lvl="1" marL="470520" indent="-235440" algn="just" defTabSz="914400">
              <a:lnSpc>
                <a:spcPts val="3050"/>
              </a:lnSpc>
              <a:buClr>
                <a:srgbClr val="ffffff"/>
              </a:buClr>
              <a:buFont typeface="Arial"/>
              <a:buChar char="•"/>
            </a:pPr>
            <a:r>
              <a:rPr b="0" lang="en-US" sz="2180" spc="-1" strike="noStrike">
                <a:solidFill>
                  <a:srgbClr val="ffffff"/>
                </a:solidFill>
                <a:latin typeface="Canva Sans"/>
                <a:ea typeface="Canva Sans"/>
              </a:rPr>
              <a:t>Approach:</a:t>
            </a:r>
            <a:endParaRPr b="0" lang="en-US" sz="2180" spc="-1" strike="noStrike">
              <a:solidFill>
                <a:srgbClr val="ffffff"/>
              </a:solidFill>
              <a:latin typeface="Arial"/>
            </a:endParaRPr>
          </a:p>
          <a:p>
            <a:pPr lvl="2" marL="941040" indent="-313560" algn="just" defTabSz="914400">
              <a:lnSpc>
                <a:spcPts val="3050"/>
              </a:lnSpc>
              <a:buClr>
                <a:srgbClr val="ffffff"/>
              </a:buClr>
              <a:buFont typeface="Arial"/>
              <a:buChar char="⚬"/>
            </a:pPr>
            <a:r>
              <a:rPr b="0" lang="en-US" sz="2180" spc="-1" strike="noStrike">
                <a:solidFill>
                  <a:srgbClr val="ffffff"/>
                </a:solidFill>
                <a:latin typeface="Canva Sans"/>
                <a:ea typeface="Canva Sans"/>
              </a:rPr>
              <a:t>Utilize advanced machine learning and natural language processing techniques.</a:t>
            </a:r>
            <a:endParaRPr b="0" lang="en-US" sz="2180" spc="-1" strike="noStrike">
              <a:solidFill>
                <a:srgbClr val="ffffff"/>
              </a:solidFill>
              <a:latin typeface="Arial"/>
            </a:endParaRPr>
          </a:p>
          <a:p>
            <a:pPr lvl="2" marL="941040" indent="-313560" algn="just" defTabSz="914400">
              <a:lnSpc>
                <a:spcPts val="3050"/>
              </a:lnSpc>
              <a:buClr>
                <a:srgbClr val="ffffff"/>
              </a:buClr>
              <a:buFont typeface="Arial"/>
              <a:buChar char="⚬"/>
            </a:pPr>
            <a:r>
              <a:rPr b="0" lang="en-US" sz="2180" spc="-1" strike="noStrike">
                <a:solidFill>
                  <a:srgbClr val="ffffff"/>
                </a:solidFill>
                <a:latin typeface="Canva Sans"/>
                <a:ea typeface="Canva Sans"/>
              </a:rPr>
              <a:t>Integrate comprehensive food nutrient profiles and contextual ingredient information.</a:t>
            </a:r>
            <a:endParaRPr b="0" lang="en-US" sz="2180" spc="-1" strike="noStrike">
              <a:solidFill>
                <a:srgbClr val="ffffff"/>
              </a:solidFill>
              <a:latin typeface="Arial"/>
            </a:endParaRPr>
          </a:p>
          <a:p>
            <a:pPr lvl="2" marL="941040" indent="-313560" algn="just" defTabSz="914400">
              <a:lnSpc>
                <a:spcPts val="3050"/>
              </a:lnSpc>
              <a:buClr>
                <a:srgbClr val="ffffff"/>
              </a:buClr>
              <a:buFont typeface="Arial"/>
              <a:buChar char="⚬"/>
            </a:pPr>
            <a:r>
              <a:rPr b="0" lang="en-US" sz="2180" spc="-1" strike="noStrike">
                <a:solidFill>
                  <a:srgbClr val="ffffff"/>
                </a:solidFill>
                <a:latin typeface="Canva Sans"/>
                <a:ea typeface="Canva Sans"/>
              </a:rPr>
              <a:t>Prototype: Android app "CHEF.AI" for food recognition and healthy meal recommendations.</a:t>
            </a:r>
            <a:endParaRPr b="0" lang="en-US" sz="2180" spc="-1" strike="noStrike">
              <a:solidFill>
                <a:srgbClr val="ffffff"/>
              </a:solidFill>
              <a:latin typeface="Arial"/>
            </a:endParaRPr>
          </a:p>
          <a:p>
            <a:pPr algn="just" defTabSz="914400">
              <a:lnSpc>
                <a:spcPts val="3050"/>
              </a:lnSpc>
            </a:pPr>
            <a:r>
              <a:rPr b="0" lang="en-US" sz="2180" spc="-1" strike="noStrike">
                <a:solidFill>
                  <a:srgbClr val="ffffff"/>
                </a:solidFill>
                <a:latin typeface="Canva Sans"/>
                <a:ea typeface="Canva Sans"/>
              </a:rPr>
              <a:t>Key Benefits:</a:t>
            </a:r>
            <a:endParaRPr b="0" lang="en-US" sz="2180" spc="-1" strike="noStrike">
              <a:solidFill>
                <a:srgbClr val="ffffff"/>
              </a:solidFill>
              <a:latin typeface="Arial"/>
            </a:endParaRPr>
          </a:p>
          <a:p>
            <a:pPr lvl="1" marL="470520" indent="-235440" algn="just" defTabSz="914400">
              <a:lnSpc>
                <a:spcPts val="3050"/>
              </a:lnSpc>
              <a:buClr>
                <a:srgbClr val="ffffff"/>
              </a:buClr>
              <a:buFont typeface="Arial"/>
              <a:buChar char="•"/>
            </a:pPr>
            <a:r>
              <a:rPr b="0" lang="en-US" sz="2180" spc="-1" strike="noStrike">
                <a:solidFill>
                  <a:srgbClr val="ffffff"/>
                </a:solidFill>
                <a:latin typeface="Canva Sans"/>
                <a:ea typeface="Canva Sans"/>
              </a:rPr>
              <a:t>Streamlines food logging and diet management.</a:t>
            </a:r>
            <a:endParaRPr b="0" lang="en-US" sz="2180" spc="-1" strike="noStrike">
              <a:solidFill>
                <a:srgbClr val="ffffff"/>
              </a:solidFill>
              <a:latin typeface="Arial"/>
            </a:endParaRPr>
          </a:p>
          <a:p>
            <a:pPr lvl="1" marL="470520" indent="-235440" algn="just" defTabSz="914400">
              <a:lnSpc>
                <a:spcPts val="3050"/>
              </a:lnSpc>
              <a:buClr>
                <a:srgbClr val="ffffff"/>
              </a:buClr>
              <a:buFont typeface="Arial"/>
              <a:buChar char="•"/>
            </a:pPr>
            <a:r>
              <a:rPr b="0" lang="en-US" sz="2180" spc="-1" strike="noStrike">
                <a:solidFill>
                  <a:srgbClr val="ffffff"/>
                </a:solidFill>
                <a:latin typeface="Canva Sans"/>
                <a:ea typeface="Canva Sans"/>
              </a:rPr>
              <a:t>Provides personalized and health-oriented food recommendations.</a:t>
            </a:r>
            <a:endParaRPr b="0" lang="en-US" sz="2180" spc="-1" strike="noStrike">
              <a:solidFill>
                <a:srgbClr val="ffffff"/>
              </a:solidFill>
              <a:latin typeface="Arial"/>
            </a:endParaRPr>
          </a:p>
          <a:p>
            <a:pPr lvl="1" marL="470520" indent="-235440" algn="just" defTabSz="914400">
              <a:lnSpc>
                <a:spcPts val="3050"/>
              </a:lnSpc>
              <a:buClr>
                <a:srgbClr val="ffffff"/>
              </a:buClr>
              <a:buFont typeface="Arial"/>
              <a:buChar char="•"/>
            </a:pPr>
            <a:r>
              <a:rPr b="0" lang="en-US" sz="2180" spc="-1" strike="noStrike">
                <a:solidFill>
                  <a:srgbClr val="ffffff"/>
                </a:solidFill>
                <a:latin typeface="Canva Sans"/>
                <a:ea typeface="Canva Sans"/>
              </a:rPr>
              <a:t>Potential for broad application in personal health management.</a:t>
            </a:r>
            <a:endParaRPr b="0" lang="en-US" sz="2180" spc="-1" strike="noStrike">
              <a:solidFill>
                <a:srgbClr val="ffffff"/>
              </a:solidFill>
              <a:latin typeface="Arial"/>
            </a:endParaRPr>
          </a:p>
          <a:p>
            <a:pPr algn="just" defTabSz="914400">
              <a:lnSpc>
                <a:spcPts val="3050"/>
              </a:lnSpc>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87" name="Group 2"/>
          <p:cNvGrpSpPr/>
          <p:nvPr/>
        </p:nvGrpSpPr>
        <p:grpSpPr>
          <a:xfrm>
            <a:off x="454320" y="346680"/>
            <a:ext cx="17338680" cy="9702000"/>
            <a:chOff x="454320" y="346680"/>
            <a:chExt cx="17338680" cy="9702000"/>
          </a:xfrm>
        </p:grpSpPr>
        <p:sp>
          <p:nvSpPr>
            <p:cNvPr id="88" name="Freeform 3"/>
            <p:cNvSpPr/>
            <p:nvPr/>
          </p:nvSpPr>
          <p:spPr>
            <a:xfrm>
              <a:off x="454320" y="346680"/>
              <a:ext cx="17338680" cy="9702000"/>
            </a:xfrm>
            <a:custGeom>
              <a:avLst/>
              <a:gdLst>
                <a:gd name="textAreaLeft" fmla="*/ 0 w 17338680"/>
                <a:gd name="textAreaRight" fmla="*/ 17339040 w 17338680"/>
                <a:gd name="textAreaTop" fmla="*/ 0 h 9702000"/>
                <a:gd name="textAreaBottom" fmla="*/ 9702360 h 9702000"/>
              </a:gdLst>
              <a:ahLst/>
              <a:rect l="textAreaLeft" t="textAreaTop" r="textAreaRight" b="textAreaBottom"/>
              <a:pathLst>
                <a:path w="4566707" h="2555308">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TextBox 4"/>
            <p:cNvSpPr/>
            <p:nvPr/>
          </p:nvSpPr>
          <p:spPr>
            <a:xfrm>
              <a:off x="454320" y="455400"/>
              <a:ext cx="17338680" cy="9593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90" name="TextBox 5"/>
          <p:cNvSpPr/>
          <p:nvPr/>
        </p:nvSpPr>
        <p:spPr>
          <a:xfrm>
            <a:off x="4827960" y="759600"/>
            <a:ext cx="7944120" cy="575640"/>
          </a:xfrm>
          <a:prstGeom prst="rect">
            <a:avLst/>
          </a:prstGeom>
          <a:noFill/>
          <a:ln w="0">
            <a:noFill/>
          </a:ln>
        </p:spPr>
        <p:style>
          <a:lnRef idx="0"/>
          <a:fillRef idx="0"/>
          <a:effectRef idx="0"/>
          <a:fontRef idx="minor"/>
        </p:style>
        <p:txBody>
          <a:bodyPr lIns="0" rIns="0" tIns="0" bIns="0" anchor="t">
            <a:spAutoFit/>
          </a:bodyPr>
          <a:p>
            <a:pPr algn="ctr" defTabSz="914400">
              <a:lnSpc>
                <a:spcPts val="4530"/>
              </a:lnSpc>
              <a:tabLst>
                <a:tab algn="l" pos="0"/>
              </a:tabLst>
            </a:pPr>
            <a:r>
              <a:rPr b="0" lang="en-US" sz="4530" spc="-191" strike="noStrike">
                <a:solidFill>
                  <a:srgbClr val="12bbfe"/>
                </a:solidFill>
                <a:latin typeface="Inter Bold"/>
                <a:ea typeface="Inter Bold"/>
              </a:rPr>
              <a:t>Challenges in Cooking Today</a:t>
            </a:r>
            <a:endParaRPr b="0" lang="en-US" sz="4530" spc="-1" strike="noStrike">
              <a:solidFill>
                <a:srgbClr val="ffffff"/>
              </a:solidFill>
              <a:latin typeface="Arial"/>
            </a:endParaRPr>
          </a:p>
        </p:txBody>
      </p:sp>
      <p:sp>
        <p:nvSpPr>
          <p:cNvPr id="91" name="TextBox 6"/>
          <p:cNvSpPr/>
          <p:nvPr/>
        </p:nvSpPr>
        <p:spPr>
          <a:xfrm>
            <a:off x="1523160" y="3397680"/>
            <a:ext cx="16764480" cy="5443560"/>
          </a:xfrm>
          <a:prstGeom prst="rect">
            <a:avLst/>
          </a:prstGeom>
          <a:noFill/>
          <a:ln w="0">
            <a:noFill/>
          </a:ln>
        </p:spPr>
        <p:style>
          <a:lnRef idx="0"/>
          <a:fillRef idx="0"/>
          <a:effectRef idx="0"/>
          <a:fontRef idx="minor"/>
        </p:style>
        <p:txBody>
          <a:bodyPr lIns="0" rIns="0" tIns="0" bIns="0" anchor="t">
            <a:spAutoFit/>
          </a:bodyPr>
          <a:p>
            <a:pPr lvl="1" marL="675360" indent="-337680" defTabSz="914400">
              <a:lnSpc>
                <a:spcPts val="4286"/>
              </a:lnSpc>
              <a:buClr>
                <a:srgbClr val="ffffff"/>
              </a:buClr>
              <a:buFont typeface="Arial"/>
              <a:buChar char="•"/>
            </a:pPr>
            <a:r>
              <a:rPr b="0" lang="en-US" sz="3130" spc="-1" strike="noStrike">
                <a:solidFill>
                  <a:srgbClr val="ffffff"/>
                </a:solidFill>
                <a:latin typeface="Inter"/>
                <a:ea typeface="Inter"/>
              </a:rPr>
              <a:t>Difficulty in meal planning and finding new recipes.</a:t>
            </a:r>
            <a:endParaRPr b="0" lang="en-US" sz="3130" spc="-1" strike="noStrike">
              <a:solidFill>
                <a:srgbClr val="ffffff"/>
              </a:solidFill>
              <a:latin typeface="Arial"/>
            </a:endParaRPr>
          </a:p>
          <a:p>
            <a:pPr lvl="1" marL="675360" indent="-337680" defTabSz="914400">
              <a:lnSpc>
                <a:spcPts val="4286"/>
              </a:lnSpc>
              <a:buClr>
                <a:srgbClr val="ffffff"/>
              </a:buClr>
              <a:buFont typeface="Arial"/>
              <a:buChar char="•"/>
            </a:pPr>
            <a:r>
              <a:rPr b="0" lang="en-US" sz="3130" spc="-1" strike="noStrike">
                <a:solidFill>
                  <a:srgbClr val="ffffff"/>
                </a:solidFill>
                <a:latin typeface="Inter"/>
                <a:ea typeface="Inter"/>
              </a:rPr>
              <a:t>Managing dietary restrictions and preferences.</a:t>
            </a:r>
            <a:endParaRPr b="0" lang="en-US" sz="3130" spc="-1" strike="noStrike">
              <a:solidFill>
                <a:srgbClr val="ffffff"/>
              </a:solidFill>
              <a:latin typeface="Arial"/>
            </a:endParaRPr>
          </a:p>
          <a:p>
            <a:pPr lvl="1" marL="675360" indent="-337680" defTabSz="914400">
              <a:lnSpc>
                <a:spcPts val="4286"/>
              </a:lnSpc>
              <a:buClr>
                <a:srgbClr val="ffffff"/>
              </a:buClr>
              <a:buFont typeface="Arial"/>
              <a:buChar char="•"/>
            </a:pPr>
            <a:r>
              <a:rPr b="0" lang="en-US" sz="3130" spc="-1" strike="noStrike">
                <a:solidFill>
                  <a:srgbClr val="ffffff"/>
                </a:solidFill>
                <a:latin typeface="Inter"/>
                <a:ea typeface="Inter"/>
              </a:rPr>
              <a:t>Reducing food waste by using available ingredients.</a:t>
            </a:r>
            <a:endParaRPr b="0" lang="en-US" sz="3130" spc="-1" strike="noStrike">
              <a:solidFill>
                <a:srgbClr val="ffffff"/>
              </a:solidFill>
              <a:latin typeface="Arial"/>
            </a:endParaRPr>
          </a:p>
          <a:p>
            <a:pPr lvl="1" marL="675360" indent="-337680" defTabSz="914400">
              <a:lnSpc>
                <a:spcPts val="4286"/>
              </a:lnSpc>
              <a:buClr>
                <a:srgbClr val="ffffff"/>
              </a:buClr>
              <a:buFont typeface="Arial"/>
              <a:buChar char="•"/>
            </a:pPr>
            <a:r>
              <a:rPr b="0" lang="en-US" sz="3130" spc="-1" strike="noStrike">
                <a:solidFill>
                  <a:srgbClr val="ffffff"/>
                </a:solidFill>
                <a:latin typeface="Inter"/>
                <a:ea typeface="Inter"/>
              </a:rPr>
              <a:t>Need for quick and convenient meal solutions.</a:t>
            </a:r>
            <a:endParaRPr b="0" lang="en-US" sz="3130" spc="-1" strike="noStrike">
              <a:solidFill>
                <a:srgbClr val="ffffff"/>
              </a:solidFill>
              <a:latin typeface="Arial"/>
            </a:endParaRPr>
          </a:p>
          <a:p>
            <a:pPr lvl="1" marL="675360" indent="-337680" defTabSz="914400">
              <a:lnSpc>
                <a:spcPts val="4286"/>
              </a:lnSpc>
              <a:buClr>
                <a:srgbClr val="ffffff"/>
              </a:buClr>
              <a:buFont typeface="Arial"/>
              <a:buChar char="•"/>
            </a:pPr>
            <a:r>
              <a:rPr b="0" lang="en-US" sz="3130" spc="-1" strike="noStrike">
                <a:solidFill>
                  <a:srgbClr val="ffffff"/>
                </a:solidFill>
                <a:latin typeface="Inter"/>
                <a:ea typeface="Inter"/>
              </a:rPr>
              <a:t>Challenges in Current Diet Management:</a:t>
            </a:r>
            <a:endParaRPr b="0" lang="en-US" sz="3130" spc="-1" strike="noStrike">
              <a:solidFill>
                <a:srgbClr val="ffffff"/>
              </a:solidFill>
              <a:latin typeface="Arial"/>
            </a:endParaRPr>
          </a:p>
          <a:p>
            <a:pPr lvl="1" marL="675360" indent="-337680" defTabSz="914400">
              <a:lnSpc>
                <a:spcPts val="4286"/>
              </a:lnSpc>
              <a:buClr>
                <a:srgbClr val="ffffff"/>
              </a:buClr>
              <a:buFont typeface="Arial"/>
              <a:buChar char="•"/>
            </a:pPr>
            <a:r>
              <a:rPr b="0" lang="en-US" sz="3130" spc="-1" strike="noStrike">
                <a:solidFill>
                  <a:srgbClr val="ffffff"/>
                </a:solidFill>
                <a:latin typeface="Inter"/>
                <a:ea typeface="Inter"/>
              </a:rPr>
              <a:t>Manual Effort: Existing food journaling tools require significant user input, leading to low adherence over time.</a:t>
            </a:r>
            <a:endParaRPr b="0" lang="en-US" sz="3130" spc="-1" strike="noStrike">
              <a:solidFill>
                <a:srgbClr val="ffffff"/>
              </a:solidFill>
              <a:latin typeface="Arial"/>
            </a:endParaRPr>
          </a:p>
          <a:p>
            <a:pPr lvl="1" marL="675360" indent="-337680" defTabSz="914400">
              <a:lnSpc>
                <a:spcPts val="4286"/>
              </a:lnSpc>
              <a:buClr>
                <a:srgbClr val="ffffff"/>
              </a:buClr>
              <a:buFont typeface="Arial"/>
              <a:buChar char="•"/>
            </a:pPr>
            <a:r>
              <a:rPr b="0" lang="en-US" sz="3130" spc="-1" strike="noStrike">
                <a:solidFill>
                  <a:srgbClr val="ffffff"/>
                </a:solidFill>
                <a:latin typeface="Inter"/>
                <a:ea typeface="Inter"/>
              </a:rPr>
              <a:t>Accuracy Issues: Traditional methods often lack precision in portion size estimation and nutrient calculation.</a:t>
            </a:r>
            <a:endParaRPr b="0" lang="en-US" sz="3130" spc="-1" strike="noStrike">
              <a:solidFill>
                <a:srgbClr val="ffffff"/>
              </a:solidFill>
              <a:latin typeface="Arial"/>
            </a:endParaRPr>
          </a:p>
          <a:p>
            <a:pPr defTabSz="914400">
              <a:lnSpc>
                <a:spcPts val="4286"/>
              </a:lnSpc>
              <a:tabLst>
                <a:tab algn="l" pos="0"/>
              </a:tabLst>
            </a:pPr>
            <a:endParaRPr b="0" lang="en-US" sz="1800" spc="-1" strike="noStrike">
              <a:solidFill>
                <a:srgbClr val="ffffff"/>
              </a:solidFill>
              <a:latin typeface="Arial"/>
            </a:endParaRPr>
          </a:p>
        </p:txBody>
      </p:sp>
    </p:spTree>
  </p:cSld>
  <p:transition spd="slow">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92" name="Group 2"/>
          <p:cNvGrpSpPr/>
          <p:nvPr/>
        </p:nvGrpSpPr>
        <p:grpSpPr>
          <a:xfrm>
            <a:off x="454320" y="346680"/>
            <a:ext cx="17338680" cy="9702000"/>
            <a:chOff x="454320" y="346680"/>
            <a:chExt cx="17338680" cy="9702000"/>
          </a:xfrm>
        </p:grpSpPr>
        <p:sp>
          <p:nvSpPr>
            <p:cNvPr id="93" name="Freeform 3"/>
            <p:cNvSpPr/>
            <p:nvPr/>
          </p:nvSpPr>
          <p:spPr>
            <a:xfrm>
              <a:off x="454320" y="346680"/>
              <a:ext cx="17338680" cy="9702000"/>
            </a:xfrm>
            <a:custGeom>
              <a:avLst/>
              <a:gdLst>
                <a:gd name="textAreaLeft" fmla="*/ 0 w 17338680"/>
                <a:gd name="textAreaRight" fmla="*/ 17339040 w 17338680"/>
                <a:gd name="textAreaTop" fmla="*/ 0 h 9702000"/>
                <a:gd name="textAreaBottom" fmla="*/ 9702360 h 9702000"/>
              </a:gdLst>
              <a:ahLst/>
              <a:rect l="textAreaLeft" t="textAreaTop" r="textAreaRight" b="textAreaBottom"/>
              <a:pathLst>
                <a:path w="4566707" h="2555308">
                  <a:moveTo>
                    <a:pt x="22771" y="0"/>
                  </a:moveTo>
                  <a:lnTo>
                    <a:pt x="4543935" y="0"/>
                  </a:lnTo>
                  <a:cubicBezTo>
                    <a:pt x="4549975" y="0"/>
                    <a:pt x="4555767" y="2399"/>
                    <a:pt x="4560037" y="6670"/>
                  </a:cubicBezTo>
                  <a:cubicBezTo>
                    <a:pt x="4564308" y="10940"/>
                    <a:pt x="4566707" y="16732"/>
                    <a:pt x="4566707" y="22771"/>
                  </a:cubicBezTo>
                  <a:lnTo>
                    <a:pt x="4566707" y="2532537"/>
                  </a:lnTo>
                  <a:cubicBezTo>
                    <a:pt x="4566707" y="2538576"/>
                    <a:pt x="4564308" y="2544368"/>
                    <a:pt x="4560037" y="2548638"/>
                  </a:cubicBezTo>
                  <a:cubicBezTo>
                    <a:pt x="4555767" y="2552909"/>
                    <a:pt x="4549975" y="2555308"/>
                    <a:pt x="4543935" y="2555308"/>
                  </a:cubicBezTo>
                  <a:lnTo>
                    <a:pt x="22771" y="2555308"/>
                  </a:lnTo>
                  <a:cubicBezTo>
                    <a:pt x="16732" y="2555308"/>
                    <a:pt x="10940" y="2552909"/>
                    <a:pt x="6670" y="2548638"/>
                  </a:cubicBezTo>
                  <a:cubicBezTo>
                    <a:pt x="2399" y="2544368"/>
                    <a:pt x="0" y="2538576"/>
                    <a:pt x="0" y="2532537"/>
                  </a:cubicBezTo>
                  <a:lnTo>
                    <a:pt x="0" y="22771"/>
                  </a:lnTo>
                  <a:cubicBezTo>
                    <a:pt x="0" y="16732"/>
                    <a:pt x="2399" y="10940"/>
                    <a:pt x="6670" y="6670"/>
                  </a:cubicBezTo>
                  <a:cubicBezTo>
                    <a:pt x="10940" y="2399"/>
                    <a:pt x="16732" y="0"/>
                    <a:pt x="22771"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4" name="TextBox 4"/>
            <p:cNvSpPr/>
            <p:nvPr/>
          </p:nvSpPr>
          <p:spPr>
            <a:xfrm>
              <a:off x="454320" y="455400"/>
              <a:ext cx="17338680" cy="95932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95" name="TextBox 5"/>
          <p:cNvSpPr/>
          <p:nvPr/>
        </p:nvSpPr>
        <p:spPr>
          <a:xfrm>
            <a:off x="4827960" y="759600"/>
            <a:ext cx="7944120" cy="575640"/>
          </a:xfrm>
          <a:prstGeom prst="rect">
            <a:avLst/>
          </a:prstGeom>
          <a:noFill/>
          <a:ln w="0">
            <a:noFill/>
          </a:ln>
        </p:spPr>
        <p:style>
          <a:lnRef idx="0"/>
          <a:fillRef idx="0"/>
          <a:effectRef idx="0"/>
          <a:fontRef idx="minor"/>
        </p:style>
        <p:txBody>
          <a:bodyPr lIns="0" rIns="0" tIns="0" bIns="0" anchor="t">
            <a:spAutoFit/>
          </a:bodyPr>
          <a:p>
            <a:pPr algn="ctr" defTabSz="914400">
              <a:lnSpc>
                <a:spcPts val="4530"/>
              </a:lnSpc>
              <a:tabLst>
                <a:tab algn="l" pos="0"/>
              </a:tabLst>
            </a:pPr>
            <a:r>
              <a:rPr b="0" lang="en-US" sz="4530" spc="-191" strike="noStrike">
                <a:solidFill>
                  <a:srgbClr val="12bbfe"/>
                </a:solidFill>
                <a:latin typeface="Inter Bold"/>
                <a:ea typeface="Inter Bold"/>
              </a:rPr>
              <a:t>Challenges in Cooking Today</a:t>
            </a:r>
            <a:endParaRPr b="0" lang="en-US" sz="4530" spc="-1" strike="noStrike">
              <a:solidFill>
                <a:srgbClr val="ffffff"/>
              </a:solidFill>
              <a:latin typeface="Arial"/>
            </a:endParaRPr>
          </a:p>
        </p:txBody>
      </p:sp>
      <p:sp>
        <p:nvSpPr>
          <p:cNvPr id="96" name="TextBox 6"/>
          <p:cNvSpPr/>
          <p:nvPr/>
        </p:nvSpPr>
        <p:spPr>
          <a:xfrm>
            <a:off x="1676880" y="2257560"/>
            <a:ext cx="16302600" cy="6778440"/>
          </a:xfrm>
          <a:prstGeom prst="rect">
            <a:avLst/>
          </a:prstGeom>
          <a:noFill/>
          <a:ln w="0">
            <a:noFill/>
          </a:ln>
        </p:spPr>
        <p:style>
          <a:lnRef idx="0"/>
          <a:fillRef idx="0"/>
          <a:effectRef idx="0"/>
          <a:fontRef idx="minor"/>
        </p:style>
        <p:txBody>
          <a:bodyPr lIns="0" rIns="0" tIns="0" bIns="0" anchor="t">
            <a:spAutoFit/>
          </a:bodyPr>
          <a:p>
            <a:pPr defTabSz="914400">
              <a:lnSpc>
                <a:spcPts val="3813"/>
              </a:lnSpc>
            </a:pPr>
            <a:endParaRPr b="0" lang="en-US" sz="1800" spc="-1" strike="noStrike">
              <a:solidFill>
                <a:srgbClr val="ffffff"/>
              </a:solidFill>
              <a:latin typeface="Arial"/>
            </a:endParaRPr>
          </a:p>
          <a:p>
            <a:pPr lvl="1" marL="601200" indent="-300600" defTabSz="914400">
              <a:lnSpc>
                <a:spcPts val="3813"/>
              </a:lnSpc>
              <a:buClr>
                <a:srgbClr val="ffffff"/>
              </a:buClr>
              <a:buFont typeface="Arial"/>
              <a:buChar char="•"/>
            </a:pPr>
            <a:r>
              <a:rPr b="0" lang="en-US" sz="2780" spc="-1" strike="noStrike">
                <a:solidFill>
                  <a:srgbClr val="ffffff"/>
                </a:solidFill>
                <a:latin typeface="Inter Bold"/>
                <a:ea typeface="Inter Bold"/>
              </a:rPr>
              <a:t>Motivation:</a:t>
            </a:r>
            <a:endParaRPr b="0" lang="en-US" sz="2780" spc="-1" strike="noStrike">
              <a:solidFill>
                <a:srgbClr val="ffffff"/>
              </a:solidFill>
              <a:latin typeface="Arial"/>
            </a:endParaRPr>
          </a:p>
          <a:p>
            <a:pPr lvl="1" marL="601200" indent="-300600" defTabSz="914400">
              <a:lnSpc>
                <a:spcPts val="3813"/>
              </a:lnSpc>
              <a:buClr>
                <a:srgbClr val="ffffff"/>
              </a:buClr>
              <a:buFont typeface="Arial"/>
              <a:buChar char="•"/>
            </a:pPr>
            <a:r>
              <a:rPr b="0" lang="en-US" sz="2780" spc="-1" strike="noStrike">
                <a:solidFill>
                  <a:srgbClr val="ffffff"/>
                </a:solidFill>
                <a:latin typeface="Inter"/>
                <a:ea typeface="Inter"/>
              </a:rPr>
              <a:t>Health Impact: With rising obesity and related diseases, there's an urgent need for more effective and user-friendly diet management solutions.</a:t>
            </a:r>
            <a:endParaRPr b="0" lang="en-US" sz="2780" spc="-1" strike="noStrike">
              <a:solidFill>
                <a:srgbClr val="ffffff"/>
              </a:solidFill>
              <a:latin typeface="Arial"/>
            </a:endParaRPr>
          </a:p>
          <a:p>
            <a:pPr lvl="1" marL="601200" indent="-300600" defTabSz="914400">
              <a:lnSpc>
                <a:spcPts val="3813"/>
              </a:lnSpc>
              <a:buClr>
                <a:srgbClr val="ffffff"/>
              </a:buClr>
              <a:buFont typeface="Arial"/>
              <a:buChar char="•"/>
            </a:pPr>
            <a:r>
              <a:rPr b="0" lang="en-US" sz="2780" spc="-1" strike="noStrike">
                <a:solidFill>
                  <a:srgbClr val="ffffff"/>
                </a:solidFill>
                <a:latin typeface="Inter"/>
                <a:ea typeface="Inter"/>
              </a:rPr>
              <a:t>Technological Potential: Advances in AI, machine learning, and natural language processing offer new opportunities to overcome existing limitations and improve food recognition accuracy.</a:t>
            </a:r>
            <a:endParaRPr b="0" lang="en-US" sz="2780" spc="-1" strike="noStrike">
              <a:solidFill>
                <a:srgbClr val="ffffff"/>
              </a:solidFill>
              <a:latin typeface="Arial"/>
            </a:endParaRPr>
          </a:p>
          <a:p>
            <a:pPr lvl="1" marL="601200" indent="-300600" defTabSz="914400">
              <a:lnSpc>
                <a:spcPts val="3813"/>
              </a:lnSpc>
              <a:buClr>
                <a:srgbClr val="ffffff"/>
              </a:buClr>
              <a:buFont typeface="Arial"/>
              <a:buChar char="•"/>
            </a:pPr>
            <a:r>
              <a:rPr b="0" lang="en-US" sz="2780" spc="-1" strike="noStrike">
                <a:solidFill>
                  <a:srgbClr val="ffffff"/>
                </a:solidFill>
                <a:latin typeface="Inter"/>
                <a:ea typeface="Inter"/>
              </a:rPr>
              <a:t>User Experience: Simplifying the food logging process can lead to better user compliance and more accurate dietary monitoring.</a:t>
            </a:r>
            <a:endParaRPr b="0" lang="en-US" sz="2780" spc="-1" strike="noStrike">
              <a:solidFill>
                <a:srgbClr val="ffffff"/>
              </a:solidFill>
              <a:latin typeface="Arial"/>
            </a:endParaRPr>
          </a:p>
          <a:p>
            <a:pPr lvl="1" marL="601200" indent="-300600" defTabSz="914400">
              <a:lnSpc>
                <a:spcPts val="3813"/>
              </a:lnSpc>
              <a:buClr>
                <a:srgbClr val="ffffff"/>
              </a:buClr>
              <a:buFont typeface="Arial"/>
              <a:buChar char="•"/>
            </a:pPr>
            <a:r>
              <a:rPr b="0" lang="en-US" sz="2780" spc="-1" strike="noStrike">
                <a:solidFill>
                  <a:srgbClr val="ffffff"/>
                </a:solidFill>
                <a:latin typeface="Inter Bold"/>
                <a:ea typeface="Inter Bold"/>
              </a:rPr>
              <a:t>Goal:</a:t>
            </a:r>
            <a:endParaRPr b="0" lang="en-US" sz="2780" spc="-1" strike="noStrike">
              <a:solidFill>
                <a:srgbClr val="ffffff"/>
              </a:solidFill>
              <a:latin typeface="Arial"/>
            </a:endParaRPr>
          </a:p>
          <a:p>
            <a:pPr lvl="1" marL="601200" indent="-300600" defTabSz="914400">
              <a:lnSpc>
                <a:spcPts val="3813"/>
              </a:lnSpc>
              <a:buClr>
                <a:srgbClr val="ffffff"/>
              </a:buClr>
              <a:buFont typeface="Arial"/>
              <a:buChar char="•"/>
            </a:pPr>
            <a:r>
              <a:rPr b="0" lang="en-US" sz="2780" spc="-1" strike="noStrike">
                <a:solidFill>
                  <a:srgbClr val="ffffff"/>
                </a:solidFill>
                <a:latin typeface="Inter"/>
                <a:ea typeface="Inter"/>
              </a:rPr>
              <a:t>To create a system that enhances the accuracy and ease of food logging through innovative technology, ultimately supporting healthier eating habits.</a:t>
            </a:r>
            <a:endParaRPr b="0" lang="en-US" sz="2780" spc="-1" strike="noStrike">
              <a:solidFill>
                <a:srgbClr val="ffffff"/>
              </a:solidFill>
              <a:latin typeface="Arial"/>
            </a:endParaRPr>
          </a:p>
          <a:p>
            <a:pPr defTabSz="914400">
              <a:lnSpc>
                <a:spcPts val="3813"/>
              </a:lnSpc>
            </a:pPr>
            <a:endParaRPr b="0" lang="en-US" sz="1800" spc="-1" strike="noStrike">
              <a:solidFill>
                <a:srgbClr val="ffffff"/>
              </a:solidFill>
              <a:latin typeface="Arial"/>
            </a:endParaRPr>
          </a:p>
          <a:p>
            <a:pPr defTabSz="914400">
              <a:lnSpc>
                <a:spcPts val="3813"/>
              </a:lnSpc>
              <a:tabLst>
                <a:tab algn="l" pos="0"/>
              </a:tabLst>
            </a:pPr>
            <a:endParaRPr b="0" lang="en-US" sz="1800" spc="-1" strike="noStrike">
              <a:solidFill>
                <a:srgbClr val="ffffff"/>
              </a:solidFill>
              <a:latin typeface="Arial"/>
            </a:endParaRPr>
          </a:p>
        </p:txBody>
      </p:sp>
    </p:spTree>
  </p:cSld>
  <p:transition spd="slow">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7" name="TextBox 2"/>
          <p:cNvSpPr/>
          <p:nvPr/>
        </p:nvSpPr>
        <p:spPr>
          <a:xfrm>
            <a:off x="660240" y="1878120"/>
            <a:ext cx="17178840" cy="7317000"/>
          </a:xfrm>
          <a:prstGeom prst="rect">
            <a:avLst/>
          </a:prstGeom>
          <a:noFill/>
          <a:ln w="0">
            <a:noFill/>
          </a:ln>
        </p:spPr>
        <p:style>
          <a:lnRef idx="0"/>
          <a:fillRef idx="0"/>
          <a:effectRef idx="0"/>
          <a:fontRef idx="minor"/>
        </p:style>
        <p:txBody>
          <a:bodyPr lIns="0" rIns="0" tIns="0" bIns="0" anchor="t">
            <a:spAutoFit/>
          </a:bodyPr>
          <a:p>
            <a:pPr algn="just" defTabSz="914400">
              <a:lnSpc>
                <a:spcPts val="2554"/>
              </a:lnSpc>
            </a:pPr>
            <a:endParaRPr b="0" lang="en-US" sz="1800" spc="-1" strike="noStrike">
              <a:solidFill>
                <a:srgbClr val="ffffff"/>
              </a:solidFill>
              <a:latin typeface="Arial"/>
            </a:endParaRPr>
          </a:p>
          <a:p>
            <a:pPr algn="just" defTabSz="914400">
              <a:lnSpc>
                <a:spcPts val="2554"/>
              </a:lnSpc>
            </a:pPr>
            <a:r>
              <a:rPr b="0" lang="en-US" sz="2550" spc="-109" strike="noStrike">
                <a:solidFill>
                  <a:srgbClr val="ffffff"/>
                </a:solidFill>
                <a:latin typeface="Inter Bold"/>
                <a:ea typeface="Inter Bold"/>
              </a:rPr>
              <a:t>Early Efforts:</a:t>
            </a:r>
            <a:r>
              <a:rPr b="0" lang="en-US" sz="2550" spc="-109" strike="noStrike">
                <a:solidFill>
                  <a:srgbClr val="ffffff"/>
                </a:solidFill>
                <a:latin typeface="Inter"/>
                <a:ea typeface="Inter"/>
              </a:rPr>
              <a:t> Initial attempts focused on feature engineering, using Support Vector Machines (SVM) with the Pittsburgh fast-food image dataset (PFID). Despite limited performance, accuracy improvements (19% to 28%) were achieved using multiple kernel learning algorithms.</a:t>
            </a:r>
            <a:endParaRPr b="0" lang="en-US" sz="2550" spc="-1" strike="noStrike">
              <a:solidFill>
                <a:srgbClr val="ffffff"/>
              </a:solidFill>
              <a:latin typeface="Arial"/>
            </a:endParaRPr>
          </a:p>
          <a:p>
            <a:pPr algn="just" defTabSz="914400">
              <a:lnSpc>
                <a:spcPts val="2554"/>
              </a:lnSpc>
            </a:pPr>
            <a:endParaRPr b="0" lang="en-US" sz="1800" spc="-1" strike="noStrike">
              <a:solidFill>
                <a:srgbClr val="ffffff"/>
              </a:solidFill>
              <a:latin typeface="Arial"/>
            </a:endParaRPr>
          </a:p>
          <a:p>
            <a:pPr algn="just" defTabSz="914400">
              <a:lnSpc>
                <a:spcPts val="2554"/>
              </a:lnSpc>
            </a:pPr>
            <a:r>
              <a:rPr b="0" lang="en-US" sz="2550" spc="-109" strike="noStrike">
                <a:solidFill>
                  <a:srgbClr val="ffffff"/>
                </a:solidFill>
                <a:latin typeface="Inter Bold"/>
                <a:ea typeface="Inter Bold"/>
              </a:rPr>
              <a:t>Dataset Development: </a:t>
            </a:r>
            <a:r>
              <a:rPr b="0" lang="en-US" sz="2550" spc="-109" strike="noStrike">
                <a:solidFill>
                  <a:srgbClr val="ffffff"/>
                </a:solidFill>
                <a:latin typeface="Inter"/>
                <a:ea typeface="Inter"/>
              </a:rPr>
              <a:t>The emergence of various datasets like UEC-FOOD100, UEC-FOOD256, and Food-101 expanded the scope of food image recognition. For example, Food-101 with a Random Forest classifier achieved 50.7% accuracy.</a:t>
            </a:r>
            <a:endParaRPr b="0" lang="en-US" sz="2550" spc="-1" strike="noStrike">
              <a:solidFill>
                <a:srgbClr val="ffffff"/>
              </a:solidFill>
              <a:latin typeface="Arial"/>
            </a:endParaRPr>
          </a:p>
          <a:p>
            <a:pPr algn="just" defTabSz="914400">
              <a:lnSpc>
                <a:spcPts val="2554"/>
              </a:lnSpc>
            </a:pPr>
            <a:endParaRPr b="0" lang="en-US" sz="1800" spc="-1" strike="noStrike">
              <a:solidFill>
                <a:srgbClr val="ffffff"/>
              </a:solidFill>
              <a:latin typeface="Arial"/>
            </a:endParaRPr>
          </a:p>
          <a:p>
            <a:pPr algn="just" defTabSz="914400">
              <a:lnSpc>
                <a:spcPts val="2554"/>
              </a:lnSpc>
            </a:pPr>
            <a:r>
              <a:rPr b="0" lang="en-US" sz="2550" spc="-109" strike="noStrike">
                <a:solidFill>
                  <a:srgbClr val="ffffff"/>
                </a:solidFill>
                <a:latin typeface="Inter Bold"/>
                <a:ea typeface="Inter Bold"/>
              </a:rPr>
              <a:t>Contextual Information Utilization:</a:t>
            </a:r>
            <a:r>
              <a:rPr b="0" lang="en-US" sz="2550" spc="-109" strike="noStrike">
                <a:solidFill>
                  <a:srgbClr val="ffffff"/>
                </a:solidFill>
                <a:latin typeface="Inter"/>
                <a:ea typeface="Inter"/>
              </a:rPr>
              <a:t> Incorporating user preferences and food co-occurrence in meals improved classification performance. A fully connected undirected graph model achieved 44% accuracy on images collected in natural eating conditions.</a:t>
            </a:r>
            <a:endParaRPr b="0" lang="en-US" sz="2550" spc="-1" strike="noStrike">
              <a:solidFill>
                <a:srgbClr val="ffffff"/>
              </a:solidFill>
              <a:latin typeface="Arial"/>
            </a:endParaRPr>
          </a:p>
          <a:p>
            <a:pPr algn="just" defTabSz="914400">
              <a:lnSpc>
                <a:spcPts val="2554"/>
              </a:lnSpc>
            </a:pPr>
            <a:endParaRPr b="0" lang="en-US" sz="1800" spc="-1" strike="noStrike">
              <a:solidFill>
                <a:srgbClr val="ffffff"/>
              </a:solidFill>
              <a:latin typeface="Arial"/>
            </a:endParaRPr>
          </a:p>
          <a:p>
            <a:pPr algn="just" defTabSz="914400">
              <a:lnSpc>
                <a:spcPts val="3268"/>
              </a:lnSpc>
            </a:pPr>
            <a:r>
              <a:rPr b="0" lang="en-US" sz="2550" spc="-1" strike="noStrike">
                <a:solidFill>
                  <a:srgbClr val="ffffff"/>
                </a:solidFill>
                <a:latin typeface="Inter Bold"/>
                <a:ea typeface="Inter Bold"/>
              </a:rPr>
              <a:t>Recent Advances:</a:t>
            </a:r>
            <a:endParaRPr b="0" lang="en-US" sz="2550" spc="-1" strike="noStrike">
              <a:solidFill>
                <a:srgbClr val="ffffff"/>
              </a:solidFill>
              <a:latin typeface="Arial"/>
            </a:endParaRPr>
          </a:p>
          <a:p>
            <a:pPr algn="just" defTabSz="914400">
              <a:lnSpc>
                <a:spcPts val="3268"/>
              </a:lnSpc>
            </a:pPr>
            <a:endParaRPr b="0" lang="en-US" sz="1800" spc="-1" strike="noStrike">
              <a:solidFill>
                <a:srgbClr val="ffffff"/>
              </a:solidFill>
              <a:latin typeface="Arial"/>
            </a:endParaRPr>
          </a:p>
          <a:p>
            <a:pPr algn="just" defTabSz="914400">
              <a:lnSpc>
                <a:spcPts val="2554"/>
              </a:lnSpc>
            </a:pPr>
            <a:r>
              <a:rPr b="0" lang="en-US" sz="2550" spc="-109" strike="noStrike">
                <a:solidFill>
                  <a:srgbClr val="ffffff"/>
                </a:solidFill>
                <a:latin typeface="Inter"/>
                <a:ea typeface="Inter"/>
              </a:rPr>
              <a:t>Myers et al. utilized multi-label CNN classifiers to predict food items and their nutritional content both in and out of restaurants. Challenges in volume estimation were addressed by combining manual image segmentation and depth estimation.</a:t>
            </a:r>
            <a:endParaRPr b="0" lang="en-US" sz="2550" spc="-1" strike="noStrike">
              <a:solidFill>
                <a:srgbClr val="ffffff"/>
              </a:solidFill>
              <a:latin typeface="Arial"/>
            </a:endParaRPr>
          </a:p>
          <a:p>
            <a:pPr algn="just" defTabSz="914400">
              <a:lnSpc>
                <a:spcPts val="2554"/>
              </a:lnSpc>
            </a:pPr>
            <a:endParaRPr b="0" lang="en-US" sz="1800" spc="-1" strike="noStrike">
              <a:solidFill>
                <a:srgbClr val="ffffff"/>
              </a:solidFill>
              <a:latin typeface="Arial"/>
            </a:endParaRPr>
          </a:p>
          <a:p>
            <a:pPr algn="just" defTabSz="914400">
              <a:lnSpc>
                <a:spcPts val="2554"/>
              </a:lnSpc>
            </a:pPr>
            <a:r>
              <a:rPr b="0" lang="en-US" sz="2550" spc="-109" strike="noStrike">
                <a:solidFill>
                  <a:srgbClr val="ffffff"/>
                </a:solidFill>
                <a:latin typeface="Inter"/>
                <a:ea typeface="Inter"/>
              </a:rPr>
              <a:t>Sun et al. applied the YOLO architecture for food detection, enabling nutrient content retrieval via a nutrition database.</a:t>
            </a:r>
            <a:endParaRPr b="0" lang="en-US" sz="2550" spc="-1" strike="noStrike">
              <a:solidFill>
                <a:srgbClr val="ffffff"/>
              </a:solidFill>
              <a:latin typeface="Arial"/>
            </a:endParaRPr>
          </a:p>
          <a:p>
            <a:pPr algn="just" defTabSz="914400">
              <a:lnSpc>
                <a:spcPts val="2554"/>
              </a:lnSpc>
            </a:pPr>
            <a:endParaRPr b="0" lang="en-US" sz="1800" spc="-1" strike="noStrike">
              <a:solidFill>
                <a:srgbClr val="ffffff"/>
              </a:solidFill>
              <a:latin typeface="Arial"/>
            </a:endParaRPr>
          </a:p>
          <a:p>
            <a:pPr algn="just" defTabSz="914400">
              <a:lnSpc>
                <a:spcPts val="2554"/>
              </a:lnSpc>
            </a:pPr>
            <a:r>
              <a:rPr b="0" lang="en-US" sz="2550" spc="-109" strike="noStrike">
                <a:solidFill>
                  <a:srgbClr val="ffffff"/>
                </a:solidFill>
                <a:latin typeface="Inter"/>
                <a:ea typeface="Inter"/>
              </a:rPr>
              <a:t>Facebook developed a food classifier that identifies ingredients in prepared food images by associating them with recipes and ingredient images.</a:t>
            </a:r>
            <a:endParaRPr b="0" lang="en-US" sz="2550" spc="-1" strike="noStrike">
              <a:solidFill>
                <a:srgbClr val="ffffff"/>
              </a:solidFill>
              <a:latin typeface="Arial"/>
            </a:endParaRPr>
          </a:p>
        </p:txBody>
      </p:sp>
      <p:sp>
        <p:nvSpPr>
          <p:cNvPr id="98" name="TextBox 3"/>
          <p:cNvSpPr/>
          <p:nvPr/>
        </p:nvSpPr>
        <p:spPr>
          <a:xfrm>
            <a:off x="2532600" y="700200"/>
            <a:ext cx="13222440" cy="482760"/>
          </a:xfrm>
          <a:prstGeom prst="rect">
            <a:avLst/>
          </a:prstGeom>
          <a:noFill/>
          <a:ln w="0">
            <a:noFill/>
          </a:ln>
        </p:spPr>
        <p:style>
          <a:lnRef idx="0"/>
          <a:fillRef idx="0"/>
          <a:effectRef idx="0"/>
          <a:fontRef idx="minor"/>
        </p:style>
        <p:txBody>
          <a:bodyPr lIns="0" rIns="0" tIns="0" bIns="0" anchor="t">
            <a:spAutoFit/>
          </a:bodyPr>
          <a:p>
            <a:pPr algn="ctr" defTabSz="914400">
              <a:lnSpc>
                <a:spcPts val="3798"/>
              </a:lnSpc>
            </a:pPr>
            <a:r>
              <a:rPr b="0" lang="en-US" sz="3800" spc="-160" strike="noStrike">
                <a:solidFill>
                  <a:srgbClr val="ffffff"/>
                </a:solidFill>
                <a:latin typeface="Inter Bold"/>
                <a:ea typeface="Inter Bold"/>
              </a:rPr>
              <a:t>Literature Survey: Food Image Recognition and Classification</a:t>
            </a:r>
            <a:endParaRPr b="0" lang="en-US" sz="3800" spc="-1" strike="noStrike">
              <a:solidFill>
                <a:srgbClr val="ffffff"/>
              </a:solidFill>
              <a:latin typeface="Arial"/>
            </a:endParaRPr>
          </a:p>
        </p:txBody>
      </p:sp>
    </p:spTree>
  </p:cSld>
  <p:transition spd="slow">
    <p:fade/>
  </p:transition>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99" name="TextBox 2"/>
          <p:cNvSpPr/>
          <p:nvPr/>
        </p:nvSpPr>
        <p:spPr>
          <a:xfrm>
            <a:off x="1952280" y="2181960"/>
            <a:ext cx="15833520" cy="7769880"/>
          </a:xfrm>
          <a:prstGeom prst="rect">
            <a:avLst/>
          </a:prstGeom>
          <a:noFill/>
          <a:ln w="0">
            <a:noFill/>
          </a:ln>
        </p:spPr>
        <p:style>
          <a:lnRef idx="0"/>
          <a:fillRef idx="0"/>
          <a:effectRef idx="0"/>
          <a:fontRef idx="minor"/>
        </p:style>
        <p:txBody>
          <a:bodyPr lIns="0" rIns="0" tIns="0" bIns="0" anchor="t">
            <a:spAutoFit/>
          </a:bodyPr>
          <a:p>
            <a:pPr defTabSz="914400">
              <a:lnSpc>
                <a:spcPts val="3824"/>
              </a:lnSpc>
            </a:pPr>
            <a:r>
              <a:rPr b="0" lang="en-US" sz="2810" spc="-1" strike="noStrike">
                <a:solidFill>
                  <a:srgbClr val="ffffff"/>
                </a:solidFill>
                <a:latin typeface="Inter Bold"/>
                <a:ea typeface="Inter Bold"/>
              </a:rPr>
              <a:t>Automated Food Recognition:</a:t>
            </a:r>
            <a:endParaRPr b="0" lang="en-US" sz="2810" spc="-1" strike="noStrike">
              <a:solidFill>
                <a:srgbClr val="ffffff"/>
              </a:solidFill>
              <a:latin typeface="Arial"/>
            </a:endParaRPr>
          </a:p>
          <a:p>
            <a:pPr defTabSz="914400">
              <a:lnSpc>
                <a:spcPts val="3824"/>
              </a:lnSpc>
            </a:pPr>
            <a:r>
              <a:rPr b="0" lang="en-US" sz="2810" spc="-1" strike="noStrike">
                <a:solidFill>
                  <a:srgbClr val="ffffff"/>
                </a:solidFill>
                <a:latin typeface="Inter"/>
                <a:ea typeface="Inter"/>
              </a:rPr>
              <a:t>Use advanced image processing techniques to recognize food items from images taken by mobile devices.</a:t>
            </a:r>
            <a:endParaRPr b="0" lang="en-US" sz="2810" spc="-1" strike="noStrike">
              <a:solidFill>
                <a:srgbClr val="ffffff"/>
              </a:solidFill>
              <a:latin typeface="Arial"/>
            </a:endParaRPr>
          </a:p>
          <a:p>
            <a:pPr defTabSz="914400">
              <a:lnSpc>
                <a:spcPts val="3824"/>
              </a:lnSpc>
            </a:pPr>
            <a:r>
              <a:rPr b="0" lang="en-US" sz="2810" spc="-1" strike="noStrike">
                <a:solidFill>
                  <a:srgbClr val="ffffff"/>
                </a:solidFill>
                <a:latin typeface="Inter"/>
                <a:ea typeface="Inter"/>
              </a:rPr>
              <a:t>Leverage deep learning models, particularly Convolutional Neural Networks (CNNs), for accurate ingredient identification.</a:t>
            </a:r>
            <a:endParaRPr b="0" lang="en-US" sz="2810" spc="-1" strike="noStrike">
              <a:solidFill>
                <a:srgbClr val="ffffff"/>
              </a:solidFill>
              <a:latin typeface="Arial"/>
            </a:endParaRPr>
          </a:p>
          <a:p>
            <a:pPr defTabSz="914400">
              <a:lnSpc>
                <a:spcPts val="3824"/>
              </a:lnSpc>
            </a:pPr>
            <a:endParaRPr b="0" lang="en-US" sz="1800" spc="-1" strike="noStrike">
              <a:solidFill>
                <a:srgbClr val="ffffff"/>
              </a:solidFill>
              <a:latin typeface="Arial"/>
            </a:endParaRPr>
          </a:p>
          <a:p>
            <a:pPr defTabSz="914400">
              <a:lnSpc>
                <a:spcPts val="3824"/>
              </a:lnSpc>
            </a:pPr>
            <a:r>
              <a:rPr b="0" lang="en-US" sz="2810" spc="-1" strike="noStrike">
                <a:solidFill>
                  <a:srgbClr val="ffffff"/>
                </a:solidFill>
                <a:latin typeface="Inter Bold"/>
                <a:ea typeface="Inter Bold"/>
              </a:rPr>
              <a:t>Recipe Analysis and Integration:</a:t>
            </a:r>
            <a:endParaRPr b="0" lang="en-US" sz="2810" spc="-1" strike="noStrike">
              <a:solidFill>
                <a:srgbClr val="ffffff"/>
              </a:solidFill>
              <a:latin typeface="Arial"/>
            </a:endParaRPr>
          </a:p>
          <a:p>
            <a:pPr defTabSz="914400">
              <a:lnSpc>
                <a:spcPts val="3824"/>
              </a:lnSpc>
            </a:pPr>
            <a:r>
              <a:rPr b="0" lang="en-US" sz="2810" spc="-1" strike="noStrike">
                <a:solidFill>
                  <a:srgbClr val="ffffff"/>
                </a:solidFill>
                <a:latin typeface="Inter"/>
                <a:ea typeface="Inter"/>
              </a:rPr>
              <a:t>Extract and analyze recipe data using Natural Language Processing (NLP) to understand the context of ingredients and their nutritional profiles.</a:t>
            </a:r>
            <a:endParaRPr b="0" lang="en-US" sz="2810" spc="-1" strike="noStrike">
              <a:solidFill>
                <a:srgbClr val="ffffff"/>
              </a:solidFill>
              <a:latin typeface="Arial"/>
            </a:endParaRPr>
          </a:p>
          <a:p>
            <a:pPr defTabSz="914400">
              <a:lnSpc>
                <a:spcPts val="3824"/>
              </a:lnSpc>
            </a:pPr>
            <a:r>
              <a:rPr b="0" lang="en-US" sz="2810" spc="-1" strike="noStrike">
                <a:solidFill>
                  <a:srgbClr val="ffffff"/>
                </a:solidFill>
                <a:latin typeface="Inter"/>
                <a:ea typeface="Inter"/>
              </a:rPr>
              <a:t>Integrate this data into the food recognition system to improve accuracy and provide meal recommendations.</a:t>
            </a:r>
            <a:endParaRPr b="0" lang="en-US" sz="2810" spc="-1" strike="noStrike">
              <a:solidFill>
                <a:srgbClr val="ffffff"/>
              </a:solidFill>
              <a:latin typeface="Arial"/>
            </a:endParaRPr>
          </a:p>
          <a:p>
            <a:pPr defTabSz="914400">
              <a:lnSpc>
                <a:spcPts val="3824"/>
              </a:lnSpc>
            </a:pPr>
            <a:endParaRPr b="0" lang="en-US" sz="1800" spc="-1" strike="noStrike">
              <a:solidFill>
                <a:srgbClr val="ffffff"/>
              </a:solidFill>
              <a:latin typeface="Arial"/>
            </a:endParaRPr>
          </a:p>
          <a:p>
            <a:pPr defTabSz="914400">
              <a:lnSpc>
                <a:spcPts val="3824"/>
              </a:lnSpc>
            </a:pPr>
            <a:r>
              <a:rPr b="0" lang="en-US" sz="2810" spc="-1" strike="noStrike">
                <a:solidFill>
                  <a:srgbClr val="ffffff"/>
                </a:solidFill>
                <a:latin typeface="Inter Bold"/>
                <a:ea typeface="Inter Bold"/>
              </a:rPr>
              <a:t>User-Friendly Mobile Application:</a:t>
            </a:r>
            <a:endParaRPr b="0" lang="en-US" sz="2810" spc="-1" strike="noStrike">
              <a:solidFill>
                <a:srgbClr val="ffffff"/>
              </a:solidFill>
              <a:latin typeface="Arial"/>
            </a:endParaRPr>
          </a:p>
          <a:p>
            <a:pPr defTabSz="914400">
              <a:lnSpc>
                <a:spcPts val="3824"/>
              </a:lnSpc>
            </a:pPr>
            <a:r>
              <a:rPr b="0" lang="en-US" sz="2810" spc="-1" strike="noStrike">
                <a:solidFill>
                  <a:srgbClr val="ffffff"/>
                </a:solidFill>
                <a:latin typeface="Inter"/>
                <a:ea typeface="Inter"/>
              </a:rPr>
              <a:t>Develop a mobile app, FoodInsight, to implement the system.</a:t>
            </a:r>
            <a:endParaRPr b="0" lang="en-US" sz="2810" spc="-1" strike="noStrike">
              <a:solidFill>
                <a:srgbClr val="ffffff"/>
              </a:solidFill>
              <a:latin typeface="Arial"/>
            </a:endParaRPr>
          </a:p>
          <a:p>
            <a:pPr defTabSz="914400">
              <a:lnSpc>
                <a:spcPts val="3824"/>
              </a:lnSpc>
            </a:pPr>
            <a:r>
              <a:rPr b="0" lang="en-US" sz="2810" spc="-1" strike="noStrike">
                <a:solidFill>
                  <a:srgbClr val="ffffff"/>
                </a:solidFill>
                <a:latin typeface="Inter"/>
                <a:ea typeface="Inter"/>
              </a:rPr>
              <a:t>Allow users to easily log food items and receive personalized dietary advice based on recognized ingredients and recipes.</a:t>
            </a:r>
            <a:endParaRPr b="0" lang="en-US" sz="2810" spc="-1" strike="noStrike">
              <a:solidFill>
                <a:srgbClr val="ffffff"/>
              </a:solidFill>
              <a:latin typeface="Arial"/>
            </a:endParaRPr>
          </a:p>
        </p:txBody>
      </p:sp>
      <p:sp>
        <p:nvSpPr>
          <p:cNvPr id="100" name="TextBox 3"/>
          <p:cNvSpPr/>
          <p:nvPr/>
        </p:nvSpPr>
        <p:spPr>
          <a:xfrm>
            <a:off x="3844080" y="159840"/>
            <a:ext cx="10599840" cy="1635480"/>
          </a:xfrm>
          <a:prstGeom prst="rect">
            <a:avLst/>
          </a:prstGeom>
          <a:noFill/>
          <a:ln w="0">
            <a:noFill/>
          </a:ln>
        </p:spPr>
        <p:style>
          <a:lnRef idx="0"/>
          <a:fillRef idx="0"/>
          <a:effectRef idx="0"/>
          <a:fontRef idx="minor"/>
        </p:style>
        <p:txBody>
          <a:bodyPr lIns="0" rIns="0" tIns="0" bIns="0" anchor="t">
            <a:spAutoFit/>
          </a:bodyPr>
          <a:p>
            <a:pPr algn="ctr" defTabSz="914400">
              <a:lnSpc>
                <a:spcPts val="12881"/>
              </a:lnSpc>
            </a:pPr>
            <a:r>
              <a:rPr b="0" lang="en-US" sz="9200" spc="-1" strike="noStrike">
                <a:solidFill>
                  <a:srgbClr val="ffffff"/>
                </a:solidFill>
                <a:latin typeface="Canva Sans Bold"/>
                <a:ea typeface="Canva Sans Bold"/>
              </a:rPr>
              <a:t>Proposed Solution</a:t>
            </a:r>
            <a:endParaRPr b="0" lang="en-US" sz="9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01" name="TextBox 2"/>
          <p:cNvSpPr/>
          <p:nvPr/>
        </p:nvSpPr>
        <p:spPr>
          <a:xfrm>
            <a:off x="1028880" y="2368440"/>
            <a:ext cx="16731360" cy="7919640"/>
          </a:xfrm>
          <a:prstGeom prst="rect">
            <a:avLst/>
          </a:prstGeom>
          <a:noFill/>
          <a:ln w="0">
            <a:noFill/>
          </a:ln>
        </p:spPr>
        <p:style>
          <a:lnRef idx="0"/>
          <a:fillRef idx="0"/>
          <a:effectRef idx="0"/>
          <a:fontRef idx="minor"/>
        </p:style>
        <p:txBody>
          <a:bodyPr lIns="0" rIns="0" tIns="0" bIns="0" anchor="t">
            <a:spAutoFit/>
          </a:bodyPr>
          <a:p>
            <a:pPr lvl="1" marL="618840" indent="-309600" defTabSz="914400">
              <a:lnSpc>
                <a:spcPts val="3898"/>
              </a:lnSpc>
              <a:buClr>
                <a:srgbClr val="ffffff"/>
              </a:buClr>
              <a:buFont typeface="OpenSymbol"/>
              <a:buAutoNum type="arabicPeriod"/>
            </a:pPr>
            <a:r>
              <a:rPr b="0" lang="en-US" sz="2870" spc="-1" strike="noStrike">
                <a:solidFill>
                  <a:srgbClr val="ffffff"/>
                </a:solidFill>
                <a:latin typeface="Inter Bold"/>
                <a:ea typeface="Inter Bold"/>
              </a:rPr>
              <a:t>Image Data Collection:</a:t>
            </a:r>
            <a:endParaRPr b="0" lang="en-US" sz="2870" spc="-1" strike="noStrike">
              <a:solidFill>
                <a:srgbClr val="ffffff"/>
              </a:solidFill>
              <a:latin typeface="Arial"/>
            </a:endParaRPr>
          </a:p>
          <a:p>
            <a:pPr lvl="2" marL="1238040" indent="-412560" defTabSz="914400">
              <a:lnSpc>
                <a:spcPts val="3898"/>
              </a:lnSpc>
              <a:buClr>
                <a:srgbClr val="ffffff"/>
              </a:buClr>
              <a:buFont typeface="Arial"/>
              <a:buChar char="⚬"/>
            </a:pPr>
            <a:r>
              <a:rPr b="0" lang="en-US" sz="2870" spc="-1" strike="noStrike">
                <a:solidFill>
                  <a:srgbClr val="ffffff"/>
                </a:solidFill>
                <a:latin typeface="Inter"/>
                <a:ea typeface="Inter"/>
              </a:rPr>
              <a:t>Compile a dataset of over 86,000 images representing 130 classes of food ingredients.</a:t>
            </a:r>
            <a:endParaRPr b="0" lang="en-US" sz="2870" spc="-1" strike="noStrike">
              <a:solidFill>
                <a:srgbClr val="ffffff"/>
              </a:solidFill>
              <a:latin typeface="Arial"/>
            </a:endParaRPr>
          </a:p>
          <a:p>
            <a:pPr lvl="2" marL="1238040" indent="-412560" defTabSz="914400">
              <a:lnSpc>
                <a:spcPts val="3898"/>
              </a:lnSpc>
              <a:buClr>
                <a:srgbClr val="ffffff"/>
              </a:buClr>
              <a:buFont typeface="Arial"/>
              <a:buChar char="⚬"/>
            </a:pPr>
            <a:r>
              <a:rPr b="0" lang="en-US" sz="2870" spc="-1" strike="noStrike">
                <a:solidFill>
                  <a:srgbClr val="ffffff"/>
                </a:solidFill>
                <a:latin typeface="Inter"/>
                <a:ea typeface="Inter"/>
              </a:rPr>
              <a:t>Utilize transfer learning with pre-trained CNN models to classify these images.</a:t>
            </a:r>
            <a:endParaRPr b="0" lang="en-US" sz="2870" spc="-1" strike="noStrike">
              <a:solidFill>
                <a:srgbClr val="ffffff"/>
              </a:solidFill>
              <a:latin typeface="Arial"/>
            </a:endParaRPr>
          </a:p>
          <a:p>
            <a:pPr lvl="1" marL="618840" indent="-309600" defTabSz="914400">
              <a:lnSpc>
                <a:spcPts val="3898"/>
              </a:lnSpc>
              <a:buClr>
                <a:srgbClr val="ffffff"/>
              </a:buClr>
              <a:buFont typeface="OpenSymbol"/>
              <a:buAutoNum type="arabicPeriod"/>
            </a:pPr>
            <a:r>
              <a:rPr b="0" lang="en-US" sz="2870" spc="-1" strike="noStrike">
                <a:solidFill>
                  <a:srgbClr val="ffffff"/>
                </a:solidFill>
                <a:latin typeface="Inter Bold"/>
                <a:ea typeface="Inter Bold"/>
              </a:rPr>
              <a:t>Recipe Database Construction:</a:t>
            </a:r>
            <a:endParaRPr b="0" lang="en-US" sz="2870" spc="-1" strike="noStrike">
              <a:solidFill>
                <a:srgbClr val="ffffff"/>
              </a:solidFill>
              <a:latin typeface="Arial"/>
            </a:endParaRPr>
          </a:p>
          <a:p>
            <a:pPr lvl="2" marL="1238040" indent="-412560" defTabSz="914400">
              <a:lnSpc>
                <a:spcPts val="3898"/>
              </a:lnSpc>
              <a:buClr>
                <a:srgbClr val="ffffff"/>
              </a:buClr>
              <a:buFont typeface="Arial"/>
              <a:buChar char="⚬"/>
            </a:pPr>
            <a:r>
              <a:rPr b="0" lang="en-US" sz="2870" spc="-1" strike="noStrike">
                <a:solidFill>
                  <a:srgbClr val="ffffff"/>
                </a:solidFill>
                <a:latin typeface="Inter"/>
                <a:ea typeface="Inter"/>
              </a:rPr>
              <a:t>Crawl over 10,000 recipes from Allrecipes.com, including ingredient lists and nutritional information.</a:t>
            </a:r>
            <a:endParaRPr b="0" lang="en-US" sz="2870" spc="-1" strike="noStrike">
              <a:solidFill>
                <a:srgbClr val="ffffff"/>
              </a:solidFill>
              <a:latin typeface="Arial"/>
            </a:endParaRPr>
          </a:p>
          <a:p>
            <a:pPr lvl="2" marL="1238040" indent="-412560" defTabSz="914400">
              <a:lnSpc>
                <a:spcPts val="3898"/>
              </a:lnSpc>
              <a:buClr>
                <a:srgbClr val="ffffff"/>
              </a:buClr>
              <a:buFont typeface="Arial"/>
              <a:buChar char="⚬"/>
            </a:pPr>
            <a:r>
              <a:rPr b="0" lang="en-US" sz="2870" spc="-1" strike="noStrike">
                <a:solidFill>
                  <a:srgbClr val="ffffff"/>
                </a:solidFill>
                <a:latin typeface="Inter"/>
                <a:ea typeface="Inter"/>
              </a:rPr>
              <a:t>Apply NLP techniques to parse and standardize recipe data for integration into the recognition system.</a:t>
            </a:r>
            <a:endParaRPr b="0" lang="en-US" sz="2870" spc="-1" strike="noStrike">
              <a:solidFill>
                <a:srgbClr val="ffffff"/>
              </a:solidFill>
              <a:latin typeface="Arial"/>
            </a:endParaRPr>
          </a:p>
          <a:p>
            <a:pPr lvl="1" marL="618840" indent="-309600" defTabSz="914400">
              <a:lnSpc>
                <a:spcPts val="3898"/>
              </a:lnSpc>
              <a:buClr>
                <a:srgbClr val="ffffff"/>
              </a:buClr>
              <a:buFont typeface="OpenSymbol"/>
              <a:buAutoNum type="arabicPeriod"/>
            </a:pPr>
            <a:r>
              <a:rPr b="0" lang="en-US" sz="2870" spc="-1" strike="noStrike">
                <a:solidFill>
                  <a:srgbClr val="ffffff"/>
                </a:solidFill>
                <a:latin typeface="Inter Bold"/>
                <a:ea typeface="Inter Bold"/>
              </a:rPr>
              <a:t>Model Training and Optimization:</a:t>
            </a:r>
            <a:endParaRPr b="0" lang="en-US" sz="2870" spc="-1" strike="noStrike">
              <a:solidFill>
                <a:srgbClr val="ffffff"/>
              </a:solidFill>
              <a:latin typeface="Arial"/>
            </a:endParaRPr>
          </a:p>
          <a:p>
            <a:pPr lvl="2" marL="1238040" indent="-412560" defTabSz="914400">
              <a:lnSpc>
                <a:spcPts val="3898"/>
              </a:lnSpc>
              <a:buClr>
                <a:srgbClr val="ffffff"/>
              </a:buClr>
              <a:buFont typeface="Arial"/>
              <a:buChar char="⚬"/>
            </a:pPr>
            <a:r>
              <a:rPr b="0" lang="en-US" sz="2870" spc="-1" strike="noStrike">
                <a:solidFill>
                  <a:srgbClr val="ffffff"/>
                </a:solidFill>
                <a:latin typeface="Inter"/>
                <a:ea typeface="Inter"/>
              </a:rPr>
              <a:t>Train the CNN models on the collected image dataset.</a:t>
            </a:r>
            <a:endParaRPr b="0" lang="en-US" sz="2870" spc="-1" strike="noStrike">
              <a:solidFill>
                <a:srgbClr val="ffffff"/>
              </a:solidFill>
              <a:latin typeface="Arial"/>
            </a:endParaRPr>
          </a:p>
          <a:p>
            <a:pPr lvl="2" marL="1238040" indent="-412560" defTabSz="914400">
              <a:lnSpc>
                <a:spcPts val="3898"/>
              </a:lnSpc>
              <a:buClr>
                <a:srgbClr val="ffffff"/>
              </a:buClr>
              <a:buFont typeface="Arial"/>
              <a:buChar char="⚬"/>
            </a:pPr>
            <a:r>
              <a:rPr b="0" lang="en-US" sz="2870" spc="-1" strike="noStrike">
                <a:solidFill>
                  <a:srgbClr val="ffffff"/>
                </a:solidFill>
                <a:latin typeface="Inter"/>
                <a:ea typeface="Inter"/>
              </a:rPr>
              <a:t>Use Conditional Random Fields (CRF) to optimize ingredient classification by considering co-occurrence probabilities from the recipe data.</a:t>
            </a:r>
            <a:endParaRPr b="0" lang="en-US" sz="2870" spc="-1" strike="noStrike">
              <a:solidFill>
                <a:srgbClr val="ffffff"/>
              </a:solidFill>
              <a:latin typeface="Arial"/>
            </a:endParaRPr>
          </a:p>
          <a:p>
            <a:pPr lvl="1" marL="618840" indent="-309600" defTabSz="914400">
              <a:lnSpc>
                <a:spcPts val="3898"/>
              </a:lnSpc>
              <a:buClr>
                <a:srgbClr val="ffffff"/>
              </a:buClr>
              <a:buFont typeface="OpenSymbol"/>
              <a:buAutoNum type="arabicPeriod"/>
            </a:pPr>
            <a:r>
              <a:rPr b="0" lang="en-US" sz="2870" spc="-1" strike="noStrike">
                <a:solidFill>
                  <a:srgbClr val="ffffff"/>
                </a:solidFill>
                <a:latin typeface="Inter Bold"/>
                <a:ea typeface="Inter Bold"/>
              </a:rPr>
              <a:t>System Integration:</a:t>
            </a:r>
            <a:endParaRPr b="0" lang="en-US" sz="2870" spc="-1" strike="noStrike">
              <a:solidFill>
                <a:srgbClr val="ffffff"/>
              </a:solidFill>
              <a:latin typeface="Arial"/>
            </a:endParaRPr>
          </a:p>
          <a:p>
            <a:pPr lvl="2" marL="1238040" indent="-412560" defTabSz="914400">
              <a:lnSpc>
                <a:spcPts val="3898"/>
              </a:lnSpc>
              <a:buClr>
                <a:srgbClr val="ffffff"/>
              </a:buClr>
              <a:buFont typeface="Arial"/>
              <a:buChar char="⚬"/>
            </a:pPr>
            <a:r>
              <a:rPr b="0" lang="en-US" sz="2870" spc="-1" strike="noStrike">
                <a:solidFill>
                  <a:srgbClr val="ffffff"/>
                </a:solidFill>
                <a:latin typeface="Inter"/>
                <a:ea typeface="Inter"/>
              </a:rPr>
              <a:t>Combine image recognition with recipe analysis to enhance the accuracy of food logging.</a:t>
            </a:r>
            <a:endParaRPr b="0" lang="en-US" sz="2870" spc="-1" strike="noStrike">
              <a:solidFill>
                <a:srgbClr val="ffffff"/>
              </a:solidFill>
              <a:latin typeface="Arial"/>
            </a:endParaRPr>
          </a:p>
          <a:p>
            <a:pPr lvl="2" marL="1238040" indent="-412560" defTabSz="914400">
              <a:lnSpc>
                <a:spcPts val="3898"/>
              </a:lnSpc>
              <a:buClr>
                <a:srgbClr val="ffffff"/>
              </a:buClr>
              <a:buFont typeface="Arial"/>
              <a:buChar char="⚬"/>
            </a:pPr>
            <a:r>
              <a:rPr b="0" lang="en-US" sz="2870" spc="-1" strike="noStrike">
                <a:solidFill>
                  <a:srgbClr val="ffffff"/>
                </a:solidFill>
                <a:latin typeface="Inter"/>
                <a:ea typeface="Inter"/>
              </a:rPr>
              <a:t>Implement the system in the FoodInsight app for real-time user interaction and feedback.</a:t>
            </a:r>
            <a:endParaRPr b="0" lang="en-US" sz="2870" spc="-1" strike="noStrike">
              <a:solidFill>
                <a:srgbClr val="ffffff"/>
              </a:solidFill>
              <a:latin typeface="Arial"/>
            </a:endParaRPr>
          </a:p>
          <a:p>
            <a:pPr defTabSz="914400">
              <a:lnSpc>
                <a:spcPts val="3898"/>
              </a:lnSpc>
            </a:pPr>
            <a:endParaRPr b="0" lang="en-US" sz="1800" spc="-1" strike="noStrike">
              <a:solidFill>
                <a:srgbClr val="ffffff"/>
              </a:solidFill>
              <a:latin typeface="Arial"/>
            </a:endParaRPr>
          </a:p>
        </p:txBody>
      </p:sp>
      <p:sp>
        <p:nvSpPr>
          <p:cNvPr id="102" name="TextBox 3"/>
          <p:cNvSpPr/>
          <p:nvPr/>
        </p:nvSpPr>
        <p:spPr>
          <a:xfrm>
            <a:off x="4640400" y="159840"/>
            <a:ext cx="7626240" cy="1635480"/>
          </a:xfrm>
          <a:prstGeom prst="rect">
            <a:avLst/>
          </a:prstGeom>
          <a:noFill/>
          <a:ln w="0">
            <a:noFill/>
          </a:ln>
        </p:spPr>
        <p:style>
          <a:lnRef idx="0"/>
          <a:fillRef idx="0"/>
          <a:effectRef idx="0"/>
          <a:fontRef idx="minor"/>
        </p:style>
        <p:txBody>
          <a:bodyPr lIns="0" rIns="0" tIns="0" bIns="0" anchor="t">
            <a:spAutoFit/>
          </a:bodyPr>
          <a:p>
            <a:pPr algn="ctr" defTabSz="914400">
              <a:lnSpc>
                <a:spcPts val="12881"/>
              </a:lnSpc>
            </a:pPr>
            <a:r>
              <a:rPr b="0" lang="en-US" sz="9200" spc="-1" strike="noStrike">
                <a:solidFill>
                  <a:srgbClr val="ffffff"/>
                </a:solidFill>
                <a:latin typeface="Canva Sans Bold"/>
                <a:ea typeface="Canva Sans Bold"/>
              </a:rPr>
              <a:t>Methodology</a:t>
            </a:r>
            <a:endParaRPr b="0" lang="en-US" sz="9200" spc="-1" strike="noStrike">
              <a:solidFill>
                <a:srgbClr val="ffffff"/>
              </a:solidFill>
              <a:latin typeface="Arial"/>
            </a:endParaRPr>
          </a:p>
        </p:txBody>
      </p:sp>
      <p:sp>
        <p:nvSpPr>
          <p:cNvPr id="103" name="TextBox 4"/>
          <p:cNvSpPr/>
          <p:nvPr/>
        </p:nvSpPr>
        <p:spPr>
          <a:xfrm>
            <a:off x="8453880" y="5034960"/>
            <a:ext cx="1380240" cy="456840"/>
          </a:xfrm>
          <a:prstGeom prst="rect">
            <a:avLst/>
          </a:prstGeom>
          <a:noFill/>
          <a:ln w="0">
            <a:noFill/>
          </a:ln>
        </p:spPr>
        <p:style>
          <a:lnRef idx="0"/>
          <a:fillRef idx="0"/>
          <a:effectRef idx="0"/>
          <a:fontRef idx="minor"/>
        </p:style>
        <p:txBody>
          <a:bodyPr lIns="0" rIns="0" tIns="0" bIns="0" anchor="t">
            <a:spAutoFit/>
          </a:bodyPr>
          <a:p>
            <a:pPr algn="ctr" defTabSz="914400">
              <a:lnSpc>
                <a:spcPts val="1800"/>
              </a:lnSpc>
            </a:pPr>
            <a:r>
              <a:rPr b="0" lang="en-US" sz="1800" spc="-75" strike="noStrike">
                <a:solidFill>
                  <a:srgbClr val="ffffff"/>
                </a:solidFill>
                <a:latin typeface="Inter"/>
                <a:ea typeface="Inter"/>
              </a:rPr>
              <a:t>Methodology:</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04" name="Group 2"/>
          <p:cNvGrpSpPr/>
          <p:nvPr/>
        </p:nvGrpSpPr>
        <p:grpSpPr>
          <a:xfrm>
            <a:off x="512280" y="3740400"/>
            <a:ext cx="17263440" cy="2805840"/>
            <a:chOff x="512280" y="3740400"/>
            <a:chExt cx="17263440" cy="2805840"/>
          </a:xfrm>
        </p:grpSpPr>
        <p:sp>
          <p:nvSpPr>
            <p:cNvPr id="105" name="Freeform 3"/>
            <p:cNvSpPr/>
            <p:nvPr/>
          </p:nvSpPr>
          <p:spPr>
            <a:xfrm>
              <a:off x="512280" y="3740400"/>
              <a:ext cx="17263440" cy="2805840"/>
            </a:xfrm>
            <a:custGeom>
              <a:avLst/>
              <a:gdLst>
                <a:gd name="textAreaLeft" fmla="*/ 0 w 17263440"/>
                <a:gd name="textAreaRight" fmla="*/ 17263800 w 17263440"/>
                <a:gd name="textAreaTop" fmla="*/ 0 h 2805840"/>
                <a:gd name="textAreaBottom" fmla="*/ 2806200 h 2805840"/>
              </a:gdLst>
              <a:ahLst/>
              <a:rect l="textAreaLeft" t="textAreaTop" r="textAreaRight" b="textAreaBottom"/>
              <a:pathLst>
                <a:path w="4546827" h="739112">
                  <a:moveTo>
                    <a:pt x="22871" y="0"/>
                  </a:moveTo>
                  <a:lnTo>
                    <a:pt x="4523956" y="0"/>
                  </a:lnTo>
                  <a:cubicBezTo>
                    <a:pt x="4536587" y="0"/>
                    <a:pt x="4546827" y="10240"/>
                    <a:pt x="4546827" y="22871"/>
                  </a:cubicBezTo>
                  <a:lnTo>
                    <a:pt x="4546827" y="716241"/>
                  </a:lnTo>
                  <a:cubicBezTo>
                    <a:pt x="4546827" y="728872"/>
                    <a:pt x="4536587" y="739112"/>
                    <a:pt x="4523956" y="739112"/>
                  </a:cubicBezTo>
                  <a:lnTo>
                    <a:pt x="22871" y="739112"/>
                  </a:lnTo>
                  <a:cubicBezTo>
                    <a:pt x="10240" y="739112"/>
                    <a:pt x="0" y="728872"/>
                    <a:pt x="0" y="716241"/>
                  </a:cubicBezTo>
                  <a:lnTo>
                    <a:pt x="0" y="22871"/>
                  </a:lnTo>
                  <a:cubicBezTo>
                    <a:pt x="0" y="10240"/>
                    <a:pt x="10240" y="0"/>
                    <a:pt x="22871" y="0"/>
                  </a:cubicBezTo>
                  <a:close/>
                </a:path>
              </a:pathLst>
            </a:custGeom>
            <a:gradFill rotWithShape="0">
              <a:gsLst>
                <a:gs pos="0">
                  <a:srgbClr val="626262">
                    <a:alpha val="24000"/>
                  </a:srgbClr>
                </a:gs>
                <a:gs pos="50000">
                  <a:srgbClr val="1b1b1b"/>
                </a:gs>
                <a:gs pos="100000">
                  <a:srgbClr val="1b1b1b"/>
                </a:gs>
              </a:gsLst>
              <a:lin ang="135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6" name="TextBox 4"/>
            <p:cNvSpPr/>
            <p:nvPr/>
          </p:nvSpPr>
          <p:spPr>
            <a:xfrm>
              <a:off x="512280" y="3848760"/>
              <a:ext cx="17263440" cy="26974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107" name="TextBox 5"/>
          <p:cNvSpPr/>
          <p:nvPr/>
        </p:nvSpPr>
        <p:spPr>
          <a:xfrm>
            <a:off x="2131200" y="4560840"/>
            <a:ext cx="14592600" cy="1091160"/>
          </a:xfrm>
          <a:prstGeom prst="rect">
            <a:avLst/>
          </a:prstGeom>
          <a:noFill/>
          <a:ln w="0">
            <a:noFill/>
          </a:ln>
        </p:spPr>
        <p:style>
          <a:lnRef idx="0"/>
          <a:fillRef idx="0"/>
          <a:effectRef idx="0"/>
          <a:fontRef idx="minor"/>
        </p:style>
        <p:txBody>
          <a:bodyPr lIns="0" rIns="0" tIns="0" bIns="0" anchor="t">
            <a:spAutoFit/>
          </a:bodyPr>
          <a:p>
            <a:pPr algn="ctr" defTabSz="914400">
              <a:lnSpc>
                <a:spcPts val="8589"/>
              </a:lnSpc>
              <a:tabLst>
                <a:tab algn="l" pos="0"/>
              </a:tabLst>
            </a:pPr>
            <a:r>
              <a:rPr b="0" lang="en-US" sz="8590" spc="-361" strike="noStrike">
                <a:solidFill>
                  <a:srgbClr val="ffffff"/>
                </a:solidFill>
                <a:latin typeface="Inter Bold"/>
                <a:ea typeface="Inter Bold"/>
              </a:rPr>
              <a:t>How Be My Chef.Ai Works ?</a:t>
            </a:r>
            <a:endParaRPr b="0" lang="en-US" sz="8590" spc="-1" strike="noStrike">
              <a:solidFill>
                <a:srgbClr val="ffffff"/>
              </a:solidFill>
              <a:latin typeface="Arial"/>
            </a:endParaRPr>
          </a:p>
        </p:txBody>
      </p:sp>
      <p:grpSp>
        <p:nvGrpSpPr>
          <p:cNvPr id="108" name="Group 6"/>
          <p:cNvGrpSpPr/>
          <p:nvPr/>
        </p:nvGrpSpPr>
        <p:grpSpPr>
          <a:xfrm>
            <a:off x="512280" y="507600"/>
            <a:ext cx="8348040" cy="2806200"/>
            <a:chOff x="512280" y="507600"/>
            <a:chExt cx="8348040" cy="2806200"/>
          </a:xfrm>
        </p:grpSpPr>
        <p:sp>
          <p:nvSpPr>
            <p:cNvPr id="109" name="Freeform 7"/>
            <p:cNvSpPr/>
            <p:nvPr/>
          </p:nvSpPr>
          <p:spPr>
            <a:xfrm>
              <a:off x="512280" y="507600"/>
              <a:ext cx="8348040" cy="2805840"/>
            </a:xfrm>
            <a:custGeom>
              <a:avLst/>
              <a:gdLst>
                <a:gd name="textAreaLeft" fmla="*/ 0 w 8348040"/>
                <a:gd name="textAreaRight" fmla="*/ 8348400 w 8348040"/>
                <a:gd name="textAreaTop" fmla="*/ 0 h 2805840"/>
                <a:gd name="textAreaBottom" fmla="*/ 2806200 h 2805840"/>
              </a:gdLst>
              <a:ahLst/>
              <a:rect l="textAreaLeft" t="textAreaTop" r="textAreaRight" b="textAreaBottom"/>
              <a:pathLst>
                <a:path w="2198722" h="739112">
                  <a:moveTo>
                    <a:pt x="47296" y="0"/>
                  </a:moveTo>
                  <a:lnTo>
                    <a:pt x="2151426" y="0"/>
                  </a:lnTo>
                  <a:cubicBezTo>
                    <a:pt x="2177547" y="0"/>
                    <a:pt x="2198722" y="21175"/>
                    <a:pt x="2198722" y="47296"/>
                  </a:cubicBezTo>
                  <a:lnTo>
                    <a:pt x="2198722" y="691816"/>
                  </a:lnTo>
                  <a:cubicBezTo>
                    <a:pt x="2198722" y="704359"/>
                    <a:pt x="2193739" y="716389"/>
                    <a:pt x="2184869" y="725259"/>
                  </a:cubicBezTo>
                  <a:cubicBezTo>
                    <a:pt x="2176000" y="734129"/>
                    <a:pt x="2163970" y="739112"/>
                    <a:pt x="2151426" y="739112"/>
                  </a:cubicBezTo>
                  <a:lnTo>
                    <a:pt x="47296" y="739112"/>
                  </a:lnTo>
                  <a:cubicBezTo>
                    <a:pt x="34752" y="739112"/>
                    <a:pt x="22722" y="734129"/>
                    <a:pt x="13853" y="725259"/>
                  </a:cubicBezTo>
                  <a:cubicBezTo>
                    <a:pt x="4983" y="716389"/>
                    <a:pt x="0" y="704359"/>
                    <a:pt x="0" y="691816"/>
                  </a:cubicBezTo>
                  <a:lnTo>
                    <a:pt x="0" y="47296"/>
                  </a:lnTo>
                  <a:cubicBezTo>
                    <a:pt x="0" y="34752"/>
                    <a:pt x="4983" y="22722"/>
                    <a:pt x="13853" y="13853"/>
                  </a:cubicBezTo>
                  <a:cubicBezTo>
                    <a:pt x="22722" y="4983"/>
                    <a:pt x="34752" y="0"/>
                    <a:pt x="47296"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0" name="TextBox 8"/>
            <p:cNvSpPr/>
            <p:nvPr/>
          </p:nvSpPr>
          <p:spPr>
            <a:xfrm>
              <a:off x="512280" y="616320"/>
              <a:ext cx="8348040" cy="26974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111" name="TextBox 9"/>
          <p:cNvSpPr/>
          <p:nvPr/>
        </p:nvSpPr>
        <p:spPr>
          <a:xfrm>
            <a:off x="1028880" y="1503720"/>
            <a:ext cx="6621840" cy="914760"/>
          </a:xfrm>
          <a:prstGeom prst="rect">
            <a:avLst/>
          </a:prstGeom>
          <a:noFill/>
          <a:ln w="0">
            <a:noFill/>
          </a:ln>
        </p:spPr>
        <p:style>
          <a:lnRef idx="0"/>
          <a:fillRef idx="0"/>
          <a:effectRef idx="0"/>
          <a:fontRef idx="minor"/>
        </p:style>
        <p:txBody>
          <a:bodyPr lIns="0" rIns="0" tIns="0" bIns="0" anchor="t">
            <a:spAutoFit/>
          </a:bodyPr>
          <a:p>
            <a:pPr algn="ctr" defTabSz="914400">
              <a:lnSpc>
                <a:spcPts val="3600"/>
              </a:lnSpc>
              <a:tabLst>
                <a:tab algn="l" pos="0"/>
              </a:tabLst>
            </a:pPr>
            <a:r>
              <a:rPr b="0" lang="en-US" sz="3600" spc="-1" strike="noStrike">
                <a:solidFill>
                  <a:srgbClr val="3bee96"/>
                </a:solidFill>
                <a:latin typeface="Inter Bold"/>
                <a:ea typeface="Inter Bold"/>
              </a:rPr>
              <a:t>Input dietary preferences (e.g., vegan, gluten-free).</a:t>
            </a:r>
            <a:endParaRPr b="0" lang="en-US" sz="3600" spc="-1" strike="noStrike">
              <a:solidFill>
                <a:srgbClr val="ffffff"/>
              </a:solidFill>
              <a:latin typeface="Arial"/>
            </a:endParaRPr>
          </a:p>
        </p:txBody>
      </p:sp>
      <p:grpSp>
        <p:nvGrpSpPr>
          <p:cNvPr id="112" name="Group 10"/>
          <p:cNvGrpSpPr/>
          <p:nvPr/>
        </p:nvGrpSpPr>
        <p:grpSpPr>
          <a:xfrm>
            <a:off x="9427680" y="507600"/>
            <a:ext cx="8348040" cy="2806200"/>
            <a:chOff x="9427680" y="507600"/>
            <a:chExt cx="8348040" cy="2806200"/>
          </a:xfrm>
        </p:grpSpPr>
        <p:sp>
          <p:nvSpPr>
            <p:cNvPr id="113" name="Freeform 11"/>
            <p:cNvSpPr/>
            <p:nvPr/>
          </p:nvSpPr>
          <p:spPr>
            <a:xfrm>
              <a:off x="9427680" y="507600"/>
              <a:ext cx="8348040" cy="2805840"/>
            </a:xfrm>
            <a:custGeom>
              <a:avLst/>
              <a:gdLst>
                <a:gd name="textAreaLeft" fmla="*/ 0 w 8348040"/>
                <a:gd name="textAreaRight" fmla="*/ 8348400 w 8348040"/>
                <a:gd name="textAreaTop" fmla="*/ 0 h 2805840"/>
                <a:gd name="textAreaBottom" fmla="*/ 2806200 h 2805840"/>
              </a:gdLst>
              <a:ahLst/>
              <a:rect l="textAreaLeft" t="textAreaTop" r="textAreaRight" b="textAreaBottom"/>
              <a:pathLst>
                <a:path w="2198722" h="739112">
                  <a:moveTo>
                    <a:pt x="47296" y="0"/>
                  </a:moveTo>
                  <a:lnTo>
                    <a:pt x="2151426" y="0"/>
                  </a:lnTo>
                  <a:cubicBezTo>
                    <a:pt x="2177547" y="0"/>
                    <a:pt x="2198722" y="21175"/>
                    <a:pt x="2198722" y="47296"/>
                  </a:cubicBezTo>
                  <a:lnTo>
                    <a:pt x="2198722" y="691816"/>
                  </a:lnTo>
                  <a:cubicBezTo>
                    <a:pt x="2198722" y="704359"/>
                    <a:pt x="2193739" y="716389"/>
                    <a:pt x="2184869" y="725259"/>
                  </a:cubicBezTo>
                  <a:cubicBezTo>
                    <a:pt x="2176000" y="734129"/>
                    <a:pt x="2163970" y="739112"/>
                    <a:pt x="2151426" y="739112"/>
                  </a:cubicBezTo>
                  <a:lnTo>
                    <a:pt x="47296" y="739112"/>
                  </a:lnTo>
                  <a:cubicBezTo>
                    <a:pt x="34752" y="739112"/>
                    <a:pt x="22722" y="734129"/>
                    <a:pt x="13853" y="725259"/>
                  </a:cubicBezTo>
                  <a:cubicBezTo>
                    <a:pt x="4983" y="716389"/>
                    <a:pt x="0" y="704359"/>
                    <a:pt x="0" y="691816"/>
                  </a:cubicBezTo>
                  <a:lnTo>
                    <a:pt x="0" y="47296"/>
                  </a:lnTo>
                  <a:cubicBezTo>
                    <a:pt x="0" y="34752"/>
                    <a:pt x="4983" y="22722"/>
                    <a:pt x="13853" y="13853"/>
                  </a:cubicBezTo>
                  <a:cubicBezTo>
                    <a:pt x="22722" y="4983"/>
                    <a:pt x="34752" y="0"/>
                    <a:pt x="47296"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TextBox 12"/>
            <p:cNvSpPr/>
            <p:nvPr/>
          </p:nvSpPr>
          <p:spPr>
            <a:xfrm>
              <a:off x="9427680" y="616320"/>
              <a:ext cx="8348040" cy="26974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grpSp>
        <p:nvGrpSpPr>
          <p:cNvPr id="115" name="Group 13"/>
          <p:cNvGrpSpPr/>
          <p:nvPr/>
        </p:nvGrpSpPr>
        <p:grpSpPr>
          <a:xfrm>
            <a:off x="512280" y="6975360"/>
            <a:ext cx="8348040" cy="2805840"/>
            <a:chOff x="512280" y="6975360"/>
            <a:chExt cx="8348040" cy="2805840"/>
          </a:xfrm>
        </p:grpSpPr>
        <p:sp>
          <p:nvSpPr>
            <p:cNvPr id="116" name="Freeform 14"/>
            <p:cNvSpPr/>
            <p:nvPr/>
          </p:nvSpPr>
          <p:spPr>
            <a:xfrm>
              <a:off x="512280" y="6975360"/>
              <a:ext cx="8348040" cy="2805840"/>
            </a:xfrm>
            <a:custGeom>
              <a:avLst/>
              <a:gdLst>
                <a:gd name="textAreaLeft" fmla="*/ 0 w 8348040"/>
                <a:gd name="textAreaRight" fmla="*/ 8348400 w 8348040"/>
                <a:gd name="textAreaTop" fmla="*/ 0 h 2805840"/>
                <a:gd name="textAreaBottom" fmla="*/ 2806200 h 2805840"/>
              </a:gdLst>
              <a:ahLst/>
              <a:rect l="textAreaLeft" t="textAreaTop" r="textAreaRight" b="textAreaBottom"/>
              <a:pathLst>
                <a:path w="2198722" h="739112">
                  <a:moveTo>
                    <a:pt x="47296" y="0"/>
                  </a:moveTo>
                  <a:lnTo>
                    <a:pt x="2151426" y="0"/>
                  </a:lnTo>
                  <a:cubicBezTo>
                    <a:pt x="2177547" y="0"/>
                    <a:pt x="2198722" y="21175"/>
                    <a:pt x="2198722" y="47296"/>
                  </a:cubicBezTo>
                  <a:lnTo>
                    <a:pt x="2198722" y="691816"/>
                  </a:lnTo>
                  <a:cubicBezTo>
                    <a:pt x="2198722" y="704359"/>
                    <a:pt x="2193739" y="716389"/>
                    <a:pt x="2184869" y="725259"/>
                  </a:cubicBezTo>
                  <a:cubicBezTo>
                    <a:pt x="2176000" y="734129"/>
                    <a:pt x="2163970" y="739112"/>
                    <a:pt x="2151426" y="739112"/>
                  </a:cubicBezTo>
                  <a:lnTo>
                    <a:pt x="47296" y="739112"/>
                  </a:lnTo>
                  <a:cubicBezTo>
                    <a:pt x="34752" y="739112"/>
                    <a:pt x="22722" y="734129"/>
                    <a:pt x="13853" y="725259"/>
                  </a:cubicBezTo>
                  <a:cubicBezTo>
                    <a:pt x="4983" y="716389"/>
                    <a:pt x="0" y="704359"/>
                    <a:pt x="0" y="691816"/>
                  </a:cubicBezTo>
                  <a:lnTo>
                    <a:pt x="0" y="47296"/>
                  </a:lnTo>
                  <a:cubicBezTo>
                    <a:pt x="0" y="34752"/>
                    <a:pt x="4983" y="22722"/>
                    <a:pt x="13853" y="13853"/>
                  </a:cubicBezTo>
                  <a:cubicBezTo>
                    <a:pt x="22722" y="4983"/>
                    <a:pt x="34752" y="0"/>
                    <a:pt x="47296"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7" name="TextBox 15"/>
            <p:cNvSpPr/>
            <p:nvPr/>
          </p:nvSpPr>
          <p:spPr>
            <a:xfrm>
              <a:off x="512280" y="7083720"/>
              <a:ext cx="8348040" cy="26974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grpSp>
        <p:nvGrpSpPr>
          <p:cNvPr id="118" name="Group 16"/>
          <p:cNvGrpSpPr/>
          <p:nvPr/>
        </p:nvGrpSpPr>
        <p:grpSpPr>
          <a:xfrm>
            <a:off x="9427680" y="6792840"/>
            <a:ext cx="8348040" cy="2805840"/>
            <a:chOff x="9427680" y="6792840"/>
            <a:chExt cx="8348040" cy="2805840"/>
          </a:xfrm>
        </p:grpSpPr>
        <p:sp>
          <p:nvSpPr>
            <p:cNvPr id="119" name="Freeform 17"/>
            <p:cNvSpPr/>
            <p:nvPr/>
          </p:nvSpPr>
          <p:spPr>
            <a:xfrm>
              <a:off x="9427680" y="6792840"/>
              <a:ext cx="8348040" cy="2805840"/>
            </a:xfrm>
            <a:custGeom>
              <a:avLst/>
              <a:gdLst>
                <a:gd name="textAreaLeft" fmla="*/ 0 w 8348040"/>
                <a:gd name="textAreaRight" fmla="*/ 8348400 w 8348040"/>
                <a:gd name="textAreaTop" fmla="*/ 0 h 2805840"/>
                <a:gd name="textAreaBottom" fmla="*/ 2806200 h 2805840"/>
              </a:gdLst>
              <a:ahLst/>
              <a:rect l="textAreaLeft" t="textAreaTop" r="textAreaRight" b="textAreaBottom"/>
              <a:pathLst>
                <a:path w="2198722" h="739112">
                  <a:moveTo>
                    <a:pt x="47296" y="0"/>
                  </a:moveTo>
                  <a:lnTo>
                    <a:pt x="2151426" y="0"/>
                  </a:lnTo>
                  <a:cubicBezTo>
                    <a:pt x="2177547" y="0"/>
                    <a:pt x="2198722" y="21175"/>
                    <a:pt x="2198722" y="47296"/>
                  </a:cubicBezTo>
                  <a:lnTo>
                    <a:pt x="2198722" y="691816"/>
                  </a:lnTo>
                  <a:cubicBezTo>
                    <a:pt x="2198722" y="704359"/>
                    <a:pt x="2193739" y="716389"/>
                    <a:pt x="2184869" y="725259"/>
                  </a:cubicBezTo>
                  <a:cubicBezTo>
                    <a:pt x="2176000" y="734129"/>
                    <a:pt x="2163970" y="739112"/>
                    <a:pt x="2151426" y="739112"/>
                  </a:cubicBezTo>
                  <a:lnTo>
                    <a:pt x="47296" y="739112"/>
                  </a:lnTo>
                  <a:cubicBezTo>
                    <a:pt x="34752" y="739112"/>
                    <a:pt x="22722" y="734129"/>
                    <a:pt x="13853" y="725259"/>
                  </a:cubicBezTo>
                  <a:cubicBezTo>
                    <a:pt x="4983" y="716389"/>
                    <a:pt x="0" y="704359"/>
                    <a:pt x="0" y="691816"/>
                  </a:cubicBezTo>
                  <a:lnTo>
                    <a:pt x="0" y="47296"/>
                  </a:lnTo>
                  <a:cubicBezTo>
                    <a:pt x="0" y="34752"/>
                    <a:pt x="4983" y="22722"/>
                    <a:pt x="13853" y="13853"/>
                  </a:cubicBezTo>
                  <a:cubicBezTo>
                    <a:pt x="22722" y="4983"/>
                    <a:pt x="34752" y="0"/>
                    <a:pt x="47296"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TextBox 18"/>
            <p:cNvSpPr/>
            <p:nvPr/>
          </p:nvSpPr>
          <p:spPr>
            <a:xfrm>
              <a:off x="9427680" y="6901200"/>
              <a:ext cx="8348040" cy="26974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121" name="TextBox 19"/>
          <p:cNvSpPr/>
          <p:nvPr/>
        </p:nvSpPr>
        <p:spPr>
          <a:xfrm>
            <a:off x="9720000" y="1693800"/>
            <a:ext cx="8055720" cy="457560"/>
          </a:xfrm>
          <a:prstGeom prst="rect">
            <a:avLst/>
          </a:prstGeom>
          <a:noFill/>
          <a:ln w="0">
            <a:noFill/>
          </a:ln>
        </p:spPr>
        <p:style>
          <a:lnRef idx="0"/>
          <a:fillRef idx="0"/>
          <a:effectRef idx="0"/>
          <a:fontRef idx="minor"/>
        </p:style>
        <p:txBody>
          <a:bodyPr lIns="0" rIns="0" tIns="0" bIns="0" anchor="t">
            <a:spAutoFit/>
          </a:bodyPr>
          <a:p>
            <a:pPr algn="ctr" defTabSz="914400">
              <a:lnSpc>
                <a:spcPts val="3600"/>
              </a:lnSpc>
              <a:tabLst>
                <a:tab algn="l" pos="0"/>
              </a:tabLst>
            </a:pPr>
            <a:r>
              <a:rPr b="0" lang="en-US" sz="3600" spc="-1" strike="noStrike">
                <a:solidFill>
                  <a:srgbClr val="12bbfe"/>
                </a:solidFill>
                <a:latin typeface="Inter Bold"/>
                <a:ea typeface="Inter Bold"/>
              </a:rPr>
              <a:t>Add ingredients you currently have.</a:t>
            </a:r>
            <a:endParaRPr b="0" lang="en-US" sz="3600" spc="-1" strike="noStrike">
              <a:solidFill>
                <a:srgbClr val="ffffff"/>
              </a:solidFill>
              <a:latin typeface="Arial"/>
            </a:endParaRPr>
          </a:p>
        </p:txBody>
      </p:sp>
      <p:sp>
        <p:nvSpPr>
          <p:cNvPr id="122" name="TextBox 20"/>
          <p:cNvSpPr/>
          <p:nvPr/>
        </p:nvSpPr>
        <p:spPr>
          <a:xfrm>
            <a:off x="1028880" y="7704360"/>
            <a:ext cx="7314840" cy="457560"/>
          </a:xfrm>
          <a:prstGeom prst="rect">
            <a:avLst/>
          </a:prstGeom>
          <a:noFill/>
          <a:ln w="0">
            <a:noFill/>
          </a:ln>
        </p:spPr>
        <p:style>
          <a:lnRef idx="0"/>
          <a:fillRef idx="0"/>
          <a:effectRef idx="0"/>
          <a:fontRef idx="minor"/>
        </p:style>
        <p:txBody>
          <a:bodyPr lIns="0" rIns="0" tIns="0" bIns="0" anchor="t">
            <a:spAutoFit/>
          </a:bodyPr>
          <a:p>
            <a:pPr algn="ctr" defTabSz="914400">
              <a:lnSpc>
                <a:spcPts val="3600"/>
              </a:lnSpc>
              <a:tabLst>
                <a:tab algn="l" pos="0"/>
              </a:tabLst>
            </a:pPr>
            <a:r>
              <a:rPr b="0" lang="en-US" sz="3600" spc="-1" strike="noStrike">
                <a:solidFill>
                  <a:srgbClr val="ffe518"/>
                </a:solidFill>
                <a:latin typeface="Inter Bold"/>
                <a:ea typeface="Inter Bold"/>
              </a:rPr>
              <a:t>Exclude ingredients you dislike.</a:t>
            </a:r>
            <a:endParaRPr b="0" lang="en-US" sz="3600" spc="-1" strike="noStrike">
              <a:solidFill>
                <a:srgbClr val="ffffff"/>
              </a:solidFill>
              <a:latin typeface="Arial"/>
            </a:endParaRPr>
          </a:p>
        </p:txBody>
      </p:sp>
      <p:sp>
        <p:nvSpPr>
          <p:cNvPr id="123" name="TextBox 21"/>
          <p:cNvSpPr/>
          <p:nvPr/>
        </p:nvSpPr>
        <p:spPr>
          <a:xfrm>
            <a:off x="9944280" y="7704360"/>
            <a:ext cx="7314840" cy="914760"/>
          </a:xfrm>
          <a:prstGeom prst="rect">
            <a:avLst/>
          </a:prstGeom>
          <a:noFill/>
          <a:ln w="0">
            <a:noFill/>
          </a:ln>
        </p:spPr>
        <p:style>
          <a:lnRef idx="0"/>
          <a:fillRef idx="0"/>
          <a:effectRef idx="0"/>
          <a:fontRef idx="minor"/>
        </p:style>
        <p:txBody>
          <a:bodyPr lIns="0" rIns="0" tIns="0" bIns="0" anchor="t">
            <a:spAutoFit/>
          </a:bodyPr>
          <a:p>
            <a:pPr algn="ctr" defTabSz="914400">
              <a:lnSpc>
                <a:spcPts val="3600"/>
              </a:lnSpc>
              <a:tabLst>
                <a:tab algn="l" pos="0"/>
              </a:tabLst>
            </a:pPr>
            <a:r>
              <a:rPr b="0" lang="en-US" sz="3600" spc="-1" strike="noStrike">
                <a:solidFill>
                  <a:srgbClr val="eea6ff"/>
                </a:solidFill>
                <a:latin typeface="Inter Bold"/>
                <a:ea typeface="Inter Bold"/>
              </a:rPr>
              <a:t>Tap "Generate Recipe" for customized meal ideas.</a:t>
            </a:r>
            <a:endParaRPr b="0" lang="en-US" sz="3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24" name="Group 2"/>
          <p:cNvGrpSpPr/>
          <p:nvPr/>
        </p:nvGrpSpPr>
        <p:grpSpPr>
          <a:xfrm>
            <a:off x="533160" y="507600"/>
            <a:ext cx="17221320" cy="9271440"/>
            <a:chOff x="533160" y="507600"/>
            <a:chExt cx="17221320" cy="9271440"/>
          </a:xfrm>
        </p:grpSpPr>
        <p:sp>
          <p:nvSpPr>
            <p:cNvPr id="125" name="Freeform 3"/>
            <p:cNvSpPr/>
            <p:nvPr/>
          </p:nvSpPr>
          <p:spPr>
            <a:xfrm>
              <a:off x="533160" y="507600"/>
              <a:ext cx="17221320" cy="9271080"/>
            </a:xfrm>
            <a:custGeom>
              <a:avLst/>
              <a:gdLst>
                <a:gd name="textAreaLeft" fmla="*/ 0 w 17221320"/>
                <a:gd name="textAreaRight" fmla="*/ 17221680 w 17221320"/>
                <a:gd name="textAreaTop" fmla="*/ 0 h 9271080"/>
                <a:gd name="textAreaBottom" fmla="*/ 9271440 h 9271080"/>
              </a:gdLst>
              <a:ahLst/>
              <a:rect l="textAreaLeft" t="textAreaTop" r="textAreaRight" b="textAreaBottom"/>
              <a:pathLst>
                <a:path w="4535744" h="2441871">
                  <a:moveTo>
                    <a:pt x="22927" y="0"/>
                  </a:moveTo>
                  <a:lnTo>
                    <a:pt x="4512817" y="0"/>
                  </a:lnTo>
                  <a:cubicBezTo>
                    <a:pt x="4518898" y="0"/>
                    <a:pt x="4524729" y="2415"/>
                    <a:pt x="4529029" y="6715"/>
                  </a:cubicBezTo>
                  <a:cubicBezTo>
                    <a:pt x="4533329" y="11015"/>
                    <a:pt x="4535744" y="16846"/>
                    <a:pt x="4535744" y="22927"/>
                  </a:cubicBezTo>
                  <a:lnTo>
                    <a:pt x="4535744" y="2418945"/>
                  </a:lnTo>
                  <a:cubicBezTo>
                    <a:pt x="4535744" y="2431607"/>
                    <a:pt x="4525480" y="2441871"/>
                    <a:pt x="4512817" y="2441871"/>
                  </a:cubicBezTo>
                  <a:lnTo>
                    <a:pt x="22927" y="2441871"/>
                  </a:lnTo>
                  <a:cubicBezTo>
                    <a:pt x="10265" y="2441871"/>
                    <a:pt x="0" y="2431607"/>
                    <a:pt x="0" y="2418945"/>
                  </a:cubicBezTo>
                  <a:lnTo>
                    <a:pt x="0" y="22927"/>
                  </a:lnTo>
                  <a:cubicBezTo>
                    <a:pt x="0" y="10265"/>
                    <a:pt x="10265" y="0"/>
                    <a:pt x="22927" y="0"/>
                  </a:cubicBezTo>
                  <a:close/>
                </a:path>
              </a:pathLst>
            </a:custGeom>
            <a:gradFill rotWithShape="0">
              <a:gsLst>
                <a:gs pos="0">
                  <a:srgbClr val="626262">
                    <a:alpha val="24000"/>
                  </a:srgbClr>
                </a:gs>
                <a:gs pos="50000">
                  <a:srgbClr val="1b1b1b"/>
                </a:gs>
                <a:gs pos="100000">
                  <a:srgbClr val="1b1b1b"/>
                </a:gs>
              </a:gsLst>
              <a:lin ang="135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26" name="TextBox 4"/>
            <p:cNvSpPr/>
            <p:nvPr/>
          </p:nvSpPr>
          <p:spPr>
            <a:xfrm>
              <a:off x="533160" y="616320"/>
              <a:ext cx="17221320" cy="9162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127" name="TextBox 5"/>
          <p:cNvSpPr/>
          <p:nvPr/>
        </p:nvSpPr>
        <p:spPr>
          <a:xfrm>
            <a:off x="2318400" y="1181160"/>
            <a:ext cx="14044320" cy="1032120"/>
          </a:xfrm>
          <a:prstGeom prst="rect">
            <a:avLst/>
          </a:prstGeom>
          <a:noFill/>
          <a:ln w="0">
            <a:noFill/>
          </a:ln>
        </p:spPr>
        <p:style>
          <a:lnRef idx="0"/>
          <a:fillRef idx="0"/>
          <a:effectRef idx="0"/>
          <a:fontRef idx="minor"/>
        </p:style>
        <p:txBody>
          <a:bodyPr lIns="0" rIns="0" tIns="0" bIns="0" anchor="t">
            <a:spAutoFit/>
          </a:bodyPr>
          <a:p>
            <a:pPr algn="ctr" defTabSz="914400">
              <a:lnSpc>
                <a:spcPts val="8124"/>
              </a:lnSpc>
              <a:tabLst>
                <a:tab algn="l" pos="0"/>
              </a:tabLst>
            </a:pPr>
            <a:r>
              <a:rPr b="0" lang="en-US" sz="8119" spc="-341" strike="noStrike">
                <a:solidFill>
                  <a:srgbClr val="cb6ce6"/>
                </a:solidFill>
                <a:latin typeface="Inter Bold"/>
                <a:ea typeface="Inter Bold"/>
              </a:rPr>
              <a:t>Key Features and Benefits</a:t>
            </a:r>
            <a:endParaRPr b="0" lang="en-US" sz="8119" spc="-1" strike="noStrike">
              <a:solidFill>
                <a:srgbClr val="ffffff"/>
              </a:solidFill>
              <a:latin typeface="Arial"/>
            </a:endParaRPr>
          </a:p>
        </p:txBody>
      </p:sp>
      <p:sp>
        <p:nvSpPr>
          <p:cNvPr id="128" name="TextBox 6"/>
          <p:cNvSpPr/>
          <p:nvPr/>
        </p:nvSpPr>
        <p:spPr>
          <a:xfrm>
            <a:off x="1615680" y="3035520"/>
            <a:ext cx="15055920" cy="7036920"/>
          </a:xfrm>
          <a:prstGeom prst="rect">
            <a:avLst/>
          </a:prstGeom>
          <a:noFill/>
          <a:ln w="0">
            <a:noFill/>
          </a:ln>
        </p:spPr>
        <p:style>
          <a:lnRef idx="0"/>
          <a:fillRef idx="0"/>
          <a:effectRef idx="0"/>
          <a:fontRef idx="minor"/>
        </p:style>
        <p:txBody>
          <a:bodyPr lIns="0" rIns="0" tIns="0" bIns="0" anchor="t">
            <a:spAutoFit/>
          </a:bodyPr>
          <a:p>
            <a:pPr defTabSz="914400">
              <a:lnSpc>
                <a:spcPts val="3078"/>
              </a:lnSpc>
            </a:pPr>
            <a:r>
              <a:rPr b="0" lang="en-US" sz="2500" spc="-1" strike="noStrike">
                <a:solidFill>
                  <a:srgbClr val="12bbfe"/>
                </a:solidFill>
                <a:latin typeface="Inter Bold"/>
                <a:ea typeface="Inter Bold"/>
              </a:rPr>
              <a:t>Personalized Recipe Recommendations:</a:t>
            </a:r>
            <a:endParaRPr b="0" lang="en-US" sz="2500" spc="-1" strike="noStrike">
              <a:solidFill>
                <a:srgbClr val="ffffff"/>
              </a:solidFill>
              <a:latin typeface="Arial"/>
            </a:endParaRPr>
          </a:p>
          <a:p>
            <a:pPr defTabSz="914400">
              <a:lnSpc>
                <a:spcPts val="3078"/>
              </a:lnSpc>
            </a:pPr>
            <a:endParaRPr b="0" lang="en-US" sz="1800" spc="-1" strike="noStrike">
              <a:solidFill>
                <a:srgbClr val="ffffff"/>
              </a:solidFill>
              <a:latin typeface="Arial"/>
            </a:endParaRPr>
          </a:p>
          <a:p>
            <a:pPr lvl="1" marL="540360" indent="-270360" defTabSz="914400">
              <a:lnSpc>
                <a:spcPts val="3078"/>
              </a:lnSpc>
              <a:buClr>
                <a:srgbClr val="ffffff"/>
              </a:buClr>
              <a:buFont typeface="Arial"/>
              <a:buChar char="•"/>
            </a:pPr>
            <a:r>
              <a:rPr b="0" lang="en-US" sz="2500" spc="-1" strike="noStrike">
                <a:solidFill>
                  <a:srgbClr val="ffffff"/>
                </a:solidFill>
                <a:latin typeface="Inter"/>
                <a:ea typeface="Inter"/>
              </a:rPr>
              <a:t>In order to provide customized recipe recommendations, AI food recipe generators can examine user preferences, dietary requirements, and item availability. These generators can provide recipes that are customized to each user’s requirements by learning about their dietary restrictions and taste preferences. This results in a meal that is specifically catered to.</a:t>
            </a:r>
            <a:endParaRPr b="0" lang="en-US" sz="2500" spc="-1" strike="noStrike">
              <a:solidFill>
                <a:srgbClr val="ffffff"/>
              </a:solidFill>
              <a:latin typeface="Arial"/>
            </a:endParaRPr>
          </a:p>
          <a:p>
            <a:pPr defTabSz="914400">
              <a:lnSpc>
                <a:spcPts val="3078"/>
              </a:lnSpc>
            </a:pPr>
            <a:endParaRPr b="0" lang="en-US" sz="1800" spc="-1" strike="noStrike">
              <a:solidFill>
                <a:srgbClr val="ffffff"/>
              </a:solidFill>
              <a:latin typeface="Arial"/>
            </a:endParaRPr>
          </a:p>
          <a:p>
            <a:pPr defTabSz="914400">
              <a:lnSpc>
                <a:spcPts val="3078"/>
              </a:lnSpc>
            </a:pPr>
            <a:r>
              <a:rPr b="0" lang="en-US" sz="2500" spc="-1" strike="noStrike">
                <a:solidFill>
                  <a:srgbClr val="12bbfe"/>
                </a:solidFill>
                <a:latin typeface="Inter Bold"/>
                <a:ea typeface="Inter Bold"/>
              </a:rPr>
              <a:t>Variety and Creativity:</a:t>
            </a:r>
            <a:endParaRPr b="0" lang="en-US" sz="2500" spc="-1" strike="noStrike">
              <a:solidFill>
                <a:srgbClr val="ffffff"/>
              </a:solidFill>
              <a:latin typeface="Arial"/>
            </a:endParaRPr>
          </a:p>
          <a:p>
            <a:pPr defTabSz="914400">
              <a:lnSpc>
                <a:spcPts val="3078"/>
              </a:lnSpc>
            </a:pPr>
            <a:endParaRPr b="0" lang="en-US" sz="1800" spc="-1" strike="noStrike">
              <a:solidFill>
                <a:srgbClr val="ffffff"/>
              </a:solidFill>
              <a:latin typeface="Arial"/>
            </a:endParaRPr>
          </a:p>
          <a:p>
            <a:pPr lvl="1" marL="540360" indent="-270360" defTabSz="914400">
              <a:lnSpc>
                <a:spcPts val="3078"/>
              </a:lnSpc>
              <a:buClr>
                <a:srgbClr val="ffffff"/>
              </a:buClr>
              <a:buFont typeface="Arial"/>
              <a:buChar char="•"/>
            </a:pPr>
            <a:r>
              <a:rPr b="0" lang="en-US" sz="2500" spc="-1" strike="noStrike">
                <a:solidFill>
                  <a:srgbClr val="ffffff"/>
                </a:solidFill>
                <a:latin typeface="Inter"/>
                <a:ea typeface="Inter"/>
              </a:rPr>
              <a:t>The ability to introduce consumers to a wide range of recipes and culinary styles they may not have previously explored is one of the main advantages of AI food recipe generators. These recipe generators may produce recipes with unusual flavor combinations and cooking methods from a variety of cuisines. Users can broaden their culinary horizons and discover new and intriguing recipes thanks to this diversity, which promotes culinary experimentation and creativity.</a:t>
            </a:r>
            <a:endParaRPr b="0" lang="en-US" sz="2500" spc="-1" strike="noStrike">
              <a:solidFill>
                <a:srgbClr val="ffffff"/>
              </a:solidFill>
              <a:latin typeface="Arial"/>
            </a:endParaRPr>
          </a:p>
          <a:p>
            <a:pPr defTabSz="914400">
              <a:lnSpc>
                <a:spcPts val="3078"/>
              </a:lnSpc>
            </a:pPr>
            <a:endParaRPr b="0" lang="en-US" sz="1800" spc="-1" strike="noStrike">
              <a:solidFill>
                <a:srgbClr val="ffffff"/>
              </a:solidFill>
              <a:latin typeface="Arial"/>
            </a:endParaRPr>
          </a:p>
          <a:p>
            <a:pPr defTabSz="914400">
              <a:lnSpc>
                <a:spcPts val="3078"/>
              </a:lnSpc>
            </a:pPr>
            <a:endParaRPr b="0" lang="en-US" sz="1800" spc="-1" strike="noStrike">
              <a:solidFill>
                <a:srgbClr val="ffffff"/>
              </a:solidFill>
              <a:latin typeface="Arial"/>
            </a:endParaRPr>
          </a:p>
          <a:p>
            <a:pPr defTabSz="914400">
              <a:lnSpc>
                <a:spcPts val="3078"/>
              </a:lnSpc>
              <a:tabLst>
                <a:tab algn="l" pos="0"/>
              </a:tabLst>
            </a:pPr>
            <a:endParaRPr b="0" lang="en-US" sz="1800" spc="-1" strike="noStrike">
              <a:solidFill>
                <a:srgbClr val="ffffff"/>
              </a:solidFill>
              <a:latin typeface="Arial"/>
            </a:endParaRPr>
          </a:p>
        </p:txBody>
      </p:sp>
    </p:spTree>
  </p:cSld>
  <p:transition spd="slow">
    <p:fade/>
  </p:transition>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29" name="Group 2"/>
          <p:cNvGrpSpPr/>
          <p:nvPr/>
        </p:nvGrpSpPr>
        <p:grpSpPr>
          <a:xfrm>
            <a:off x="533160" y="675000"/>
            <a:ext cx="17221320" cy="9271440"/>
            <a:chOff x="533160" y="675000"/>
            <a:chExt cx="17221320" cy="9271440"/>
          </a:xfrm>
        </p:grpSpPr>
        <p:sp>
          <p:nvSpPr>
            <p:cNvPr id="130" name="Freeform 3"/>
            <p:cNvSpPr/>
            <p:nvPr/>
          </p:nvSpPr>
          <p:spPr>
            <a:xfrm>
              <a:off x="533160" y="675000"/>
              <a:ext cx="17221320" cy="9271080"/>
            </a:xfrm>
            <a:custGeom>
              <a:avLst/>
              <a:gdLst>
                <a:gd name="textAreaLeft" fmla="*/ 0 w 17221320"/>
                <a:gd name="textAreaRight" fmla="*/ 17221680 w 17221320"/>
                <a:gd name="textAreaTop" fmla="*/ 0 h 9271080"/>
                <a:gd name="textAreaBottom" fmla="*/ 9271440 h 9271080"/>
              </a:gdLst>
              <a:ahLst/>
              <a:rect l="textAreaLeft" t="textAreaTop" r="textAreaRight" b="textAreaBottom"/>
              <a:pathLst>
                <a:path w="4535744" h="2441871">
                  <a:moveTo>
                    <a:pt x="22927" y="0"/>
                  </a:moveTo>
                  <a:lnTo>
                    <a:pt x="4512817" y="0"/>
                  </a:lnTo>
                  <a:cubicBezTo>
                    <a:pt x="4518898" y="0"/>
                    <a:pt x="4524729" y="2415"/>
                    <a:pt x="4529029" y="6715"/>
                  </a:cubicBezTo>
                  <a:cubicBezTo>
                    <a:pt x="4533329" y="11015"/>
                    <a:pt x="4535744" y="16846"/>
                    <a:pt x="4535744" y="22927"/>
                  </a:cubicBezTo>
                  <a:lnTo>
                    <a:pt x="4535744" y="2418945"/>
                  </a:lnTo>
                  <a:cubicBezTo>
                    <a:pt x="4535744" y="2431607"/>
                    <a:pt x="4525480" y="2441871"/>
                    <a:pt x="4512817" y="2441871"/>
                  </a:cubicBezTo>
                  <a:lnTo>
                    <a:pt x="22927" y="2441871"/>
                  </a:lnTo>
                  <a:cubicBezTo>
                    <a:pt x="10265" y="2441871"/>
                    <a:pt x="0" y="2431607"/>
                    <a:pt x="0" y="2418945"/>
                  </a:cubicBezTo>
                  <a:lnTo>
                    <a:pt x="0" y="22927"/>
                  </a:lnTo>
                  <a:cubicBezTo>
                    <a:pt x="0" y="10265"/>
                    <a:pt x="10265" y="0"/>
                    <a:pt x="22927" y="0"/>
                  </a:cubicBezTo>
                  <a:close/>
                </a:path>
              </a:pathLst>
            </a:custGeom>
            <a:gradFill rotWithShape="0">
              <a:gsLst>
                <a:gs pos="0">
                  <a:srgbClr val="626262">
                    <a:alpha val="24000"/>
                  </a:srgbClr>
                </a:gs>
                <a:gs pos="50000">
                  <a:srgbClr val="1b1b1b"/>
                </a:gs>
                <a:gs pos="100000">
                  <a:srgbClr val="1b1b1b"/>
                </a:gs>
              </a:gsLst>
              <a:lin ang="135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1" name="TextBox 4"/>
            <p:cNvSpPr/>
            <p:nvPr/>
          </p:nvSpPr>
          <p:spPr>
            <a:xfrm>
              <a:off x="533160" y="783720"/>
              <a:ext cx="17221320" cy="9162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132" name="TextBox 5"/>
          <p:cNvSpPr/>
          <p:nvPr/>
        </p:nvSpPr>
        <p:spPr>
          <a:xfrm>
            <a:off x="2318400" y="1181160"/>
            <a:ext cx="14044320" cy="1032120"/>
          </a:xfrm>
          <a:prstGeom prst="rect">
            <a:avLst/>
          </a:prstGeom>
          <a:noFill/>
          <a:ln w="0">
            <a:noFill/>
          </a:ln>
        </p:spPr>
        <p:style>
          <a:lnRef idx="0"/>
          <a:fillRef idx="0"/>
          <a:effectRef idx="0"/>
          <a:fontRef idx="minor"/>
        </p:style>
        <p:txBody>
          <a:bodyPr lIns="0" rIns="0" tIns="0" bIns="0" anchor="t">
            <a:spAutoFit/>
          </a:bodyPr>
          <a:p>
            <a:pPr algn="ctr" defTabSz="914400">
              <a:lnSpc>
                <a:spcPts val="8124"/>
              </a:lnSpc>
              <a:tabLst>
                <a:tab algn="l" pos="0"/>
              </a:tabLst>
            </a:pPr>
            <a:r>
              <a:rPr b="0" lang="en-US" sz="8119" spc="-341" strike="noStrike">
                <a:solidFill>
                  <a:srgbClr val="cb6ce6"/>
                </a:solidFill>
                <a:latin typeface="Inter Bold"/>
                <a:ea typeface="Inter Bold"/>
              </a:rPr>
              <a:t>Key Features and Benefits</a:t>
            </a:r>
            <a:endParaRPr b="0" lang="en-US" sz="8119" spc="-1" strike="noStrike">
              <a:solidFill>
                <a:srgbClr val="ffffff"/>
              </a:solidFill>
              <a:latin typeface="Arial"/>
            </a:endParaRPr>
          </a:p>
        </p:txBody>
      </p:sp>
      <p:sp>
        <p:nvSpPr>
          <p:cNvPr id="133" name="TextBox 6"/>
          <p:cNvSpPr/>
          <p:nvPr/>
        </p:nvSpPr>
        <p:spPr>
          <a:xfrm>
            <a:off x="1870920" y="2585880"/>
            <a:ext cx="15387840" cy="6994800"/>
          </a:xfrm>
          <a:prstGeom prst="rect">
            <a:avLst/>
          </a:prstGeom>
          <a:noFill/>
          <a:ln w="0">
            <a:noFill/>
          </a:ln>
        </p:spPr>
        <p:style>
          <a:lnRef idx="0"/>
          <a:fillRef idx="0"/>
          <a:effectRef idx="0"/>
          <a:fontRef idx="minor"/>
        </p:style>
        <p:txBody>
          <a:bodyPr lIns="0" rIns="0" tIns="0" bIns="0" anchor="t">
            <a:spAutoFit/>
          </a:bodyPr>
          <a:p>
            <a:pPr defTabSz="914400">
              <a:lnSpc>
                <a:spcPts val="3240"/>
              </a:lnSpc>
            </a:pPr>
            <a:endParaRPr b="0" lang="en-US" sz="1800" spc="-1" strike="noStrike">
              <a:solidFill>
                <a:srgbClr val="ffffff"/>
              </a:solidFill>
              <a:latin typeface="Arial"/>
            </a:endParaRPr>
          </a:p>
          <a:p>
            <a:pPr defTabSz="914400">
              <a:lnSpc>
                <a:spcPts val="3240"/>
              </a:lnSpc>
            </a:pPr>
            <a:r>
              <a:rPr b="0" lang="en-US" sz="2640" spc="-1" strike="noStrike">
                <a:solidFill>
                  <a:srgbClr val="12bbfe"/>
                </a:solidFill>
                <a:latin typeface="Inter Bold"/>
                <a:ea typeface="Inter Bold"/>
              </a:rPr>
              <a:t>Efficiency and Time Savings:</a:t>
            </a:r>
            <a:endParaRPr b="0" lang="en-US" sz="2640" spc="-1" strike="noStrike">
              <a:solidFill>
                <a:srgbClr val="ffffff"/>
              </a:solidFill>
              <a:latin typeface="Arial"/>
            </a:endParaRPr>
          </a:p>
          <a:p>
            <a:pPr defTabSz="914400">
              <a:lnSpc>
                <a:spcPts val="3240"/>
              </a:lnSpc>
            </a:pPr>
            <a:endParaRPr b="0" lang="en-US" sz="1800" spc="-1" strike="noStrike">
              <a:solidFill>
                <a:srgbClr val="ffffff"/>
              </a:solidFill>
              <a:latin typeface="Arial"/>
            </a:endParaRPr>
          </a:p>
          <a:p>
            <a:pPr lvl="1" marL="569160" indent="-284400" defTabSz="914400">
              <a:lnSpc>
                <a:spcPts val="3240"/>
              </a:lnSpc>
              <a:buClr>
                <a:srgbClr val="ffffff"/>
              </a:buClr>
              <a:buFont typeface="Arial"/>
              <a:buChar char="•"/>
            </a:pPr>
            <a:r>
              <a:rPr b="0" lang="en-US" sz="2640" spc="-1" strike="noStrike">
                <a:solidFill>
                  <a:srgbClr val="ffffff"/>
                </a:solidFill>
                <a:latin typeface="Inter"/>
                <a:ea typeface="Inter"/>
              </a:rPr>
              <a:t>AI-powered food recipe generators make meal planning easier by giving consumers rapid access to a sizable recipe database. Users don’t need to spend hours looking for food ideas; they can quickly get a list of appropriate dishes by entering their preferences and dietary restrictions into the generator. Because of its efficiency, meal planning and preparation are easier and more convenient for users, saving them a great deal of time and effort.</a:t>
            </a:r>
            <a:endParaRPr b="0" lang="en-US" sz="2640" spc="-1" strike="noStrike">
              <a:solidFill>
                <a:srgbClr val="ffffff"/>
              </a:solidFill>
              <a:latin typeface="Arial"/>
            </a:endParaRPr>
          </a:p>
          <a:p>
            <a:pPr defTabSz="914400">
              <a:lnSpc>
                <a:spcPts val="3240"/>
              </a:lnSpc>
            </a:pPr>
            <a:endParaRPr b="0" lang="en-US" sz="1800" spc="-1" strike="noStrike">
              <a:solidFill>
                <a:srgbClr val="ffffff"/>
              </a:solidFill>
              <a:latin typeface="Arial"/>
            </a:endParaRPr>
          </a:p>
          <a:p>
            <a:pPr defTabSz="914400">
              <a:lnSpc>
                <a:spcPts val="3240"/>
              </a:lnSpc>
            </a:pPr>
            <a:r>
              <a:rPr b="0" lang="en-US" sz="2640" spc="-1" strike="noStrike">
                <a:solidFill>
                  <a:srgbClr val="12bbfe"/>
                </a:solidFill>
                <a:latin typeface="Inter Bold"/>
                <a:ea typeface="Inter Bold"/>
              </a:rPr>
              <a:t>Health and Nutrition:</a:t>
            </a:r>
            <a:endParaRPr b="0" lang="en-US" sz="2640" spc="-1" strike="noStrike">
              <a:solidFill>
                <a:srgbClr val="ffffff"/>
              </a:solidFill>
              <a:latin typeface="Arial"/>
            </a:endParaRPr>
          </a:p>
          <a:p>
            <a:pPr defTabSz="914400">
              <a:lnSpc>
                <a:spcPts val="3240"/>
              </a:lnSpc>
            </a:pPr>
            <a:endParaRPr b="0" lang="en-US" sz="1800" spc="-1" strike="noStrike">
              <a:solidFill>
                <a:srgbClr val="ffffff"/>
              </a:solidFill>
              <a:latin typeface="Arial"/>
            </a:endParaRPr>
          </a:p>
          <a:p>
            <a:pPr lvl="1" marL="569160" indent="-284400" defTabSz="914400">
              <a:lnSpc>
                <a:spcPts val="3240"/>
              </a:lnSpc>
              <a:buClr>
                <a:srgbClr val="ffffff"/>
              </a:buClr>
              <a:buFont typeface="Arial"/>
              <a:buChar char="•"/>
            </a:pPr>
            <a:r>
              <a:rPr b="0" lang="en-US" sz="2640" spc="-1" strike="noStrike">
                <a:solidFill>
                  <a:srgbClr val="ffffff"/>
                </a:solidFill>
                <a:latin typeface="Inter"/>
                <a:ea typeface="Inter"/>
              </a:rPr>
              <a:t>A lot of AI food recipe generators have nutrition and health-focused features that let users filter meals according to dietary preferences like low-carb, vegetarian, or gluten-free. By giving users access to recipes that suit their preferences and health objectives, these generators can assist users in making better informed decisions regarding their diet and nutrition.</a:t>
            </a:r>
            <a:endParaRPr b="0" lang="en-US" sz="2640" spc="-1" strike="noStrike">
              <a:solidFill>
                <a:srgbClr val="ffffff"/>
              </a:solidFill>
              <a:latin typeface="Arial"/>
            </a:endParaRPr>
          </a:p>
          <a:p>
            <a:pPr defTabSz="914400">
              <a:lnSpc>
                <a:spcPts val="3240"/>
              </a:lnSpc>
              <a:tabLst>
                <a:tab algn="l" pos="0"/>
              </a:tabLst>
            </a:pPr>
            <a:endParaRPr b="0" lang="en-US" sz="1800" spc="-1" strike="noStrike">
              <a:solidFill>
                <a:srgbClr val="ffffff"/>
              </a:solidFill>
              <a:latin typeface="Arial"/>
            </a:endParaRPr>
          </a:p>
        </p:txBody>
      </p:sp>
    </p:spTree>
  </p:cSld>
  <p:transition spd="slow">
    <p:fade/>
  </p:transition>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34" name="Group 2"/>
          <p:cNvGrpSpPr/>
          <p:nvPr/>
        </p:nvGrpSpPr>
        <p:grpSpPr>
          <a:xfrm>
            <a:off x="533160" y="675000"/>
            <a:ext cx="17221320" cy="9271440"/>
            <a:chOff x="533160" y="675000"/>
            <a:chExt cx="17221320" cy="9271440"/>
          </a:xfrm>
        </p:grpSpPr>
        <p:sp>
          <p:nvSpPr>
            <p:cNvPr id="135" name="Freeform 3"/>
            <p:cNvSpPr/>
            <p:nvPr/>
          </p:nvSpPr>
          <p:spPr>
            <a:xfrm>
              <a:off x="533160" y="675000"/>
              <a:ext cx="17221320" cy="9271080"/>
            </a:xfrm>
            <a:custGeom>
              <a:avLst/>
              <a:gdLst>
                <a:gd name="textAreaLeft" fmla="*/ 0 w 17221320"/>
                <a:gd name="textAreaRight" fmla="*/ 17221680 w 17221320"/>
                <a:gd name="textAreaTop" fmla="*/ 0 h 9271080"/>
                <a:gd name="textAreaBottom" fmla="*/ 9271440 h 9271080"/>
              </a:gdLst>
              <a:ahLst/>
              <a:rect l="textAreaLeft" t="textAreaTop" r="textAreaRight" b="textAreaBottom"/>
              <a:pathLst>
                <a:path w="4535744" h="2441871">
                  <a:moveTo>
                    <a:pt x="22927" y="0"/>
                  </a:moveTo>
                  <a:lnTo>
                    <a:pt x="4512817" y="0"/>
                  </a:lnTo>
                  <a:cubicBezTo>
                    <a:pt x="4518898" y="0"/>
                    <a:pt x="4524729" y="2415"/>
                    <a:pt x="4529029" y="6715"/>
                  </a:cubicBezTo>
                  <a:cubicBezTo>
                    <a:pt x="4533329" y="11015"/>
                    <a:pt x="4535744" y="16846"/>
                    <a:pt x="4535744" y="22927"/>
                  </a:cubicBezTo>
                  <a:lnTo>
                    <a:pt x="4535744" y="2418945"/>
                  </a:lnTo>
                  <a:cubicBezTo>
                    <a:pt x="4535744" y="2431607"/>
                    <a:pt x="4525480" y="2441871"/>
                    <a:pt x="4512817" y="2441871"/>
                  </a:cubicBezTo>
                  <a:lnTo>
                    <a:pt x="22927" y="2441871"/>
                  </a:lnTo>
                  <a:cubicBezTo>
                    <a:pt x="10265" y="2441871"/>
                    <a:pt x="0" y="2431607"/>
                    <a:pt x="0" y="2418945"/>
                  </a:cubicBezTo>
                  <a:lnTo>
                    <a:pt x="0" y="22927"/>
                  </a:lnTo>
                  <a:cubicBezTo>
                    <a:pt x="0" y="10265"/>
                    <a:pt x="10265" y="0"/>
                    <a:pt x="22927" y="0"/>
                  </a:cubicBezTo>
                  <a:close/>
                </a:path>
              </a:pathLst>
            </a:custGeom>
            <a:gradFill rotWithShape="0">
              <a:gsLst>
                <a:gs pos="0">
                  <a:srgbClr val="626262">
                    <a:alpha val="24000"/>
                  </a:srgbClr>
                </a:gs>
                <a:gs pos="50000">
                  <a:srgbClr val="1b1b1b"/>
                </a:gs>
                <a:gs pos="100000">
                  <a:srgbClr val="1b1b1b"/>
                </a:gs>
              </a:gsLst>
              <a:lin ang="135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36" name="TextBox 4"/>
            <p:cNvSpPr/>
            <p:nvPr/>
          </p:nvSpPr>
          <p:spPr>
            <a:xfrm>
              <a:off x="533160" y="783720"/>
              <a:ext cx="17221320" cy="9162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137" name="TextBox 5"/>
          <p:cNvSpPr/>
          <p:nvPr/>
        </p:nvSpPr>
        <p:spPr>
          <a:xfrm>
            <a:off x="2318400" y="1181160"/>
            <a:ext cx="14044320" cy="1032120"/>
          </a:xfrm>
          <a:prstGeom prst="rect">
            <a:avLst/>
          </a:prstGeom>
          <a:noFill/>
          <a:ln w="0">
            <a:noFill/>
          </a:ln>
        </p:spPr>
        <p:style>
          <a:lnRef idx="0"/>
          <a:fillRef idx="0"/>
          <a:effectRef idx="0"/>
          <a:fontRef idx="minor"/>
        </p:style>
        <p:txBody>
          <a:bodyPr lIns="0" rIns="0" tIns="0" bIns="0" anchor="t">
            <a:spAutoFit/>
          </a:bodyPr>
          <a:p>
            <a:pPr algn="ctr" defTabSz="914400">
              <a:lnSpc>
                <a:spcPts val="8124"/>
              </a:lnSpc>
              <a:tabLst>
                <a:tab algn="l" pos="0"/>
              </a:tabLst>
            </a:pPr>
            <a:r>
              <a:rPr b="0" lang="en-US" sz="8119" spc="-341" strike="noStrike">
                <a:solidFill>
                  <a:srgbClr val="cb6ce6"/>
                </a:solidFill>
                <a:latin typeface="Inter Bold"/>
                <a:ea typeface="Inter Bold"/>
              </a:rPr>
              <a:t>Key Features and Benefits</a:t>
            </a:r>
            <a:endParaRPr b="0" lang="en-US" sz="8119" spc="-1" strike="noStrike">
              <a:solidFill>
                <a:srgbClr val="ffffff"/>
              </a:solidFill>
              <a:latin typeface="Arial"/>
            </a:endParaRPr>
          </a:p>
        </p:txBody>
      </p:sp>
      <p:sp>
        <p:nvSpPr>
          <p:cNvPr id="138" name="TextBox 6"/>
          <p:cNvSpPr/>
          <p:nvPr/>
        </p:nvSpPr>
        <p:spPr>
          <a:xfrm>
            <a:off x="1561320" y="2728800"/>
            <a:ext cx="15558840" cy="6537960"/>
          </a:xfrm>
          <a:prstGeom prst="rect">
            <a:avLst/>
          </a:prstGeom>
          <a:noFill/>
          <a:ln w="0">
            <a:noFill/>
          </a:ln>
        </p:spPr>
        <p:style>
          <a:lnRef idx="0"/>
          <a:fillRef idx="0"/>
          <a:effectRef idx="0"/>
          <a:fontRef idx="minor"/>
        </p:style>
        <p:txBody>
          <a:bodyPr lIns="0" rIns="0" tIns="0" bIns="0" anchor="t">
            <a:spAutoFit/>
          </a:bodyPr>
          <a:p>
            <a:pPr defTabSz="914400">
              <a:lnSpc>
                <a:spcPts val="3217"/>
              </a:lnSpc>
            </a:pPr>
            <a:endParaRPr b="0" lang="en-US" sz="1800" spc="-1" strike="noStrike">
              <a:solidFill>
                <a:srgbClr val="ffffff"/>
              </a:solidFill>
              <a:latin typeface="Arial"/>
            </a:endParaRPr>
          </a:p>
          <a:p>
            <a:pPr defTabSz="914400">
              <a:lnSpc>
                <a:spcPts val="3217"/>
              </a:lnSpc>
            </a:pPr>
            <a:r>
              <a:rPr b="0" lang="en-US" sz="2620" spc="-1" strike="noStrike">
                <a:solidFill>
                  <a:srgbClr val="12bbfe"/>
                </a:solidFill>
                <a:latin typeface="Inter Bold"/>
                <a:ea typeface="Inter Bold"/>
              </a:rPr>
              <a:t>Reduced Food Waste:</a:t>
            </a:r>
            <a:endParaRPr b="0" lang="en-US" sz="2620" spc="-1" strike="noStrike">
              <a:solidFill>
                <a:srgbClr val="ffffff"/>
              </a:solidFill>
              <a:latin typeface="Arial"/>
            </a:endParaRPr>
          </a:p>
          <a:p>
            <a:pPr defTabSz="914400">
              <a:lnSpc>
                <a:spcPts val="3217"/>
              </a:lnSpc>
            </a:pPr>
            <a:endParaRPr b="0" lang="en-US" sz="1800" spc="-1" strike="noStrike">
              <a:solidFill>
                <a:srgbClr val="ffffff"/>
              </a:solidFill>
              <a:latin typeface="Arial"/>
            </a:endParaRPr>
          </a:p>
          <a:p>
            <a:pPr lvl="1" marL="564480" indent="-282240" defTabSz="914400">
              <a:lnSpc>
                <a:spcPts val="3217"/>
              </a:lnSpc>
              <a:buClr>
                <a:srgbClr val="ffffff"/>
              </a:buClr>
              <a:buFont typeface="Arial"/>
              <a:buChar char="•"/>
            </a:pPr>
            <a:r>
              <a:rPr b="0" lang="en-US" sz="2620" spc="-1" strike="noStrike">
                <a:solidFill>
                  <a:srgbClr val="ffffff"/>
                </a:solidFill>
                <a:latin typeface="Inter"/>
                <a:ea typeface="Inter"/>
              </a:rPr>
              <a:t>By offering recipes based on components that customers currently have on hand, AI food recipe generators also contribute to the reduction of food waste. Utilizing foods that could otherwise be thrown away helps consumers prepare meals more sustainably and reduce food waste.</a:t>
            </a:r>
            <a:endParaRPr b="0" lang="en-US" sz="2620" spc="-1" strike="noStrike">
              <a:solidFill>
                <a:srgbClr val="ffffff"/>
              </a:solidFill>
              <a:latin typeface="Arial"/>
            </a:endParaRPr>
          </a:p>
          <a:p>
            <a:pPr defTabSz="914400">
              <a:lnSpc>
                <a:spcPts val="3217"/>
              </a:lnSpc>
            </a:pPr>
            <a:endParaRPr b="0" lang="en-US" sz="1800" spc="-1" strike="noStrike">
              <a:solidFill>
                <a:srgbClr val="ffffff"/>
              </a:solidFill>
              <a:latin typeface="Arial"/>
            </a:endParaRPr>
          </a:p>
          <a:p>
            <a:pPr defTabSz="914400">
              <a:lnSpc>
                <a:spcPts val="3217"/>
              </a:lnSpc>
            </a:pPr>
            <a:r>
              <a:rPr b="0" lang="en-US" sz="2620" spc="-1" strike="noStrike">
                <a:solidFill>
                  <a:srgbClr val="12bbfe"/>
                </a:solidFill>
                <a:latin typeface="Inter Bold"/>
                <a:ea typeface="Inter Bold"/>
              </a:rPr>
              <a:t>Learning and Skill Development:</a:t>
            </a:r>
            <a:endParaRPr b="0" lang="en-US" sz="2620" spc="-1" strike="noStrike">
              <a:solidFill>
                <a:srgbClr val="ffffff"/>
              </a:solidFill>
              <a:latin typeface="Arial"/>
            </a:endParaRPr>
          </a:p>
          <a:p>
            <a:pPr defTabSz="914400">
              <a:lnSpc>
                <a:spcPts val="3217"/>
              </a:lnSpc>
            </a:pPr>
            <a:endParaRPr b="0" lang="en-US" sz="1800" spc="-1" strike="noStrike">
              <a:solidFill>
                <a:srgbClr val="ffffff"/>
              </a:solidFill>
              <a:latin typeface="Arial"/>
            </a:endParaRPr>
          </a:p>
          <a:p>
            <a:pPr lvl="1" marL="564480" indent="-282240" defTabSz="914400">
              <a:lnSpc>
                <a:spcPts val="3217"/>
              </a:lnSpc>
              <a:buClr>
                <a:srgbClr val="ffffff"/>
              </a:buClr>
              <a:buFont typeface="Arial"/>
              <a:buChar char="•"/>
            </a:pPr>
            <a:r>
              <a:rPr b="0" lang="en-US" sz="2620" spc="-1" strike="noStrike">
                <a:solidFill>
                  <a:srgbClr val="ffffff"/>
                </a:solidFill>
                <a:latin typeface="Inter"/>
                <a:ea typeface="Inter"/>
              </a:rPr>
              <a:t>AI-powered food recipe generators can also be useful educational resources for home cooks who want to get better at cooking. These generators frequently offer detailed instructions, culinary tricks, and methods to assist users improve their cooking skills and self-assurance in the kitchen. Additionally, through the wide variety of recipes that the AI generates, users can learn about new ingredients, cooking techniques, and flavor profiles.</a:t>
            </a:r>
            <a:endParaRPr b="0" lang="en-US" sz="2620" spc="-1" strike="noStrike">
              <a:solidFill>
                <a:srgbClr val="ffffff"/>
              </a:solidFill>
              <a:latin typeface="Arial"/>
            </a:endParaRPr>
          </a:p>
          <a:p>
            <a:pPr defTabSz="914400">
              <a:lnSpc>
                <a:spcPts val="3217"/>
              </a:lnSpc>
            </a:pPr>
            <a:endParaRPr b="0" lang="en-US" sz="1800" spc="-1" strike="noStrike">
              <a:solidFill>
                <a:srgbClr val="ffffff"/>
              </a:solidFill>
              <a:latin typeface="Arial"/>
            </a:endParaRPr>
          </a:p>
          <a:p>
            <a:pPr defTabSz="914400">
              <a:lnSpc>
                <a:spcPts val="3217"/>
              </a:lnSpc>
            </a:pPr>
            <a:endParaRPr b="0" lang="en-US" sz="1800" spc="-1" strike="noStrike">
              <a:solidFill>
                <a:srgbClr val="ffffff"/>
              </a:solidFill>
              <a:latin typeface="Arial"/>
            </a:endParaRPr>
          </a:p>
        </p:txBody>
      </p:sp>
    </p:spTree>
  </p:cSld>
  <p:transition spd="slow">
    <p:fade/>
  </p:transition>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39" name="Freeform 2"/>
          <p:cNvSpPr/>
          <p:nvPr/>
        </p:nvSpPr>
        <p:spPr>
          <a:xfrm>
            <a:off x="1563480" y="777600"/>
            <a:ext cx="15695280" cy="8793720"/>
          </a:xfrm>
          <a:custGeom>
            <a:avLst/>
            <a:gdLst>
              <a:gd name="textAreaLeft" fmla="*/ 0 w 15695280"/>
              <a:gd name="textAreaRight" fmla="*/ 15695640 w 15695280"/>
              <a:gd name="textAreaTop" fmla="*/ 0 h 8793720"/>
              <a:gd name="textAreaBottom" fmla="*/ 8794080 h 8793720"/>
            </a:gdLst>
            <a:ahLst/>
            <a:rect l="textAreaLeft" t="textAreaTop" r="textAreaRight" b="textAreaBottom"/>
            <a:pathLst>
              <a:path w="15695683" h="8793903">
                <a:moveTo>
                  <a:pt x="0" y="0"/>
                </a:moveTo>
                <a:lnTo>
                  <a:pt x="15695683" y="0"/>
                </a:lnTo>
                <a:lnTo>
                  <a:pt x="15695683" y="8793902"/>
                </a:lnTo>
                <a:lnTo>
                  <a:pt x="0" y="8793902"/>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p:transition spd="slow">
    <p:fade/>
  </p:transition>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40" name="Freeform 2"/>
          <p:cNvSpPr/>
          <p:nvPr/>
        </p:nvSpPr>
        <p:spPr>
          <a:xfrm>
            <a:off x="8008200" y="3358800"/>
            <a:ext cx="10470960" cy="6877440"/>
          </a:xfrm>
          <a:custGeom>
            <a:avLst/>
            <a:gdLst>
              <a:gd name="textAreaLeft" fmla="*/ 0 w 10470960"/>
              <a:gd name="textAreaRight" fmla="*/ 10471320 w 10470960"/>
              <a:gd name="textAreaTop" fmla="*/ 0 h 6877440"/>
              <a:gd name="textAreaBottom" fmla="*/ 6877800 h 6877440"/>
            </a:gdLst>
            <a:ahLst/>
            <a:rect l="textAreaLeft" t="textAreaTop" r="textAreaRight" b="textAreaBottom"/>
            <a:pathLst>
              <a:path w="10471229" h="6877945">
                <a:moveTo>
                  <a:pt x="0" y="0"/>
                </a:moveTo>
                <a:lnTo>
                  <a:pt x="10471229" y="0"/>
                </a:lnTo>
                <a:lnTo>
                  <a:pt x="10471229" y="6877946"/>
                </a:lnTo>
                <a:lnTo>
                  <a:pt x="0" y="6877946"/>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41" name="TextBox 3"/>
          <p:cNvSpPr/>
          <p:nvPr/>
        </p:nvSpPr>
        <p:spPr>
          <a:xfrm>
            <a:off x="2391480" y="367920"/>
            <a:ext cx="13504320" cy="1010520"/>
          </a:xfrm>
          <a:prstGeom prst="rect">
            <a:avLst/>
          </a:prstGeom>
          <a:noFill/>
          <a:ln w="0">
            <a:noFill/>
          </a:ln>
        </p:spPr>
        <p:style>
          <a:lnRef idx="0"/>
          <a:fillRef idx="0"/>
          <a:effectRef idx="0"/>
          <a:fontRef idx="minor"/>
        </p:style>
        <p:txBody>
          <a:bodyPr lIns="0" rIns="0" tIns="0" bIns="0" anchor="t">
            <a:spAutoFit/>
          </a:bodyPr>
          <a:p>
            <a:pPr algn="ctr" defTabSz="914400">
              <a:lnSpc>
                <a:spcPts val="7954"/>
              </a:lnSpc>
              <a:tabLst>
                <a:tab algn="l" pos="0"/>
              </a:tabLst>
            </a:pPr>
            <a:r>
              <a:rPr b="0" lang="en-US" sz="7950" spc="-335" strike="noStrike">
                <a:solidFill>
                  <a:srgbClr val="3bee96"/>
                </a:solidFill>
                <a:latin typeface="Inter Bold"/>
                <a:ea typeface="Inter Bold"/>
              </a:rPr>
              <a:t>Use Cases</a:t>
            </a:r>
            <a:endParaRPr b="0" lang="en-US" sz="7950" spc="-1" strike="noStrike">
              <a:solidFill>
                <a:srgbClr val="ffffff"/>
              </a:solidFill>
              <a:latin typeface="Arial"/>
            </a:endParaRPr>
          </a:p>
        </p:txBody>
      </p:sp>
      <p:sp>
        <p:nvSpPr>
          <p:cNvPr id="142" name="TextBox 4"/>
          <p:cNvSpPr/>
          <p:nvPr/>
        </p:nvSpPr>
        <p:spPr>
          <a:xfrm>
            <a:off x="1028880" y="5289480"/>
            <a:ext cx="10497960" cy="3021480"/>
          </a:xfrm>
          <a:prstGeom prst="rect">
            <a:avLst/>
          </a:prstGeom>
          <a:noFill/>
          <a:ln w="0">
            <a:noFill/>
          </a:ln>
        </p:spPr>
        <p:style>
          <a:lnRef idx="0"/>
          <a:fillRef idx="0"/>
          <a:effectRef idx="0"/>
          <a:fontRef idx="minor"/>
        </p:style>
        <p:txBody>
          <a:bodyPr lIns="0" rIns="0" tIns="0" bIns="0" anchor="t">
            <a:spAutoFit/>
          </a:bodyPr>
          <a:p>
            <a:pPr lvl="1" marL="616320" indent="-308160" defTabSz="914400">
              <a:lnSpc>
                <a:spcPts val="3966"/>
              </a:lnSpc>
              <a:buClr>
                <a:srgbClr val="ffffff"/>
              </a:buClr>
              <a:buFont typeface="Arial"/>
              <a:buChar char="•"/>
            </a:pPr>
            <a:r>
              <a:rPr b="0" lang="en-US" sz="2850" spc="-1" strike="noStrike">
                <a:solidFill>
                  <a:srgbClr val="ffffff"/>
                </a:solidFill>
                <a:latin typeface="Inter"/>
                <a:ea typeface="Inter"/>
              </a:rPr>
              <a:t>Home cooks looking for meal ideas.</a:t>
            </a:r>
            <a:endParaRPr b="0" lang="en-US" sz="2850" spc="-1" strike="noStrike">
              <a:solidFill>
                <a:srgbClr val="ffffff"/>
              </a:solidFill>
              <a:latin typeface="Arial"/>
            </a:endParaRPr>
          </a:p>
          <a:p>
            <a:pPr lvl="1" marL="616320" indent="-308160" defTabSz="914400">
              <a:lnSpc>
                <a:spcPts val="3966"/>
              </a:lnSpc>
              <a:buClr>
                <a:srgbClr val="ffffff"/>
              </a:buClr>
              <a:buFont typeface="Arial"/>
              <a:buChar char="•"/>
            </a:pPr>
            <a:r>
              <a:rPr b="0" lang="en-US" sz="2850" spc="-1" strike="noStrike">
                <a:solidFill>
                  <a:srgbClr val="ffffff"/>
                </a:solidFill>
                <a:latin typeface="Inter"/>
                <a:ea typeface="Inter"/>
              </a:rPr>
              <a:t>People with special diets.</a:t>
            </a:r>
            <a:endParaRPr b="0" lang="en-US" sz="2850" spc="-1" strike="noStrike">
              <a:solidFill>
                <a:srgbClr val="ffffff"/>
              </a:solidFill>
              <a:latin typeface="Arial"/>
            </a:endParaRPr>
          </a:p>
          <a:p>
            <a:pPr lvl="1" marL="616320" indent="-308160" defTabSz="914400">
              <a:lnSpc>
                <a:spcPts val="3966"/>
              </a:lnSpc>
              <a:buClr>
                <a:srgbClr val="ffffff"/>
              </a:buClr>
              <a:buFont typeface="Arial"/>
              <a:buChar char="•"/>
            </a:pPr>
            <a:r>
              <a:rPr b="0" lang="en-US" sz="2850" spc="-1" strike="noStrike">
                <a:solidFill>
                  <a:srgbClr val="ffffff"/>
                </a:solidFill>
                <a:latin typeface="Inter"/>
                <a:ea typeface="Inter"/>
              </a:rPr>
              <a:t>Meal planners and preppers.</a:t>
            </a:r>
            <a:endParaRPr b="0" lang="en-US" sz="2850" spc="-1" strike="noStrike">
              <a:solidFill>
                <a:srgbClr val="ffffff"/>
              </a:solidFill>
              <a:latin typeface="Arial"/>
            </a:endParaRPr>
          </a:p>
          <a:p>
            <a:pPr lvl="1" marL="616320" indent="-308160" defTabSz="914400">
              <a:lnSpc>
                <a:spcPts val="3966"/>
              </a:lnSpc>
              <a:buClr>
                <a:srgbClr val="ffffff"/>
              </a:buClr>
              <a:buFont typeface="Arial"/>
              <a:buChar char="•"/>
            </a:pPr>
            <a:r>
              <a:rPr b="0" lang="en-US" sz="2850" spc="-1" strike="noStrike">
                <a:solidFill>
                  <a:srgbClr val="ffffff"/>
                </a:solidFill>
                <a:latin typeface="Inter"/>
                <a:ea typeface="Inter"/>
              </a:rPr>
              <a:t>Managing leftovers creatively.</a:t>
            </a:r>
            <a:endParaRPr b="0" lang="en-US" sz="2850" spc="-1" strike="noStrike">
              <a:solidFill>
                <a:srgbClr val="ffffff"/>
              </a:solidFill>
              <a:latin typeface="Arial"/>
            </a:endParaRPr>
          </a:p>
          <a:p>
            <a:pPr lvl="1" marL="616320" indent="-308160" defTabSz="914400">
              <a:lnSpc>
                <a:spcPts val="3966"/>
              </a:lnSpc>
              <a:buClr>
                <a:srgbClr val="ffffff"/>
              </a:buClr>
              <a:buFont typeface="Arial"/>
              <a:buChar char="•"/>
            </a:pPr>
            <a:r>
              <a:rPr b="0" lang="en-US" sz="2850" spc="-1" strike="noStrike">
                <a:solidFill>
                  <a:srgbClr val="ffffff"/>
                </a:solidFill>
                <a:latin typeface="Inter"/>
                <a:ea typeface="Inter"/>
              </a:rPr>
              <a:t>Cooking inspiration for new cuisines.</a:t>
            </a:r>
            <a:endParaRPr b="0" lang="en-US" sz="2850" spc="-1" strike="noStrike">
              <a:solidFill>
                <a:srgbClr val="ffffff"/>
              </a:solidFill>
              <a:latin typeface="Arial"/>
            </a:endParaRPr>
          </a:p>
          <a:p>
            <a:pPr defTabSz="914400">
              <a:lnSpc>
                <a:spcPts val="3966"/>
              </a:lnSpc>
              <a:tabLst>
                <a:tab algn="l" pos="0"/>
              </a:tabLst>
            </a:pPr>
            <a:endParaRPr b="0" lang="en-US" sz="1800" spc="-1" strike="noStrike">
              <a:solidFill>
                <a:srgbClr val="ffffff"/>
              </a:solidFill>
              <a:latin typeface="Arial"/>
            </a:endParaRPr>
          </a:p>
        </p:txBody>
      </p:sp>
      <p:sp>
        <p:nvSpPr>
          <p:cNvPr id="143" name="TextBox 5"/>
          <p:cNvSpPr/>
          <p:nvPr/>
        </p:nvSpPr>
        <p:spPr>
          <a:xfrm>
            <a:off x="5216040" y="2181240"/>
            <a:ext cx="8727840" cy="924120"/>
          </a:xfrm>
          <a:prstGeom prst="rect">
            <a:avLst/>
          </a:prstGeom>
          <a:noFill/>
          <a:ln w="0">
            <a:noFill/>
          </a:ln>
        </p:spPr>
        <p:style>
          <a:lnRef idx="0"/>
          <a:fillRef idx="0"/>
          <a:effectRef idx="0"/>
          <a:fontRef idx="minor"/>
        </p:style>
        <p:txBody>
          <a:bodyPr lIns="0" rIns="0" tIns="0" bIns="0" anchor="t">
            <a:spAutoFit/>
          </a:bodyPr>
          <a:p>
            <a:pPr algn="ctr" defTabSz="914400">
              <a:lnSpc>
                <a:spcPts val="7279"/>
              </a:lnSpc>
            </a:pPr>
            <a:r>
              <a:rPr b="0" lang="en-US" sz="5200" spc="-1" strike="noStrike">
                <a:solidFill>
                  <a:srgbClr val="ffffff"/>
                </a:solidFill>
                <a:latin typeface="Canva Sans Bold"/>
                <a:ea typeface="Canva Sans Bold"/>
              </a:rPr>
              <a:t>Applications of Be My Chef</a:t>
            </a:r>
            <a:endParaRPr b="0" lang="en-US" sz="5200" spc="-1" strike="noStrike">
              <a:solidFill>
                <a:srgbClr val="ffffff"/>
              </a:solidFill>
              <a:latin typeface="Arial"/>
            </a:endParaRPr>
          </a:p>
        </p:txBody>
      </p:sp>
    </p:spTree>
  </p:cSld>
  <p:transition spd="slow">
    <p:fade/>
  </p:transition>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44" name="Group 2"/>
          <p:cNvGrpSpPr/>
          <p:nvPr/>
        </p:nvGrpSpPr>
        <p:grpSpPr>
          <a:xfrm>
            <a:off x="512280" y="3622320"/>
            <a:ext cx="8631360" cy="6156720"/>
            <a:chOff x="512280" y="3622320"/>
            <a:chExt cx="8631360" cy="6156720"/>
          </a:xfrm>
        </p:grpSpPr>
        <p:sp>
          <p:nvSpPr>
            <p:cNvPr id="145" name="Freeform 3"/>
            <p:cNvSpPr/>
            <p:nvPr/>
          </p:nvSpPr>
          <p:spPr>
            <a:xfrm>
              <a:off x="512280" y="3622320"/>
              <a:ext cx="8631360" cy="6156720"/>
            </a:xfrm>
            <a:custGeom>
              <a:avLst/>
              <a:gdLst>
                <a:gd name="textAreaLeft" fmla="*/ 0 w 8631360"/>
                <a:gd name="textAreaRight" fmla="*/ 8631720 w 8631360"/>
                <a:gd name="textAreaTop" fmla="*/ 0 h 6156720"/>
                <a:gd name="textAreaBottom" fmla="*/ 6157080 h 6156720"/>
              </a:gdLst>
              <a:ahLst/>
              <a:rect l="textAreaLeft" t="textAreaTop" r="textAreaRight" b="textAreaBottom"/>
              <a:pathLst>
                <a:path w="2273414" h="1621581">
                  <a:moveTo>
                    <a:pt x="45742" y="0"/>
                  </a:moveTo>
                  <a:lnTo>
                    <a:pt x="2227672" y="0"/>
                  </a:lnTo>
                  <a:cubicBezTo>
                    <a:pt x="2239803" y="0"/>
                    <a:pt x="2251438" y="4819"/>
                    <a:pt x="2260016" y="13397"/>
                  </a:cubicBezTo>
                  <a:cubicBezTo>
                    <a:pt x="2268594" y="21976"/>
                    <a:pt x="2273414" y="33610"/>
                    <a:pt x="2273414" y="45742"/>
                  </a:cubicBezTo>
                  <a:lnTo>
                    <a:pt x="2273414" y="1575839"/>
                  </a:lnTo>
                  <a:cubicBezTo>
                    <a:pt x="2273414" y="1587970"/>
                    <a:pt x="2268594" y="1599605"/>
                    <a:pt x="2260016" y="1608183"/>
                  </a:cubicBezTo>
                  <a:cubicBezTo>
                    <a:pt x="2251438" y="1616761"/>
                    <a:pt x="2239803" y="1621581"/>
                    <a:pt x="2227672" y="1621581"/>
                  </a:cubicBezTo>
                  <a:lnTo>
                    <a:pt x="45742" y="1621581"/>
                  </a:lnTo>
                  <a:cubicBezTo>
                    <a:pt x="33610" y="1621581"/>
                    <a:pt x="21976" y="1616761"/>
                    <a:pt x="13397" y="1608183"/>
                  </a:cubicBezTo>
                  <a:cubicBezTo>
                    <a:pt x="4819" y="1599605"/>
                    <a:pt x="0" y="1587970"/>
                    <a:pt x="0" y="1575839"/>
                  </a:cubicBezTo>
                  <a:lnTo>
                    <a:pt x="0" y="45742"/>
                  </a:lnTo>
                  <a:cubicBezTo>
                    <a:pt x="0" y="33610"/>
                    <a:pt x="4819" y="21976"/>
                    <a:pt x="13397" y="13397"/>
                  </a:cubicBezTo>
                  <a:cubicBezTo>
                    <a:pt x="21976" y="4819"/>
                    <a:pt x="33610" y="0"/>
                    <a:pt x="45742"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6" name="TextBox 4"/>
            <p:cNvSpPr/>
            <p:nvPr/>
          </p:nvSpPr>
          <p:spPr>
            <a:xfrm>
              <a:off x="512280" y="3730680"/>
              <a:ext cx="8631360" cy="604800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grpSp>
        <p:nvGrpSpPr>
          <p:cNvPr id="147" name="Group 5"/>
          <p:cNvGrpSpPr/>
          <p:nvPr/>
        </p:nvGrpSpPr>
        <p:grpSpPr>
          <a:xfrm>
            <a:off x="512280" y="507600"/>
            <a:ext cx="8631360" cy="2595960"/>
            <a:chOff x="512280" y="507600"/>
            <a:chExt cx="8631360" cy="2595960"/>
          </a:xfrm>
        </p:grpSpPr>
        <p:sp>
          <p:nvSpPr>
            <p:cNvPr id="148" name="Freeform 6"/>
            <p:cNvSpPr/>
            <p:nvPr/>
          </p:nvSpPr>
          <p:spPr>
            <a:xfrm>
              <a:off x="512280" y="507600"/>
              <a:ext cx="8631360" cy="2595960"/>
            </a:xfrm>
            <a:custGeom>
              <a:avLst/>
              <a:gdLst>
                <a:gd name="textAreaLeft" fmla="*/ 0 w 8631360"/>
                <a:gd name="textAreaRight" fmla="*/ 8631720 w 8631360"/>
                <a:gd name="textAreaTop" fmla="*/ 0 h 2595960"/>
                <a:gd name="textAreaBottom" fmla="*/ 2596320 h 2595960"/>
              </a:gdLst>
              <a:ahLst/>
              <a:rect l="textAreaLeft" t="textAreaTop" r="textAreaRight" b="textAreaBottom"/>
              <a:pathLst>
                <a:path w="2273414" h="683773">
                  <a:moveTo>
                    <a:pt x="45742" y="0"/>
                  </a:moveTo>
                  <a:lnTo>
                    <a:pt x="2227672" y="0"/>
                  </a:lnTo>
                  <a:cubicBezTo>
                    <a:pt x="2239803" y="0"/>
                    <a:pt x="2251438" y="4819"/>
                    <a:pt x="2260016" y="13397"/>
                  </a:cubicBezTo>
                  <a:cubicBezTo>
                    <a:pt x="2268594" y="21976"/>
                    <a:pt x="2273414" y="33610"/>
                    <a:pt x="2273414" y="45742"/>
                  </a:cubicBezTo>
                  <a:lnTo>
                    <a:pt x="2273414" y="638031"/>
                  </a:lnTo>
                  <a:cubicBezTo>
                    <a:pt x="2273414" y="650163"/>
                    <a:pt x="2268594" y="661798"/>
                    <a:pt x="2260016" y="670376"/>
                  </a:cubicBezTo>
                  <a:cubicBezTo>
                    <a:pt x="2251438" y="678954"/>
                    <a:pt x="2239803" y="683773"/>
                    <a:pt x="2227672" y="683773"/>
                  </a:cubicBezTo>
                  <a:lnTo>
                    <a:pt x="45742" y="683773"/>
                  </a:lnTo>
                  <a:cubicBezTo>
                    <a:pt x="33610" y="683773"/>
                    <a:pt x="21976" y="678954"/>
                    <a:pt x="13397" y="670376"/>
                  </a:cubicBezTo>
                  <a:cubicBezTo>
                    <a:pt x="4819" y="661798"/>
                    <a:pt x="0" y="650163"/>
                    <a:pt x="0" y="638031"/>
                  </a:cubicBezTo>
                  <a:lnTo>
                    <a:pt x="0" y="45742"/>
                  </a:lnTo>
                  <a:cubicBezTo>
                    <a:pt x="0" y="33610"/>
                    <a:pt x="4819" y="21976"/>
                    <a:pt x="13397" y="13397"/>
                  </a:cubicBezTo>
                  <a:cubicBezTo>
                    <a:pt x="21976" y="4819"/>
                    <a:pt x="33610" y="0"/>
                    <a:pt x="45742"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TextBox 7"/>
            <p:cNvSpPr/>
            <p:nvPr/>
          </p:nvSpPr>
          <p:spPr>
            <a:xfrm>
              <a:off x="512280" y="616320"/>
              <a:ext cx="8631360" cy="24872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grpSp>
        <p:nvGrpSpPr>
          <p:cNvPr id="150" name="Group 8"/>
          <p:cNvGrpSpPr/>
          <p:nvPr/>
        </p:nvGrpSpPr>
        <p:grpSpPr>
          <a:xfrm>
            <a:off x="9754920" y="507600"/>
            <a:ext cx="8020800" cy="9271440"/>
            <a:chOff x="9754920" y="507600"/>
            <a:chExt cx="8020800" cy="9271440"/>
          </a:xfrm>
        </p:grpSpPr>
        <p:sp>
          <p:nvSpPr>
            <p:cNvPr id="151" name="Freeform 9"/>
            <p:cNvSpPr/>
            <p:nvPr/>
          </p:nvSpPr>
          <p:spPr>
            <a:xfrm>
              <a:off x="9754920" y="507600"/>
              <a:ext cx="8020800" cy="9271080"/>
            </a:xfrm>
            <a:custGeom>
              <a:avLst/>
              <a:gdLst>
                <a:gd name="textAreaLeft" fmla="*/ 0 w 8020800"/>
                <a:gd name="textAreaRight" fmla="*/ 8021160 w 8020800"/>
                <a:gd name="textAreaTop" fmla="*/ 0 h 9271080"/>
                <a:gd name="textAreaBottom" fmla="*/ 9271440 h 9271080"/>
              </a:gdLst>
              <a:ahLst/>
              <a:rect l="textAreaLeft" t="textAreaTop" r="textAreaRight" b="textAreaBottom"/>
              <a:pathLst>
                <a:path w="2112532" h="2441871">
                  <a:moveTo>
                    <a:pt x="49225" y="0"/>
                  </a:moveTo>
                  <a:lnTo>
                    <a:pt x="2063307" y="0"/>
                  </a:lnTo>
                  <a:cubicBezTo>
                    <a:pt x="2076362" y="0"/>
                    <a:pt x="2088883" y="5186"/>
                    <a:pt x="2098115" y="14418"/>
                  </a:cubicBezTo>
                  <a:cubicBezTo>
                    <a:pt x="2107346" y="23649"/>
                    <a:pt x="2112532" y="36170"/>
                    <a:pt x="2112532" y="49225"/>
                  </a:cubicBezTo>
                  <a:lnTo>
                    <a:pt x="2112532" y="2392646"/>
                  </a:lnTo>
                  <a:cubicBezTo>
                    <a:pt x="2112532" y="2405701"/>
                    <a:pt x="2107346" y="2418222"/>
                    <a:pt x="2098115" y="2427454"/>
                  </a:cubicBezTo>
                  <a:cubicBezTo>
                    <a:pt x="2088883" y="2436685"/>
                    <a:pt x="2076362" y="2441871"/>
                    <a:pt x="2063307" y="2441871"/>
                  </a:cubicBezTo>
                  <a:lnTo>
                    <a:pt x="49225" y="2441871"/>
                  </a:lnTo>
                  <a:cubicBezTo>
                    <a:pt x="36170" y="2441871"/>
                    <a:pt x="23649" y="2436685"/>
                    <a:pt x="14418" y="2427454"/>
                  </a:cubicBezTo>
                  <a:cubicBezTo>
                    <a:pt x="5186" y="2418222"/>
                    <a:pt x="0" y="2405701"/>
                    <a:pt x="0" y="2392646"/>
                  </a:cubicBezTo>
                  <a:lnTo>
                    <a:pt x="0" y="49225"/>
                  </a:lnTo>
                  <a:cubicBezTo>
                    <a:pt x="0" y="36170"/>
                    <a:pt x="5186" y="23649"/>
                    <a:pt x="14418" y="14418"/>
                  </a:cubicBezTo>
                  <a:cubicBezTo>
                    <a:pt x="23649" y="5186"/>
                    <a:pt x="36170" y="0"/>
                    <a:pt x="49225" y="0"/>
                  </a:cubicBezTo>
                  <a:close/>
                </a:path>
              </a:pathLst>
            </a:custGeom>
            <a:solidFill>
              <a:srgbClr val="101010"/>
            </a:solidFill>
            <a:ln cap="rnd" w="19050">
              <a:solidFill>
                <a:srgbClr val="24242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2" name="TextBox 10"/>
            <p:cNvSpPr/>
            <p:nvPr/>
          </p:nvSpPr>
          <p:spPr>
            <a:xfrm>
              <a:off x="9754920" y="616320"/>
              <a:ext cx="8020800" cy="9162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pPr>
              <a:endParaRPr b="0" lang="en-US" sz="1800" spc="-1" strike="noStrike">
                <a:solidFill>
                  <a:schemeClr val="dk1"/>
                </a:solidFill>
                <a:latin typeface="Calibri"/>
              </a:endParaRPr>
            </a:p>
          </p:txBody>
        </p:sp>
      </p:grpSp>
      <p:sp>
        <p:nvSpPr>
          <p:cNvPr id="153" name="Freeform 11"/>
          <p:cNvSpPr/>
          <p:nvPr/>
        </p:nvSpPr>
        <p:spPr>
          <a:xfrm>
            <a:off x="10446840" y="3307680"/>
            <a:ext cx="6636240" cy="4114440"/>
          </a:xfrm>
          <a:custGeom>
            <a:avLst/>
            <a:gdLst>
              <a:gd name="textAreaLeft" fmla="*/ 0 w 6636240"/>
              <a:gd name="textAreaRight" fmla="*/ 6636600 w 6636240"/>
              <a:gd name="textAreaTop" fmla="*/ 0 h 4114440"/>
              <a:gd name="textAreaBottom" fmla="*/ 4114800 h 4114440"/>
            </a:gdLst>
            <a:ahLst/>
            <a:rect l="textAreaLeft" t="textAreaTop" r="textAreaRight" b="textAreaBottom"/>
            <a:pathLst>
              <a:path w="6636774" h="4114800">
                <a:moveTo>
                  <a:pt x="0" y="0"/>
                </a:moveTo>
                <a:lnTo>
                  <a:pt x="6636775" y="0"/>
                </a:lnTo>
                <a:lnTo>
                  <a:pt x="6636775" y="4114800"/>
                </a:lnTo>
                <a:lnTo>
                  <a:pt x="0" y="4114800"/>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4" name="TextBox 12"/>
          <p:cNvSpPr/>
          <p:nvPr/>
        </p:nvSpPr>
        <p:spPr>
          <a:xfrm>
            <a:off x="1028880" y="1502640"/>
            <a:ext cx="7598520" cy="648720"/>
          </a:xfrm>
          <a:prstGeom prst="rect">
            <a:avLst/>
          </a:prstGeom>
          <a:noFill/>
          <a:ln w="0">
            <a:noFill/>
          </a:ln>
        </p:spPr>
        <p:style>
          <a:lnRef idx="0"/>
          <a:fillRef idx="0"/>
          <a:effectRef idx="0"/>
          <a:fontRef idx="minor"/>
        </p:style>
        <p:txBody>
          <a:bodyPr lIns="0" rIns="0" tIns="0" bIns="0" anchor="t">
            <a:spAutoFit/>
          </a:bodyPr>
          <a:p>
            <a:pPr algn="ctr" defTabSz="914400">
              <a:lnSpc>
                <a:spcPts val="5105"/>
              </a:lnSpc>
              <a:tabLst>
                <a:tab algn="l" pos="0"/>
              </a:tabLst>
            </a:pPr>
            <a:r>
              <a:rPr b="0" lang="en-US" sz="5110" spc="-214" strike="noStrike">
                <a:solidFill>
                  <a:srgbClr val="ffffff"/>
                </a:solidFill>
                <a:latin typeface="Inter Bold"/>
                <a:ea typeface="Inter Bold"/>
              </a:rPr>
              <a:t>Model Training and Data</a:t>
            </a:r>
            <a:endParaRPr b="0" lang="en-US" sz="5110" spc="-1" strike="noStrike">
              <a:solidFill>
                <a:srgbClr val="ffffff"/>
              </a:solidFill>
              <a:latin typeface="Arial"/>
            </a:endParaRPr>
          </a:p>
        </p:txBody>
      </p:sp>
      <p:sp>
        <p:nvSpPr>
          <p:cNvPr id="155" name="TextBox 13"/>
          <p:cNvSpPr/>
          <p:nvPr/>
        </p:nvSpPr>
        <p:spPr>
          <a:xfrm>
            <a:off x="747000" y="3853440"/>
            <a:ext cx="7598520" cy="6044040"/>
          </a:xfrm>
          <a:prstGeom prst="rect">
            <a:avLst/>
          </a:prstGeom>
          <a:noFill/>
          <a:ln w="0">
            <a:noFill/>
          </a:ln>
        </p:spPr>
        <p:style>
          <a:lnRef idx="0"/>
          <a:fillRef idx="0"/>
          <a:effectRef idx="0"/>
          <a:fontRef idx="minor"/>
        </p:style>
        <p:txBody>
          <a:bodyPr lIns="0" rIns="0" tIns="0" bIns="0" anchor="t">
            <a:spAutoFit/>
          </a:bodyPr>
          <a:p>
            <a:pPr lvl="1" marL="734040" indent="-367200" defTabSz="914400">
              <a:lnSpc>
                <a:spcPts val="4759"/>
              </a:lnSpc>
              <a:buClr>
                <a:srgbClr val="ffffff"/>
              </a:buClr>
              <a:buFont typeface="Arial"/>
              <a:buChar char="•"/>
            </a:pPr>
            <a:r>
              <a:rPr b="0" lang="en-US" sz="3400" spc="-1" strike="noStrike">
                <a:solidFill>
                  <a:srgbClr val="ffffff"/>
                </a:solidFill>
                <a:latin typeface="Canva Sans"/>
                <a:ea typeface="Canva Sans"/>
              </a:rPr>
              <a:t>Dataset: Recipe 1M, custom datasets of ingredient images.</a:t>
            </a:r>
            <a:endParaRPr b="0" lang="en-US" sz="3400" spc="-1" strike="noStrike">
              <a:solidFill>
                <a:srgbClr val="ffffff"/>
              </a:solidFill>
              <a:latin typeface="Arial"/>
            </a:endParaRPr>
          </a:p>
          <a:p>
            <a:pPr lvl="1" marL="734040" indent="-367200" defTabSz="914400">
              <a:lnSpc>
                <a:spcPts val="4759"/>
              </a:lnSpc>
              <a:buClr>
                <a:srgbClr val="ffffff"/>
              </a:buClr>
              <a:buFont typeface="Arial"/>
              <a:buChar char="•"/>
            </a:pPr>
            <a:r>
              <a:rPr b="0" lang="en-US" sz="3400" spc="-1" strike="noStrike">
                <a:solidFill>
                  <a:srgbClr val="ffffff"/>
                </a:solidFill>
                <a:latin typeface="Canva Sans"/>
                <a:ea typeface="Canva Sans"/>
              </a:rPr>
              <a:t>Training: Supervised learning for ingredient recognition, unsupervised learning for user preferences.</a:t>
            </a:r>
            <a:endParaRPr b="0" lang="en-US" sz="3400" spc="-1" strike="noStrike">
              <a:solidFill>
                <a:srgbClr val="ffffff"/>
              </a:solidFill>
              <a:latin typeface="Arial"/>
            </a:endParaRPr>
          </a:p>
          <a:p>
            <a:pPr lvl="1" marL="734040" indent="-367200" defTabSz="914400">
              <a:lnSpc>
                <a:spcPts val="4759"/>
              </a:lnSpc>
              <a:buClr>
                <a:srgbClr val="ffffff"/>
              </a:buClr>
              <a:buFont typeface="Arial"/>
              <a:buChar char="•"/>
            </a:pPr>
            <a:r>
              <a:rPr b="0" lang="en-US" sz="3400" spc="-1" strike="noStrike">
                <a:solidFill>
                  <a:srgbClr val="ffffff"/>
                </a:solidFill>
                <a:latin typeface="Canva Sans"/>
                <a:ea typeface="Canva Sans"/>
              </a:rPr>
              <a:t>Evaluation Metrics: Ingredient Matching (IM), user satisfaction scores.</a:t>
            </a:r>
            <a:endParaRPr b="0" lang="en-US" sz="3400" spc="-1" strike="noStrike">
              <a:solidFill>
                <a:srgbClr val="ffffff"/>
              </a:solidFill>
              <a:latin typeface="Arial"/>
            </a:endParaRPr>
          </a:p>
          <a:p>
            <a:pPr defTabSz="914400">
              <a:lnSpc>
                <a:spcPts val="4759"/>
              </a:lnSpc>
            </a:pPr>
            <a:endParaRPr b="0" lang="en-US" sz="1800" spc="-1" strike="noStrike">
              <a:solidFill>
                <a:srgbClr val="ffffff"/>
              </a:solidFill>
              <a:latin typeface="Arial"/>
            </a:endParaRPr>
          </a:p>
        </p:txBody>
      </p:sp>
    </p:spTree>
  </p:cSld>
  <p:transition spd="slow">
    <p:fade/>
  </p:transition>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56" name="Group 2"/>
          <p:cNvGrpSpPr/>
          <p:nvPr/>
        </p:nvGrpSpPr>
        <p:grpSpPr>
          <a:xfrm>
            <a:off x="512280" y="507600"/>
            <a:ext cx="8631360" cy="2595960"/>
            <a:chOff x="512280" y="507600"/>
            <a:chExt cx="8631360" cy="2595960"/>
          </a:xfrm>
        </p:grpSpPr>
        <p:sp>
          <p:nvSpPr>
            <p:cNvPr id="157" name="Freeform 3"/>
            <p:cNvSpPr/>
            <p:nvPr/>
          </p:nvSpPr>
          <p:spPr>
            <a:xfrm>
              <a:off x="512280" y="507600"/>
              <a:ext cx="8631360" cy="2595960"/>
            </a:xfrm>
            <a:custGeom>
              <a:avLst/>
              <a:gdLst>
                <a:gd name="textAreaLeft" fmla="*/ 0 w 8631360"/>
                <a:gd name="textAreaRight" fmla="*/ 8631720 w 8631360"/>
                <a:gd name="textAreaTop" fmla="*/ 0 h 2595960"/>
                <a:gd name="textAreaBottom" fmla="*/ 2596320 h 2595960"/>
              </a:gdLst>
              <a:ahLst/>
              <a:rect l="textAreaLeft" t="textAreaTop" r="textAreaRight" b="textAreaBottom"/>
              <a:pathLst>
                <a:path w="2273414" h="683773">
                  <a:moveTo>
                    <a:pt x="45742" y="0"/>
                  </a:moveTo>
                  <a:lnTo>
                    <a:pt x="2227672" y="0"/>
                  </a:lnTo>
                  <a:cubicBezTo>
                    <a:pt x="2239803" y="0"/>
                    <a:pt x="2251438" y="4819"/>
                    <a:pt x="2260016" y="13397"/>
                  </a:cubicBezTo>
                  <a:cubicBezTo>
                    <a:pt x="2268594" y="21976"/>
                    <a:pt x="2273414" y="33610"/>
                    <a:pt x="2273414" y="45742"/>
                  </a:cubicBezTo>
                  <a:lnTo>
                    <a:pt x="2273414" y="638031"/>
                  </a:lnTo>
                  <a:cubicBezTo>
                    <a:pt x="2273414" y="650163"/>
                    <a:pt x="2268594" y="661798"/>
                    <a:pt x="2260016" y="670376"/>
                  </a:cubicBezTo>
                  <a:cubicBezTo>
                    <a:pt x="2251438" y="678954"/>
                    <a:pt x="2239803" y="683773"/>
                    <a:pt x="2227672" y="683773"/>
                  </a:cubicBezTo>
                  <a:lnTo>
                    <a:pt x="45742" y="683773"/>
                  </a:lnTo>
                  <a:cubicBezTo>
                    <a:pt x="33610" y="683773"/>
                    <a:pt x="21976" y="678954"/>
                    <a:pt x="13397" y="670376"/>
                  </a:cubicBezTo>
                  <a:cubicBezTo>
                    <a:pt x="4819" y="661798"/>
                    <a:pt x="0" y="650163"/>
                    <a:pt x="0" y="638031"/>
                  </a:cubicBezTo>
                  <a:lnTo>
                    <a:pt x="0" y="45742"/>
                  </a:lnTo>
                  <a:cubicBezTo>
                    <a:pt x="0" y="33610"/>
                    <a:pt x="4819" y="21976"/>
                    <a:pt x="13397" y="13397"/>
                  </a:cubicBezTo>
                  <a:cubicBezTo>
                    <a:pt x="21976" y="4819"/>
                    <a:pt x="33610" y="0"/>
                    <a:pt x="45742"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8" name="TextBox 4"/>
            <p:cNvSpPr/>
            <p:nvPr/>
          </p:nvSpPr>
          <p:spPr>
            <a:xfrm>
              <a:off x="512280" y="616320"/>
              <a:ext cx="8631360" cy="24872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grpSp>
        <p:nvGrpSpPr>
          <p:cNvPr id="159" name="Group 5"/>
          <p:cNvGrpSpPr/>
          <p:nvPr/>
        </p:nvGrpSpPr>
        <p:grpSpPr>
          <a:xfrm>
            <a:off x="512280" y="3622320"/>
            <a:ext cx="8631360" cy="4627080"/>
            <a:chOff x="512280" y="3622320"/>
            <a:chExt cx="8631360" cy="4627080"/>
          </a:xfrm>
        </p:grpSpPr>
        <p:sp>
          <p:nvSpPr>
            <p:cNvPr id="160" name="Freeform 6"/>
            <p:cNvSpPr/>
            <p:nvPr/>
          </p:nvSpPr>
          <p:spPr>
            <a:xfrm>
              <a:off x="512280" y="3622320"/>
              <a:ext cx="8631360" cy="4627080"/>
            </a:xfrm>
            <a:custGeom>
              <a:avLst/>
              <a:gdLst>
                <a:gd name="textAreaLeft" fmla="*/ 0 w 8631360"/>
                <a:gd name="textAreaRight" fmla="*/ 8631720 w 8631360"/>
                <a:gd name="textAreaTop" fmla="*/ 0 h 4627080"/>
                <a:gd name="textAreaBottom" fmla="*/ 4627440 h 4627080"/>
              </a:gdLst>
              <a:ahLst/>
              <a:rect l="textAreaLeft" t="textAreaTop" r="textAreaRight" b="textAreaBottom"/>
              <a:pathLst>
                <a:path w="2273414" h="1218731">
                  <a:moveTo>
                    <a:pt x="45742" y="0"/>
                  </a:moveTo>
                  <a:lnTo>
                    <a:pt x="2227672" y="0"/>
                  </a:lnTo>
                  <a:cubicBezTo>
                    <a:pt x="2239803" y="0"/>
                    <a:pt x="2251438" y="4819"/>
                    <a:pt x="2260016" y="13397"/>
                  </a:cubicBezTo>
                  <a:cubicBezTo>
                    <a:pt x="2268594" y="21976"/>
                    <a:pt x="2273414" y="33610"/>
                    <a:pt x="2273414" y="45742"/>
                  </a:cubicBezTo>
                  <a:lnTo>
                    <a:pt x="2273414" y="1172989"/>
                  </a:lnTo>
                  <a:cubicBezTo>
                    <a:pt x="2273414" y="1185120"/>
                    <a:pt x="2268594" y="1196755"/>
                    <a:pt x="2260016" y="1205333"/>
                  </a:cubicBezTo>
                  <a:cubicBezTo>
                    <a:pt x="2251438" y="1213912"/>
                    <a:pt x="2239803" y="1218731"/>
                    <a:pt x="2227672" y="1218731"/>
                  </a:cubicBezTo>
                  <a:lnTo>
                    <a:pt x="45742" y="1218731"/>
                  </a:lnTo>
                  <a:cubicBezTo>
                    <a:pt x="33610" y="1218731"/>
                    <a:pt x="21976" y="1213912"/>
                    <a:pt x="13397" y="1205333"/>
                  </a:cubicBezTo>
                  <a:cubicBezTo>
                    <a:pt x="4819" y="1196755"/>
                    <a:pt x="0" y="1185120"/>
                    <a:pt x="0" y="1172989"/>
                  </a:cubicBezTo>
                  <a:lnTo>
                    <a:pt x="0" y="45742"/>
                  </a:lnTo>
                  <a:cubicBezTo>
                    <a:pt x="0" y="33610"/>
                    <a:pt x="4819" y="21976"/>
                    <a:pt x="13397" y="13397"/>
                  </a:cubicBezTo>
                  <a:cubicBezTo>
                    <a:pt x="21976" y="4819"/>
                    <a:pt x="33610" y="0"/>
                    <a:pt x="45742"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TextBox 7"/>
            <p:cNvSpPr/>
            <p:nvPr/>
          </p:nvSpPr>
          <p:spPr>
            <a:xfrm>
              <a:off x="512280" y="3730680"/>
              <a:ext cx="8631360" cy="45183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grpSp>
        <p:nvGrpSpPr>
          <p:cNvPr id="162" name="Group 8"/>
          <p:cNvGrpSpPr/>
          <p:nvPr/>
        </p:nvGrpSpPr>
        <p:grpSpPr>
          <a:xfrm>
            <a:off x="9452880" y="3622320"/>
            <a:ext cx="8464680" cy="4627080"/>
            <a:chOff x="9452880" y="3622320"/>
            <a:chExt cx="8464680" cy="4627080"/>
          </a:xfrm>
        </p:grpSpPr>
        <p:sp>
          <p:nvSpPr>
            <p:cNvPr id="163" name="Freeform 9"/>
            <p:cNvSpPr/>
            <p:nvPr/>
          </p:nvSpPr>
          <p:spPr>
            <a:xfrm>
              <a:off x="9452880" y="3622320"/>
              <a:ext cx="8464680" cy="4627080"/>
            </a:xfrm>
            <a:custGeom>
              <a:avLst/>
              <a:gdLst>
                <a:gd name="textAreaLeft" fmla="*/ 0 w 8464680"/>
                <a:gd name="textAreaRight" fmla="*/ 8465040 w 8464680"/>
                <a:gd name="textAreaTop" fmla="*/ 0 h 4627080"/>
                <a:gd name="textAreaBottom" fmla="*/ 4627440 h 4627080"/>
              </a:gdLst>
              <a:ahLst/>
              <a:rect l="textAreaLeft" t="textAreaTop" r="textAreaRight" b="textAreaBottom"/>
              <a:pathLst>
                <a:path w="2229450" h="1218731">
                  <a:moveTo>
                    <a:pt x="46644" y="0"/>
                  </a:moveTo>
                  <a:lnTo>
                    <a:pt x="2182806" y="0"/>
                  </a:lnTo>
                  <a:cubicBezTo>
                    <a:pt x="2195177" y="0"/>
                    <a:pt x="2207041" y="4914"/>
                    <a:pt x="2215789" y="13662"/>
                  </a:cubicBezTo>
                  <a:cubicBezTo>
                    <a:pt x="2224536" y="22409"/>
                    <a:pt x="2229450" y="34273"/>
                    <a:pt x="2229450" y="46644"/>
                  </a:cubicBezTo>
                  <a:lnTo>
                    <a:pt x="2229450" y="1172087"/>
                  </a:lnTo>
                  <a:cubicBezTo>
                    <a:pt x="2229450" y="1197848"/>
                    <a:pt x="2208567" y="1218731"/>
                    <a:pt x="2182806" y="1218731"/>
                  </a:cubicBezTo>
                  <a:lnTo>
                    <a:pt x="46644" y="1218731"/>
                  </a:lnTo>
                  <a:cubicBezTo>
                    <a:pt x="34273" y="1218731"/>
                    <a:pt x="22409" y="1213817"/>
                    <a:pt x="13662" y="1205069"/>
                  </a:cubicBezTo>
                  <a:cubicBezTo>
                    <a:pt x="4914" y="1196322"/>
                    <a:pt x="0" y="1184458"/>
                    <a:pt x="0" y="1172087"/>
                  </a:cubicBezTo>
                  <a:lnTo>
                    <a:pt x="0" y="46644"/>
                  </a:lnTo>
                  <a:cubicBezTo>
                    <a:pt x="0" y="20883"/>
                    <a:pt x="20883" y="0"/>
                    <a:pt x="46644" y="0"/>
                  </a:cubicBezTo>
                  <a:close/>
                </a:path>
              </a:pathLst>
            </a:custGeom>
            <a:gradFill rotWithShape="0">
              <a:gsLst>
                <a:gs pos="0">
                  <a:srgbClr val="626262">
                    <a:alpha val="24000"/>
                  </a:srgbClr>
                </a:gs>
                <a:gs pos="50000">
                  <a:srgbClr val="1b1b1b"/>
                </a:gs>
                <a:gs pos="100000">
                  <a:srgbClr val="1b1b1b"/>
                </a:gs>
              </a:gsLst>
              <a:lin ang="135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64" name="TextBox 10"/>
            <p:cNvSpPr/>
            <p:nvPr/>
          </p:nvSpPr>
          <p:spPr>
            <a:xfrm>
              <a:off x="9452880" y="3730680"/>
              <a:ext cx="8464680" cy="45183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165" name="TextBox 11"/>
          <p:cNvSpPr/>
          <p:nvPr/>
        </p:nvSpPr>
        <p:spPr>
          <a:xfrm>
            <a:off x="667800" y="4093200"/>
            <a:ext cx="8475840" cy="3157200"/>
          </a:xfrm>
          <a:prstGeom prst="rect">
            <a:avLst/>
          </a:prstGeom>
          <a:noFill/>
          <a:ln w="0">
            <a:noFill/>
          </a:ln>
        </p:spPr>
        <p:style>
          <a:lnRef idx="0"/>
          <a:fillRef idx="0"/>
          <a:effectRef idx="0"/>
          <a:fontRef idx="minor"/>
        </p:style>
        <p:txBody>
          <a:bodyPr lIns="0" rIns="0" tIns="0" bIns="0" anchor="t">
            <a:spAutoFit/>
          </a:bodyPr>
          <a:p>
            <a:pPr lvl="1" marL="572400" indent="-286200" defTabSz="914400">
              <a:lnSpc>
                <a:spcPts val="3552"/>
              </a:lnSpc>
              <a:buClr>
                <a:srgbClr val="ffffff"/>
              </a:buClr>
              <a:buFont typeface="Arial"/>
              <a:buChar char="•"/>
            </a:pPr>
            <a:r>
              <a:rPr b="0" lang="en-US" sz="2650" spc="-1" strike="noStrike">
                <a:solidFill>
                  <a:srgbClr val="ffffff"/>
                </a:solidFill>
                <a:latin typeface="Inter"/>
                <a:ea typeface="Inter"/>
              </a:rPr>
              <a:t>Uses convolutional neural networks (CNN) for image recognition of ingredients.</a:t>
            </a:r>
            <a:endParaRPr b="0" lang="en-US" sz="2650" spc="-1" strike="noStrike">
              <a:solidFill>
                <a:srgbClr val="ffffff"/>
              </a:solidFill>
              <a:latin typeface="Arial"/>
            </a:endParaRPr>
          </a:p>
          <a:p>
            <a:pPr lvl="1" marL="572400" indent="-286200" defTabSz="914400">
              <a:lnSpc>
                <a:spcPts val="3552"/>
              </a:lnSpc>
              <a:buClr>
                <a:srgbClr val="ffffff"/>
              </a:buClr>
              <a:buFont typeface="Arial"/>
              <a:buChar char="•"/>
            </a:pPr>
            <a:r>
              <a:rPr b="0" lang="en-US" sz="2650" spc="-1" strike="noStrike">
                <a:solidFill>
                  <a:srgbClr val="ffffff"/>
                </a:solidFill>
                <a:latin typeface="Inter"/>
                <a:ea typeface="Inter"/>
              </a:rPr>
              <a:t>Natural language processing (NLP) for understanding user inputs.</a:t>
            </a:r>
            <a:endParaRPr b="0" lang="en-US" sz="2650" spc="-1" strike="noStrike">
              <a:solidFill>
                <a:srgbClr val="ffffff"/>
              </a:solidFill>
              <a:latin typeface="Arial"/>
            </a:endParaRPr>
          </a:p>
          <a:p>
            <a:pPr lvl="1" marL="572400" indent="-286200" defTabSz="914400">
              <a:lnSpc>
                <a:spcPts val="3552"/>
              </a:lnSpc>
              <a:buClr>
                <a:srgbClr val="ffffff"/>
              </a:buClr>
              <a:buFont typeface="Arial"/>
              <a:buChar char="•"/>
            </a:pPr>
            <a:r>
              <a:rPr b="0" lang="en-US" sz="2650" spc="-1" strike="noStrike">
                <a:solidFill>
                  <a:srgbClr val="ffffff"/>
                </a:solidFill>
                <a:latin typeface="Inter"/>
                <a:ea typeface="Inter"/>
              </a:rPr>
              <a:t>Reinforcement learning for recipe optimization.</a:t>
            </a:r>
            <a:endParaRPr b="0" lang="en-US" sz="2650" spc="-1" strike="noStrike">
              <a:solidFill>
                <a:srgbClr val="ffffff"/>
              </a:solidFill>
              <a:latin typeface="Arial"/>
            </a:endParaRPr>
          </a:p>
          <a:p>
            <a:pPr lvl="1" marL="572400" indent="-286200" defTabSz="914400">
              <a:lnSpc>
                <a:spcPts val="3552"/>
              </a:lnSpc>
              <a:buClr>
                <a:srgbClr val="ffffff"/>
              </a:buClr>
              <a:buFont typeface="Arial"/>
              <a:buChar char="•"/>
            </a:pPr>
            <a:r>
              <a:rPr b="0" lang="en-US" sz="2650" spc="-1" strike="noStrike">
                <a:solidFill>
                  <a:srgbClr val="ffffff"/>
                </a:solidFill>
                <a:latin typeface="Inter"/>
                <a:ea typeface="Inter"/>
              </a:rPr>
              <a:t>Integration with existing recipe databases.</a:t>
            </a:r>
            <a:endParaRPr b="0" lang="en-US" sz="2650" spc="-1" strike="noStrike">
              <a:solidFill>
                <a:srgbClr val="ffffff"/>
              </a:solidFill>
              <a:latin typeface="Arial"/>
            </a:endParaRPr>
          </a:p>
          <a:p>
            <a:pPr defTabSz="914400">
              <a:lnSpc>
                <a:spcPts val="3552"/>
              </a:lnSpc>
              <a:tabLst>
                <a:tab algn="l" pos="0"/>
              </a:tabLst>
            </a:pPr>
            <a:endParaRPr b="0" lang="en-US" sz="1800" spc="-1" strike="noStrike">
              <a:solidFill>
                <a:srgbClr val="ffffff"/>
              </a:solidFill>
              <a:latin typeface="Arial"/>
            </a:endParaRPr>
          </a:p>
        </p:txBody>
      </p:sp>
      <p:sp>
        <p:nvSpPr>
          <p:cNvPr id="166" name="TextBox 12"/>
          <p:cNvSpPr/>
          <p:nvPr/>
        </p:nvSpPr>
        <p:spPr>
          <a:xfrm>
            <a:off x="395640" y="1010520"/>
            <a:ext cx="8631360" cy="1436040"/>
          </a:xfrm>
          <a:prstGeom prst="rect">
            <a:avLst/>
          </a:prstGeom>
          <a:noFill/>
          <a:ln w="0">
            <a:noFill/>
          </a:ln>
        </p:spPr>
        <p:style>
          <a:lnRef idx="0"/>
          <a:fillRef idx="0"/>
          <a:effectRef idx="0"/>
          <a:fontRef idx="minor"/>
        </p:style>
        <p:txBody>
          <a:bodyPr lIns="0" rIns="0" tIns="0" bIns="0" anchor="t">
            <a:spAutoFit/>
          </a:bodyPr>
          <a:p>
            <a:pPr algn="ctr" defTabSz="914400">
              <a:lnSpc>
                <a:spcPts val="5652"/>
              </a:lnSpc>
              <a:tabLst>
                <a:tab algn="l" pos="0"/>
              </a:tabLst>
            </a:pPr>
            <a:r>
              <a:rPr b="0" lang="en-US" sz="5650" spc="-239" strike="noStrike">
                <a:solidFill>
                  <a:srgbClr val="eea6ff"/>
                </a:solidFill>
                <a:latin typeface="Inter Bold"/>
                <a:ea typeface="Inter Bold"/>
              </a:rPr>
              <a:t>AI and Machine Learning Integration</a:t>
            </a:r>
            <a:endParaRPr b="0" lang="en-US" sz="5650" spc="-1" strike="noStrike">
              <a:solidFill>
                <a:srgbClr val="ffffff"/>
              </a:solidFill>
              <a:latin typeface="Arial"/>
            </a:endParaRPr>
          </a:p>
        </p:txBody>
      </p:sp>
      <p:grpSp>
        <p:nvGrpSpPr>
          <p:cNvPr id="167" name="Group 13"/>
          <p:cNvGrpSpPr/>
          <p:nvPr/>
        </p:nvGrpSpPr>
        <p:grpSpPr>
          <a:xfrm>
            <a:off x="9285840" y="507600"/>
            <a:ext cx="8631360" cy="2595960"/>
            <a:chOff x="9285840" y="507600"/>
            <a:chExt cx="8631360" cy="2595960"/>
          </a:xfrm>
        </p:grpSpPr>
        <p:sp>
          <p:nvSpPr>
            <p:cNvPr id="168" name="Freeform 14"/>
            <p:cNvSpPr/>
            <p:nvPr/>
          </p:nvSpPr>
          <p:spPr>
            <a:xfrm>
              <a:off x="9285840" y="507600"/>
              <a:ext cx="8631360" cy="2595960"/>
            </a:xfrm>
            <a:custGeom>
              <a:avLst/>
              <a:gdLst>
                <a:gd name="textAreaLeft" fmla="*/ 0 w 8631360"/>
                <a:gd name="textAreaRight" fmla="*/ 8631720 w 8631360"/>
                <a:gd name="textAreaTop" fmla="*/ 0 h 2595960"/>
                <a:gd name="textAreaBottom" fmla="*/ 2596320 h 2595960"/>
              </a:gdLst>
              <a:ahLst/>
              <a:rect l="textAreaLeft" t="textAreaTop" r="textAreaRight" b="textAreaBottom"/>
              <a:pathLst>
                <a:path w="2273414" h="683773">
                  <a:moveTo>
                    <a:pt x="45742" y="0"/>
                  </a:moveTo>
                  <a:lnTo>
                    <a:pt x="2227672" y="0"/>
                  </a:lnTo>
                  <a:cubicBezTo>
                    <a:pt x="2239803" y="0"/>
                    <a:pt x="2251438" y="4819"/>
                    <a:pt x="2260016" y="13397"/>
                  </a:cubicBezTo>
                  <a:cubicBezTo>
                    <a:pt x="2268594" y="21976"/>
                    <a:pt x="2273414" y="33610"/>
                    <a:pt x="2273414" y="45742"/>
                  </a:cubicBezTo>
                  <a:lnTo>
                    <a:pt x="2273414" y="638031"/>
                  </a:lnTo>
                  <a:cubicBezTo>
                    <a:pt x="2273414" y="650163"/>
                    <a:pt x="2268594" y="661798"/>
                    <a:pt x="2260016" y="670376"/>
                  </a:cubicBezTo>
                  <a:cubicBezTo>
                    <a:pt x="2251438" y="678954"/>
                    <a:pt x="2239803" y="683773"/>
                    <a:pt x="2227672" y="683773"/>
                  </a:cubicBezTo>
                  <a:lnTo>
                    <a:pt x="45742" y="683773"/>
                  </a:lnTo>
                  <a:cubicBezTo>
                    <a:pt x="33610" y="683773"/>
                    <a:pt x="21976" y="678954"/>
                    <a:pt x="13397" y="670376"/>
                  </a:cubicBezTo>
                  <a:cubicBezTo>
                    <a:pt x="4819" y="661798"/>
                    <a:pt x="0" y="650163"/>
                    <a:pt x="0" y="638031"/>
                  </a:cubicBezTo>
                  <a:lnTo>
                    <a:pt x="0" y="45742"/>
                  </a:lnTo>
                  <a:cubicBezTo>
                    <a:pt x="0" y="33610"/>
                    <a:pt x="4819" y="21976"/>
                    <a:pt x="13397" y="13397"/>
                  </a:cubicBezTo>
                  <a:cubicBezTo>
                    <a:pt x="21976" y="4819"/>
                    <a:pt x="33610" y="0"/>
                    <a:pt x="45742"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9" name="TextBox 15"/>
            <p:cNvSpPr/>
            <p:nvPr/>
          </p:nvSpPr>
          <p:spPr>
            <a:xfrm>
              <a:off x="9285840" y="616320"/>
              <a:ext cx="8631360" cy="248724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170" name="TextBox 16"/>
          <p:cNvSpPr/>
          <p:nvPr/>
        </p:nvSpPr>
        <p:spPr>
          <a:xfrm>
            <a:off x="9144000" y="1036800"/>
            <a:ext cx="8631360" cy="718200"/>
          </a:xfrm>
          <a:prstGeom prst="rect">
            <a:avLst/>
          </a:prstGeom>
          <a:noFill/>
          <a:ln w="0">
            <a:noFill/>
          </a:ln>
        </p:spPr>
        <p:style>
          <a:lnRef idx="0"/>
          <a:fillRef idx="0"/>
          <a:effectRef idx="0"/>
          <a:fontRef idx="minor"/>
        </p:style>
        <p:txBody>
          <a:bodyPr lIns="0" rIns="0" tIns="0" bIns="0" anchor="t">
            <a:spAutoFit/>
          </a:bodyPr>
          <a:p>
            <a:pPr algn="ctr" defTabSz="914400">
              <a:lnSpc>
                <a:spcPts val="5652"/>
              </a:lnSpc>
              <a:tabLst>
                <a:tab algn="l" pos="0"/>
              </a:tabLst>
            </a:pPr>
            <a:r>
              <a:rPr b="0" lang="en-US" sz="5650" spc="-239" strike="noStrike">
                <a:solidFill>
                  <a:srgbClr val="3bee96"/>
                </a:solidFill>
                <a:latin typeface="Inter Bold"/>
                <a:ea typeface="Inter Bold"/>
              </a:rPr>
              <a:t>Deep Learning Architecture</a:t>
            </a:r>
            <a:endParaRPr b="0" lang="en-US" sz="5650" spc="-1" strike="noStrike">
              <a:solidFill>
                <a:srgbClr val="ffffff"/>
              </a:solidFill>
              <a:latin typeface="Arial"/>
            </a:endParaRPr>
          </a:p>
        </p:txBody>
      </p:sp>
      <p:sp>
        <p:nvSpPr>
          <p:cNvPr id="171" name="TextBox 17"/>
          <p:cNvSpPr/>
          <p:nvPr/>
        </p:nvSpPr>
        <p:spPr>
          <a:xfrm>
            <a:off x="9811800" y="3645720"/>
            <a:ext cx="8475840" cy="4059360"/>
          </a:xfrm>
          <a:prstGeom prst="rect">
            <a:avLst/>
          </a:prstGeom>
          <a:noFill/>
          <a:ln w="0">
            <a:noFill/>
          </a:ln>
        </p:spPr>
        <p:style>
          <a:lnRef idx="0"/>
          <a:fillRef idx="0"/>
          <a:effectRef idx="0"/>
          <a:fontRef idx="minor"/>
        </p:style>
        <p:txBody>
          <a:bodyPr lIns="0" rIns="0" tIns="0" bIns="0" anchor="t">
            <a:spAutoFit/>
          </a:bodyPr>
          <a:p>
            <a:pPr lvl="1" marL="572400" indent="-286200" defTabSz="914400">
              <a:lnSpc>
                <a:spcPts val="3552"/>
              </a:lnSpc>
              <a:buClr>
                <a:srgbClr val="ffffff"/>
              </a:buClr>
              <a:buFont typeface="Arial"/>
              <a:buChar char="•"/>
            </a:pPr>
            <a:r>
              <a:rPr b="0" lang="en-US" sz="2650" spc="-1" strike="noStrike">
                <a:solidFill>
                  <a:srgbClr val="ffffff"/>
                </a:solidFill>
                <a:latin typeface="Inter"/>
                <a:ea typeface="Inter"/>
              </a:rPr>
              <a:t>Ingredient Recognition: Using CNNs like ResNet-50 for identifying ingredients from images.</a:t>
            </a:r>
            <a:endParaRPr b="0" lang="en-US" sz="2650" spc="-1" strike="noStrike">
              <a:solidFill>
                <a:srgbClr val="ffffff"/>
              </a:solidFill>
              <a:latin typeface="Arial"/>
            </a:endParaRPr>
          </a:p>
          <a:p>
            <a:pPr lvl="1" marL="572400" indent="-286200" defTabSz="914400">
              <a:lnSpc>
                <a:spcPts val="3552"/>
              </a:lnSpc>
              <a:buClr>
                <a:srgbClr val="ffffff"/>
              </a:buClr>
              <a:buFont typeface="Arial"/>
              <a:buChar char="•"/>
            </a:pPr>
            <a:r>
              <a:rPr b="0" lang="en-US" sz="2650" spc="-1" strike="noStrike">
                <a:solidFill>
                  <a:srgbClr val="ffffff"/>
                </a:solidFill>
                <a:latin typeface="Inter"/>
                <a:ea typeface="Inter"/>
              </a:rPr>
              <a:t>Recipe Generation: Encoder-decoder framework with reinforcement learning and coverage loss to ensure ingredient matching.</a:t>
            </a:r>
            <a:endParaRPr b="0" lang="en-US" sz="2650" spc="-1" strike="noStrike">
              <a:solidFill>
                <a:srgbClr val="ffffff"/>
              </a:solidFill>
              <a:latin typeface="Arial"/>
            </a:endParaRPr>
          </a:p>
          <a:p>
            <a:pPr lvl="1" marL="572400" indent="-286200" defTabSz="914400">
              <a:lnSpc>
                <a:spcPts val="3552"/>
              </a:lnSpc>
              <a:buClr>
                <a:srgbClr val="ffffff"/>
              </a:buClr>
              <a:buFont typeface="Arial"/>
              <a:buChar char="•"/>
            </a:pPr>
            <a:r>
              <a:rPr b="0" lang="en-US" sz="2650" spc="-1" strike="noStrike">
                <a:solidFill>
                  <a:srgbClr val="ffffff"/>
                </a:solidFill>
                <a:latin typeface="Inter"/>
                <a:ea typeface="Inter"/>
              </a:rPr>
              <a:t>Personalization: User preference models using collaborative filtering and similarity measures (e.g., Euclidean Distance, Pearson Correlation).</a:t>
            </a:r>
            <a:endParaRPr b="0" lang="en-US" sz="2650" spc="-1" strike="noStrike">
              <a:solidFill>
                <a:srgbClr val="ffffff"/>
              </a:solidFill>
              <a:latin typeface="Arial"/>
            </a:endParaRPr>
          </a:p>
          <a:p>
            <a:pPr defTabSz="914400">
              <a:lnSpc>
                <a:spcPts val="3552"/>
              </a:lnSpc>
              <a:tabLst>
                <a:tab algn="l" pos="0"/>
              </a:tabLst>
            </a:pPr>
            <a:endParaRPr b="0" lang="en-US" sz="1800" spc="-1" strike="noStrike">
              <a:solidFill>
                <a:srgbClr val="ffffff"/>
              </a:solidFill>
              <a:latin typeface="Arial"/>
            </a:endParaRPr>
          </a:p>
        </p:txBody>
      </p:sp>
    </p:spTree>
  </p:cSld>
  <p:transition spd="slow">
    <p:fade/>
  </p:transition>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72" name="Group 2"/>
          <p:cNvGrpSpPr/>
          <p:nvPr/>
        </p:nvGrpSpPr>
        <p:grpSpPr>
          <a:xfrm>
            <a:off x="-161280" y="231480"/>
            <a:ext cx="6847200" cy="2059200"/>
            <a:chOff x="-161280" y="231480"/>
            <a:chExt cx="6847200" cy="2059200"/>
          </a:xfrm>
        </p:grpSpPr>
        <p:sp>
          <p:nvSpPr>
            <p:cNvPr id="173" name="Freeform 3"/>
            <p:cNvSpPr/>
            <p:nvPr/>
          </p:nvSpPr>
          <p:spPr>
            <a:xfrm>
              <a:off x="-161280" y="231480"/>
              <a:ext cx="6847200" cy="2059200"/>
            </a:xfrm>
            <a:custGeom>
              <a:avLst/>
              <a:gdLst>
                <a:gd name="textAreaLeft" fmla="*/ 0 w 6847200"/>
                <a:gd name="textAreaRight" fmla="*/ 6847560 w 6847200"/>
                <a:gd name="textAreaTop" fmla="*/ 0 h 2059200"/>
                <a:gd name="textAreaBottom" fmla="*/ 2059560 h 2059200"/>
              </a:gdLst>
              <a:ahLst/>
              <a:rect l="textAreaLeft" t="textAreaTop" r="textAreaRight" b="textAreaBottom"/>
              <a:pathLst>
                <a:path w="2273414" h="683773">
                  <a:moveTo>
                    <a:pt x="57661" y="0"/>
                  </a:moveTo>
                  <a:lnTo>
                    <a:pt x="2215753" y="0"/>
                  </a:lnTo>
                  <a:cubicBezTo>
                    <a:pt x="2231045" y="0"/>
                    <a:pt x="2245712" y="6075"/>
                    <a:pt x="2256525" y="16888"/>
                  </a:cubicBezTo>
                  <a:cubicBezTo>
                    <a:pt x="2267339" y="27702"/>
                    <a:pt x="2273414" y="42368"/>
                    <a:pt x="2273414" y="57661"/>
                  </a:cubicBezTo>
                  <a:lnTo>
                    <a:pt x="2273414" y="626113"/>
                  </a:lnTo>
                  <a:cubicBezTo>
                    <a:pt x="2273414" y="657958"/>
                    <a:pt x="2247598" y="683773"/>
                    <a:pt x="2215753" y="683773"/>
                  </a:cubicBezTo>
                  <a:lnTo>
                    <a:pt x="57661" y="683773"/>
                  </a:lnTo>
                  <a:cubicBezTo>
                    <a:pt x="42368" y="683773"/>
                    <a:pt x="27702" y="677698"/>
                    <a:pt x="16888" y="666885"/>
                  </a:cubicBezTo>
                  <a:cubicBezTo>
                    <a:pt x="6075" y="656071"/>
                    <a:pt x="0" y="641405"/>
                    <a:pt x="0" y="626113"/>
                  </a:cubicBezTo>
                  <a:lnTo>
                    <a:pt x="0" y="57661"/>
                  </a:lnTo>
                  <a:cubicBezTo>
                    <a:pt x="0" y="42368"/>
                    <a:pt x="6075" y="27702"/>
                    <a:pt x="16888" y="16888"/>
                  </a:cubicBezTo>
                  <a:cubicBezTo>
                    <a:pt x="27702" y="6075"/>
                    <a:pt x="42368" y="0"/>
                    <a:pt x="57661" y="0"/>
                  </a:cubicBezTo>
                  <a:close/>
                </a:path>
              </a:pathLst>
            </a:custGeom>
            <a:solidFill>
              <a:srgbClr val="1b1b1b"/>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4" name="TextBox 4"/>
            <p:cNvSpPr/>
            <p:nvPr/>
          </p:nvSpPr>
          <p:spPr>
            <a:xfrm>
              <a:off x="-161280" y="317520"/>
              <a:ext cx="6847200" cy="197316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175" name="Freeform 5"/>
          <p:cNvSpPr/>
          <p:nvPr/>
        </p:nvSpPr>
        <p:spPr>
          <a:xfrm>
            <a:off x="6158880" y="423360"/>
            <a:ext cx="11651040" cy="9439560"/>
          </a:xfrm>
          <a:custGeom>
            <a:avLst/>
            <a:gdLst>
              <a:gd name="textAreaLeft" fmla="*/ 0 w 11651040"/>
              <a:gd name="textAreaRight" fmla="*/ 11651400 w 11651040"/>
              <a:gd name="textAreaTop" fmla="*/ 0 h 9439560"/>
              <a:gd name="textAreaBottom" fmla="*/ 9439920 h 9439560"/>
            </a:gdLst>
            <a:ahLst/>
            <a:rect l="textAreaLeft" t="textAreaTop" r="textAreaRight" b="textAreaBottom"/>
            <a:pathLst>
              <a:path w="11651311" h="9440070">
                <a:moveTo>
                  <a:pt x="0" y="0"/>
                </a:moveTo>
                <a:lnTo>
                  <a:pt x="11651311" y="0"/>
                </a:lnTo>
                <a:lnTo>
                  <a:pt x="11651311" y="9440070"/>
                </a:lnTo>
                <a:lnTo>
                  <a:pt x="0" y="944007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6" name="TextBox 6"/>
          <p:cNvSpPr/>
          <p:nvPr/>
        </p:nvSpPr>
        <p:spPr>
          <a:xfrm>
            <a:off x="248400" y="786960"/>
            <a:ext cx="6027840" cy="514800"/>
          </a:xfrm>
          <a:prstGeom prst="rect">
            <a:avLst/>
          </a:prstGeom>
          <a:noFill/>
          <a:ln w="0">
            <a:noFill/>
          </a:ln>
        </p:spPr>
        <p:style>
          <a:lnRef idx="0"/>
          <a:fillRef idx="0"/>
          <a:effectRef idx="0"/>
          <a:fontRef idx="minor"/>
        </p:style>
        <p:txBody>
          <a:bodyPr lIns="0" rIns="0" tIns="0" bIns="0" anchor="t">
            <a:spAutoFit/>
          </a:bodyPr>
          <a:p>
            <a:pPr algn="ctr" defTabSz="914400">
              <a:lnSpc>
                <a:spcPts val="4051"/>
              </a:lnSpc>
              <a:tabLst>
                <a:tab algn="l" pos="0"/>
              </a:tabLst>
            </a:pPr>
            <a:r>
              <a:rPr b="0" lang="en-US" sz="4050" spc="-171" strike="noStrike">
                <a:solidFill>
                  <a:srgbClr val="ff66c4"/>
                </a:solidFill>
                <a:latin typeface="Inter Bold"/>
                <a:ea typeface="Inter Bold"/>
              </a:rPr>
              <a:t>System Architecture</a:t>
            </a:r>
            <a:endParaRPr b="0" lang="en-US" sz="4050" spc="-1" strike="noStrike">
              <a:solidFill>
                <a:srgbClr val="ffffff"/>
              </a:solidFill>
              <a:latin typeface="Arial"/>
            </a:endParaRPr>
          </a:p>
        </p:txBody>
      </p:sp>
      <p:sp>
        <p:nvSpPr>
          <p:cNvPr id="177" name="TextBox 7"/>
          <p:cNvSpPr/>
          <p:nvPr/>
        </p:nvSpPr>
        <p:spPr>
          <a:xfrm>
            <a:off x="497160" y="1746000"/>
            <a:ext cx="5238360" cy="7858080"/>
          </a:xfrm>
          <a:prstGeom prst="rect">
            <a:avLst/>
          </a:prstGeom>
          <a:noFill/>
          <a:ln w="0">
            <a:noFill/>
          </a:ln>
        </p:spPr>
        <p:style>
          <a:lnRef idx="0"/>
          <a:fillRef idx="0"/>
          <a:effectRef idx="0"/>
          <a:fontRef idx="minor"/>
        </p:style>
        <p:txBody>
          <a:bodyPr lIns="0" rIns="0" tIns="0" bIns="0" anchor="t">
            <a:spAutoFit/>
          </a:bodyPr>
          <a:p>
            <a:pPr lvl="1" marL="734040" indent="-367200" defTabSz="914400">
              <a:lnSpc>
                <a:spcPts val="4759"/>
              </a:lnSpc>
              <a:buClr>
                <a:srgbClr val="ffffff"/>
              </a:buClr>
              <a:buFont typeface="Arial"/>
              <a:buChar char="•"/>
            </a:pPr>
            <a:r>
              <a:rPr b="0" lang="en-US" sz="3400" spc="-1" strike="noStrike">
                <a:solidFill>
                  <a:srgbClr val="ffffff"/>
                </a:solidFill>
                <a:latin typeface="Canva Sans"/>
                <a:ea typeface="Canva Sans"/>
              </a:rPr>
              <a:t>User inputs dietary preferences and available ingredients.</a:t>
            </a:r>
            <a:endParaRPr b="0" lang="en-US" sz="3400" spc="-1" strike="noStrike">
              <a:solidFill>
                <a:srgbClr val="ffffff"/>
              </a:solidFill>
              <a:latin typeface="Arial"/>
            </a:endParaRPr>
          </a:p>
          <a:p>
            <a:pPr lvl="1" marL="734040" indent="-367200" defTabSz="914400">
              <a:lnSpc>
                <a:spcPts val="4759"/>
              </a:lnSpc>
              <a:buClr>
                <a:srgbClr val="ffffff"/>
              </a:buClr>
              <a:buFont typeface="Arial"/>
              <a:buChar char="•"/>
            </a:pPr>
            <a:r>
              <a:rPr b="0" lang="en-US" sz="3400" spc="-1" strike="noStrike">
                <a:solidFill>
                  <a:srgbClr val="ffffff"/>
                </a:solidFill>
                <a:latin typeface="Canva Sans"/>
                <a:ea typeface="Canva Sans"/>
              </a:rPr>
              <a:t>AI model processes inputs and recognizes ingredients.</a:t>
            </a:r>
            <a:endParaRPr b="0" lang="en-US" sz="3400" spc="-1" strike="noStrike">
              <a:solidFill>
                <a:srgbClr val="ffffff"/>
              </a:solidFill>
              <a:latin typeface="Arial"/>
            </a:endParaRPr>
          </a:p>
          <a:p>
            <a:pPr lvl="1" marL="734040" indent="-367200" defTabSz="914400">
              <a:lnSpc>
                <a:spcPts val="4759"/>
              </a:lnSpc>
              <a:buClr>
                <a:srgbClr val="ffffff"/>
              </a:buClr>
              <a:buFont typeface="Arial"/>
              <a:buChar char="•"/>
            </a:pPr>
            <a:r>
              <a:rPr b="0" lang="en-US" sz="3400" spc="-1" strike="noStrike">
                <a:solidFill>
                  <a:srgbClr val="ffffff"/>
                </a:solidFill>
                <a:latin typeface="Canva Sans"/>
                <a:ea typeface="Canva Sans"/>
              </a:rPr>
              <a:t>Recipe generation module creates tailored recipes.</a:t>
            </a:r>
            <a:endParaRPr b="0" lang="en-US" sz="3400" spc="-1" strike="noStrike">
              <a:solidFill>
                <a:srgbClr val="ffffff"/>
              </a:solidFill>
              <a:latin typeface="Arial"/>
            </a:endParaRPr>
          </a:p>
          <a:p>
            <a:pPr lvl="1" marL="734040" indent="-367200" defTabSz="914400">
              <a:lnSpc>
                <a:spcPts val="4759"/>
              </a:lnSpc>
              <a:buClr>
                <a:srgbClr val="ffffff"/>
              </a:buClr>
              <a:buFont typeface="Arial"/>
              <a:buChar char="•"/>
            </a:pPr>
            <a:r>
              <a:rPr b="0" lang="en-US" sz="3400" spc="-1" strike="noStrike">
                <a:solidFill>
                  <a:srgbClr val="ffffff"/>
                </a:solidFill>
                <a:latin typeface="Canva Sans"/>
                <a:ea typeface="Canva Sans"/>
              </a:rPr>
              <a:t>User feedback loop for continuous improvement.</a:t>
            </a:r>
            <a:endParaRPr b="0" lang="en-US" sz="3400" spc="-1" strike="noStrike">
              <a:solidFill>
                <a:srgbClr val="ffffff"/>
              </a:solidFill>
              <a:latin typeface="Arial"/>
            </a:endParaRPr>
          </a:p>
          <a:p>
            <a:pPr defTabSz="914400">
              <a:lnSpc>
                <a:spcPts val="4759"/>
              </a:lnSpc>
            </a:pPr>
            <a:endParaRPr b="0" lang="en-US" sz="1800" spc="-1" strike="noStrike">
              <a:solidFill>
                <a:srgbClr val="ffffff"/>
              </a:solidFill>
              <a:latin typeface="Arial"/>
            </a:endParaRPr>
          </a:p>
        </p:txBody>
      </p:sp>
    </p:spTree>
  </p:cSld>
  <p:transition spd="slow">
    <p:fade/>
  </p:transition>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78" name="Freeform 2"/>
          <p:cNvSpPr/>
          <p:nvPr/>
        </p:nvSpPr>
        <p:spPr>
          <a:xfrm>
            <a:off x="707400" y="659880"/>
            <a:ext cx="16872840" cy="4078800"/>
          </a:xfrm>
          <a:custGeom>
            <a:avLst/>
            <a:gdLst>
              <a:gd name="textAreaLeft" fmla="*/ 0 w 16872840"/>
              <a:gd name="textAreaRight" fmla="*/ 16873200 w 16872840"/>
              <a:gd name="textAreaTop" fmla="*/ 0 h 4078800"/>
              <a:gd name="textAreaBottom" fmla="*/ 4079160 h 4078800"/>
            </a:gdLst>
            <a:ahLst/>
            <a:rect l="textAreaLeft" t="textAreaTop" r="textAreaRight" b="textAreaBottom"/>
            <a:pathLst>
              <a:path w="16873150" h="4079090">
                <a:moveTo>
                  <a:pt x="0" y="0"/>
                </a:moveTo>
                <a:lnTo>
                  <a:pt x="16873150" y="0"/>
                </a:lnTo>
                <a:lnTo>
                  <a:pt x="16873150" y="4079090"/>
                </a:lnTo>
                <a:lnTo>
                  <a:pt x="0" y="407909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79" name="Freeform 3"/>
          <p:cNvSpPr/>
          <p:nvPr/>
        </p:nvSpPr>
        <p:spPr>
          <a:xfrm>
            <a:off x="707400" y="5250960"/>
            <a:ext cx="16872840" cy="4842000"/>
          </a:xfrm>
          <a:custGeom>
            <a:avLst/>
            <a:gdLst>
              <a:gd name="textAreaLeft" fmla="*/ 0 w 16872840"/>
              <a:gd name="textAreaRight" fmla="*/ 16873200 w 16872840"/>
              <a:gd name="textAreaTop" fmla="*/ 0 h 4842000"/>
              <a:gd name="textAreaBottom" fmla="*/ 4842360 h 4842000"/>
            </a:gdLst>
            <a:ahLst/>
            <a:rect l="textAreaLeft" t="textAreaTop" r="textAreaRight" b="textAreaBottom"/>
            <a:pathLst>
              <a:path w="16873150" h="4842526">
                <a:moveTo>
                  <a:pt x="0" y="0"/>
                </a:moveTo>
                <a:lnTo>
                  <a:pt x="16873150" y="0"/>
                </a:lnTo>
                <a:lnTo>
                  <a:pt x="16873150" y="4842526"/>
                </a:lnTo>
                <a:lnTo>
                  <a:pt x="0" y="4842526"/>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0" name="Freeform 2"/>
          <p:cNvSpPr/>
          <p:nvPr/>
        </p:nvSpPr>
        <p:spPr>
          <a:xfrm>
            <a:off x="-84600" y="0"/>
            <a:ext cx="18912240" cy="10286640"/>
          </a:xfrm>
          <a:custGeom>
            <a:avLst/>
            <a:gdLst>
              <a:gd name="textAreaLeft" fmla="*/ 0 w 18912240"/>
              <a:gd name="textAreaRight" fmla="*/ 18912600 w 18912240"/>
              <a:gd name="textAreaTop" fmla="*/ 0 h 10286640"/>
              <a:gd name="textAreaBottom" fmla="*/ 10287000 h 10286640"/>
            </a:gdLst>
            <a:ahLst/>
            <a:rect l="textAreaLeft" t="textAreaTop" r="textAreaRight" b="textAreaBottom"/>
            <a:pathLst>
              <a:path w="18912534" h="10287000">
                <a:moveTo>
                  <a:pt x="0" y="0"/>
                </a:moveTo>
                <a:lnTo>
                  <a:pt x="18912534" y="0"/>
                </a:lnTo>
                <a:lnTo>
                  <a:pt x="18912534" y="10287000"/>
                </a:lnTo>
                <a:lnTo>
                  <a:pt x="0" y="102870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1" name="Freeform 2"/>
          <p:cNvSpPr/>
          <p:nvPr/>
        </p:nvSpPr>
        <p:spPr>
          <a:xfrm>
            <a:off x="0" y="0"/>
            <a:ext cx="8753760" cy="10286640"/>
          </a:xfrm>
          <a:custGeom>
            <a:avLst/>
            <a:gdLst>
              <a:gd name="textAreaLeft" fmla="*/ 0 w 8753760"/>
              <a:gd name="textAreaRight" fmla="*/ 8754120 w 8753760"/>
              <a:gd name="textAreaTop" fmla="*/ 0 h 10286640"/>
              <a:gd name="textAreaBottom" fmla="*/ 10287000 h 10286640"/>
            </a:gdLst>
            <a:ahLst/>
            <a:rect l="textAreaLeft" t="textAreaTop" r="textAreaRight" b="textAreaBottom"/>
            <a:pathLst>
              <a:path w="8754181" h="10287000">
                <a:moveTo>
                  <a:pt x="0" y="0"/>
                </a:moveTo>
                <a:lnTo>
                  <a:pt x="8754181" y="0"/>
                </a:lnTo>
                <a:lnTo>
                  <a:pt x="8754181" y="10287000"/>
                </a:lnTo>
                <a:lnTo>
                  <a:pt x="0" y="102870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2" name="TextBox 3"/>
          <p:cNvSpPr/>
          <p:nvPr/>
        </p:nvSpPr>
        <p:spPr>
          <a:xfrm>
            <a:off x="8997840" y="217440"/>
            <a:ext cx="9101520" cy="9987840"/>
          </a:xfrm>
          <a:prstGeom prst="rect">
            <a:avLst/>
          </a:prstGeom>
          <a:noFill/>
          <a:ln w="0">
            <a:noFill/>
          </a:ln>
        </p:spPr>
        <p:style>
          <a:lnRef idx="0"/>
          <a:fillRef idx="0"/>
          <a:effectRef idx="0"/>
          <a:fontRef idx="minor"/>
        </p:style>
        <p:txBody>
          <a:bodyPr lIns="0" rIns="0" tIns="0" bIns="0" anchor="t">
            <a:spAutoFit/>
          </a:bodyPr>
          <a:p>
            <a:pPr algn="just" defTabSz="914400">
              <a:lnSpc>
                <a:spcPts val="2537"/>
              </a:lnSpc>
            </a:pPr>
            <a:r>
              <a:rPr b="0" lang="en-US" sz="2620" spc="-1" strike="noStrike">
                <a:solidFill>
                  <a:srgbClr val="ffffff"/>
                </a:solidFill>
                <a:latin typeface="Inter Bold"/>
                <a:ea typeface="Inter Bold"/>
              </a:rPr>
              <a:t>Understanding the Graphs:</a:t>
            </a:r>
            <a:endParaRPr b="0" lang="en-US" sz="2620" spc="-1" strike="noStrike">
              <a:solidFill>
                <a:srgbClr val="ffffff"/>
              </a:solidFill>
              <a:latin typeface="Arial"/>
            </a:endParaRPr>
          </a:p>
          <a:p>
            <a:pPr algn="just" defTabSz="914400">
              <a:lnSpc>
                <a:spcPts val="2537"/>
              </a:lnSpc>
            </a:pPr>
            <a:endParaRPr b="0" lang="en-US" sz="1800" spc="-1" strike="noStrike">
              <a:solidFill>
                <a:srgbClr val="ffffff"/>
              </a:solidFill>
              <a:latin typeface="Arial"/>
            </a:endParaRPr>
          </a:p>
          <a:p>
            <a:pPr algn="just" defTabSz="914400">
              <a:lnSpc>
                <a:spcPts val="2537"/>
              </a:lnSpc>
            </a:pPr>
            <a:r>
              <a:rPr b="0" lang="en-US" sz="2620" spc="-1" strike="noStrike">
                <a:solidFill>
                  <a:srgbClr val="ffffff"/>
                </a:solidFill>
                <a:latin typeface="Inter"/>
                <a:ea typeface="Inter"/>
              </a:rPr>
              <a:t>The provided image displays four line graphs, each representing the training accuracy of a different deep learning model: </a:t>
            </a:r>
            <a:r>
              <a:rPr b="0" lang="en-US" sz="2620" spc="-1" strike="noStrike">
                <a:solidFill>
                  <a:srgbClr val="ffffff"/>
                </a:solidFill>
                <a:latin typeface="Inter Bold"/>
                <a:ea typeface="Inter Bold"/>
              </a:rPr>
              <a:t>InceptionV3, VGG16, DenseNet, and ResNet50</a:t>
            </a:r>
            <a:r>
              <a:rPr b="0" lang="en-US" sz="2620" spc="-1" strike="noStrike">
                <a:solidFill>
                  <a:srgbClr val="ffffff"/>
                </a:solidFill>
                <a:latin typeface="Inter"/>
                <a:ea typeface="Inter"/>
              </a:rPr>
              <a:t>. </a:t>
            </a:r>
            <a:endParaRPr b="0" lang="en-US" sz="2620" spc="-1" strike="noStrike">
              <a:solidFill>
                <a:srgbClr val="ffffff"/>
              </a:solidFill>
              <a:latin typeface="Arial"/>
            </a:endParaRPr>
          </a:p>
          <a:p>
            <a:pPr algn="just" defTabSz="914400">
              <a:lnSpc>
                <a:spcPts val="2537"/>
              </a:lnSpc>
            </a:pPr>
            <a:endParaRPr b="0" lang="en-US" sz="1800" spc="-1" strike="noStrike">
              <a:solidFill>
                <a:srgbClr val="ffffff"/>
              </a:solidFill>
              <a:latin typeface="Arial"/>
            </a:endParaRPr>
          </a:p>
          <a:p>
            <a:pPr algn="just" defTabSz="914400">
              <a:lnSpc>
                <a:spcPts val="2537"/>
              </a:lnSpc>
            </a:pPr>
            <a:r>
              <a:rPr b="0" lang="en-US" sz="2620" spc="-1" strike="noStrike">
                <a:solidFill>
                  <a:srgbClr val="ffffff"/>
                </a:solidFill>
                <a:latin typeface="Inter"/>
                <a:ea typeface="Inter"/>
              </a:rPr>
              <a:t>The x-axis in each graph represents the number of epochs (training iterations), while the y-axis represents the accuracy achieved by the model during training.Key Observations:Overall Trends: All four models exhibit a general upward trend in accuracy as the number of epochs increases, indicating successful learning.</a:t>
            </a:r>
            <a:endParaRPr b="0" lang="en-US" sz="2620" spc="-1" strike="noStrike">
              <a:solidFill>
                <a:srgbClr val="ffffff"/>
              </a:solidFill>
              <a:latin typeface="Arial"/>
            </a:endParaRPr>
          </a:p>
          <a:p>
            <a:pPr algn="just" defTabSz="914400">
              <a:lnSpc>
                <a:spcPts val="2537"/>
              </a:lnSpc>
            </a:pPr>
            <a:endParaRPr b="0" lang="en-US" sz="1800" spc="-1" strike="noStrike">
              <a:solidFill>
                <a:srgbClr val="ffffff"/>
              </a:solidFill>
              <a:latin typeface="Arial"/>
            </a:endParaRPr>
          </a:p>
          <a:p>
            <a:pPr algn="just" defTabSz="914400">
              <a:lnSpc>
                <a:spcPts val="2537"/>
              </a:lnSpc>
            </a:pPr>
            <a:r>
              <a:rPr b="0" lang="en-US" sz="2620" spc="-1" strike="noStrike">
                <a:solidFill>
                  <a:srgbClr val="ffffff"/>
                </a:solidFill>
                <a:latin typeface="Inter Bold"/>
                <a:ea typeface="Inter Bold"/>
              </a:rPr>
              <a:t>InceptionV3: </a:t>
            </a:r>
            <a:r>
              <a:rPr b="0" lang="en-US" sz="2620" spc="-1" strike="noStrike">
                <a:solidFill>
                  <a:srgbClr val="ffffff"/>
                </a:solidFill>
                <a:latin typeface="Inter"/>
                <a:ea typeface="Inter"/>
              </a:rPr>
              <a:t>This model shows a steady and consistent increase in accuracy, reaching a plateau around the 30th epoch.</a:t>
            </a:r>
            <a:endParaRPr b="0" lang="en-US" sz="2620" spc="-1" strike="noStrike">
              <a:solidFill>
                <a:srgbClr val="ffffff"/>
              </a:solidFill>
              <a:latin typeface="Arial"/>
            </a:endParaRPr>
          </a:p>
          <a:p>
            <a:pPr algn="just" defTabSz="914400">
              <a:lnSpc>
                <a:spcPts val="2537"/>
              </a:lnSpc>
            </a:pPr>
            <a:endParaRPr b="0" lang="en-US" sz="1800" spc="-1" strike="noStrike">
              <a:solidFill>
                <a:srgbClr val="ffffff"/>
              </a:solidFill>
              <a:latin typeface="Arial"/>
            </a:endParaRPr>
          </a:p>
          <a:p>
            <a:pPr algn="just" defTabSz="914400">
              <a:lnSpc>
                <a:spcPts val="2537"/>
              </a:lnSpc>
            </a:pPr>
            <a:r>
              <a:rPr b="0" lang="en-US" sz="2620" spc="-1" strike="noStrike">
                <a:solidFill>
                  <a:srgbClr val="ffffff"/>
                </a:solidFill>
                <a:latin typeface="Inter Bold"/>
                <a:ea typeface="Inter Bold"/>
              </a:rPr>
              <a:t>VGG16:</a:t>
            </a:r>
            <a:r>
              <a:rPr b="0" lang="en-US" sz="2620" spc="-1" strike="noStrike">
                <a:solidFill>
                  <a:srgbClr val="ffffff"/>
                </a:solidFill>
                <a:latin typeface="Inter"/>
                <a:ea typeface="Inter"/>
              </a:rPr>
              <a:t> VGG16 also demonstrates a steady improvement, but its final accuracy is slightly lower than InceptionV3.</a:t>
            </a:r>
            <a:endParaRPr b="0" lang="en-US" sz="2620" spc="-1" strike="noStrike">
              <a:solidFill>
                <a:srgbClr val="ffffff"/>
              </a:solidFill>
              <a:latin typeface="Arial"/>
            </a:endParaRPr>
          </a:p>
          <a:p>
            <a:pPr algn="just" defTabSz="914400">
              <a:lnSpc>
                <a:spcPts val="2537"/>
              </a:lnSpc>
            </a:pPr>
            <a:endParaRPr b="0" lang="en-US" sz="1800" spc="-1" strike="noStrike">
              <a:solidFill>
                <a:srgbClr val="ffffff"/>
              </a:solidFill>
              <a:latin typeface="Arial"/>
            </a:endParaRPr>
          </a:p>
          <a:p>
            <a:pPr algn="just" defTabSz="914400">
              <a:lnSpc>
                <a:spcPts val="2537"/>
              </a:lnSpc>
            </a:pPr>
            <a:r>
              <a:rPr b="0" lang="en-US" sz="2620" spc="-1" strike="noStrike">
                <a:solidFill>
                  <a:srgbClr val="ffffff"/>
                </a:solidFill>
                <a:latin typeface="Inter Bold"/>
                <a:ea typeface="Inter Bold"/>
              </a:rPr>
              <a:t>DenseNet: </a:t>
            </a:r>
            <a:r>
              <a:rPr b="0" lang="en-US" sz="2620" spc="-1" strike="noStrike">
                <a:solidFill>
                  <a:srgbClr val="ffffff"/>
                </a:solidFill>
                <a:latin typeface="Inter"/>
                <a:ea typeface="Inter"/>
              </a:rPr>
              <a:t>DenseNet exhibits a rapid initial increase in accuracy, followed by a more gradual improvement. It reaches a plateau at a slightly higher accuracy than VGG16 but lower than InceptionV3.</a:t>
            </a:r>
            <a:endParaRPr b="0" lang="en-US" sz="2620" spc="-1" strike="noStrike">
              <a:solidFill>
                <a:srgbClr val="ffffff"/>
              </a:solidFill>
              <a:latin typeface="Arial"/>
            </a:endParaRPr>
          </a:p>
          <a:p>
            <a:pPr algn="just" defTabSz="914400">
              <a:lnSpc>
                <a:spcPts val="2537"/>
              </a:lnSpc>
            </a:pPr>
            <a:endParaRPr b="0" lang="en-US" sz="1800" spc="-1" strike="noStrike">
              <a:solidFill>
                <a:srgbClr val="ffffff"/>
              </a:solidFill>
              <a:latin typeface="Arial"/>
            </a:endParaRPr>
          </a:p>
          <a:p>
            <a:pPr algn="just" defTabSz="914400">
              <a:lnSpc>
                <a:spcPts val="2537"/>
              </a:lnSpc>
            </a:pPr>
            <a:r>
              <a:rPr b="0" lang="en-US" sz="2620" spc="-1" strike="noStrike">
                <a:solidFill>
                  <a:srgbClr val="ffffff"/>
                </a:solidFill>
                <a:latin typeface="Inter Bold"/>
                <a:ea typeface="Inter Bold"/>
              </a:rPr>
              <a:t>ResNet50:</a:t>
            </a:r>
            <a:r>
              <a:rPr b="0" lang="en-US" sz="2620" spc="-1" strike="noStrike">
                <a:solidFill>
                  <a:srgbClr val="ffffff"/>
                </a:solidFill>
                <a:latin typeface="Inter"/>
                <a:ea typeface="Inter"/>
              </a:rPr>
              <a:t> ResNet50 shows a unique pattern with a sharp initial increase followed by a dip in accuracy before resuming a steady rise. It eventually reaches a plateau similar to VGG16.</a:t>
            </a:r>
            <a:endParaRPr b="0" lang="en-US" sz="2620" spc="-1" strike="noStrike">
              <a:solidFill>
                <a:srgbClr val="ffffff"/>
              </a:solidFill>
              <a:latin typeface="Arial"/>
            </a:endParaRPr>
          </a:p>
          <a:p>
            <a:pPr algn="just" defTabSz="914400">
              <a:lnSpc>
                <a:spcPts val="2537"/>
              </a:lnSpc>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3" name="TextBox 2"/>
          <p:cNvSpPr/>
          <p:nvPr/>
        </p:nvSpPr>
        <p:spPr>
          <a:xfrm>
            <a:off x="1440000" y="1077120"/>
            <a:ext cx="15517800" cy="7776720"/>
          </a:xfrm>
          <a:prstGeom prst="rect">
            <a:avLst/>
          </a:prstGeom>
          <a:noFill/>
          <a:ln w="0">
            <a:noFill/>
          </a:ln>
        </p:spPr>
        <p:style>
          <a:lnRef idx="0"/>
          <a:fillRef idx="0"/>
          <a:effectRef idx="0"/>
          <a:fontRef idx="minor"/>
        </p:style>
        <p:txBody>
          <a:bodyPr lIns="0" rIns="0" tIns="0" bIns="0" anchor="t">
            <a:spAutoFit/>
          </a:bodyPr>
          <a:p>
            <a:pPr algn="just" defTabSz="914400">
              <a:lnSpc>
                <a:spcPts val="3223"/>
              </a:lnSpc>
            </a:pPr>
            <a:r>
              <a:rPr b="0" lang="en-US" sz="3230" spc="-137" strike="noStrike">
                <a:solidFill>
                  <a:srgbClr val="ffffff"/>
                </a:solidFill>
                <a:latin typeface="Inter Bold"/>
                <a:ea typeface="Inter Bold"/>
              </a:rPr>
              <a:t>Interpreting the Results:</a:t>
            </a:r>
            <a:endParaRPr b="0" lang="en-US" sz="3230" spc="-1" strike="noStrike">
              <a:solidFill>
                <a:srgbClr val="ffffff"/>
              </a:solidFill>
              <a:latin typeface="Arial"/>
            </a:endParaRPr>
          </a:p>
          <a:p>
            <a:pPr algn="just" defTabSz="914400">
              <a:lnSpc>
                <a:spcPts val="3223"/>
              </a:lnSpc>
            </a:pPr>
            <a:r>
              <a:rPr b="0" lang="en-US" sz="3230" spc="-137" strike="noStrike">
                <a:solidFill>
                  <a:srgbClr val="ffffff"/>
                </a:solidFill>
                <a:latin typeface="Inter"/>
                <a:ea typeface="Inter"/>
              </a:rPr>
              <a:t>Model Performance: InceptionV3 appears to be the best-performing model based on the final accuracy achieved. However, the choice of the best model might depend on other factors such as computational cost, training time, and specific application requirements.</a:t>
            </a:r>
            <a:endParaRPr b="0" lang="en-US" sz="3230" spc="-1" strike="noStrike">
              <a:solidFill>
                <a:srgbClr val="ffffff"/>
              </a:solidFill>
              <a:latin typeface="Arial"/>
            </a:endParaRPr>
          </a:p>
          <a:p>
            <a:pPr algn="just" defTabSz="914400">
              <a:lnSpc>
                <a:spcPts val="3223"/>
              </a:lnSpc>
            </a:pPr>
            <a:endParaRPr b="0" lang="en-US" sz="1800" spc="-1" strike="noStrike">
              <a:solidFill>
                <a:srgbClr val="ffffff"/>
              </a:solidFill>
              <a:latin typeface="Arial"/>
            </a:endParaRPr>
          </a:p>
          <a:p>
            <a:pPr algn="just" defTabSz="914400">
              <a:lnSpc>
                <a:spcPts val="3223"/>
              </a:lnSpc>
            </a:pPr>
            <a:r>
              <a:rPr b="0" lang="en-US" sz="3230" spc="-137" strike="noStrike">
                <a:solidFill>
                  <a:srgbClr val="ffffff"/>
                </a:solidFill>
                <a:latin typeface="Inter Bold"/>
                <a:ea typeface="Inter Bold"/>
              </a:rPr>
              <a:t>Training Dynamics:</a:t>
            </a:r>
            <a:endParaRPr b="0" lang="en-US" sz="3230" spc="-1" strike="noStrike">
              <a:solidFill>
                <a:srgbClr val="ffffff"/>
              </a:solidFill>
              <a:latin typeface="Arial"/>
            </a:endParaRPr>
          </a:p>
          <a:p>
            <a:pPr algn="just" defTabSz="914400">
              <a:lnSpc>
                <a:spcPts val="3223"/>
              </a:lnSpc>
            </a:pPr>
            <a:r>
              <a:rPr b="0" lang="en-US" sz="3230" spc="-137" strike="noStrike">
                <a:solidFill>
                  <a:srgbClr val="ffffff"/>
                </a:solidFill>
                <a:latin typeface="Inter"/>
                <a:ea typeface="Inter"/>
              </a:rPr>
              <a:t>The different shapes of the curves suggest varying training dynamics for each model. For example, ResNet50's initial dip in accuracy might be attributed to its specific architecture or training strategy.</a:t>
            </a:r>
            <a:endParaRPr b="0" lang="en-US" sz="3230" spc="-1" strike="noStrike">
              <a:solidFill>
                <a:srgbClr val="ffffff"/>
              </a:solidFill>
              <a:latin typeface="Arial"/>
            </a:endParaRPr>
          </a:p>
          <a:p>
            <a:pPr algn="just" defTabSz="914400">
              <a:lnSpc>
                <a:spcPts val="3223"/>
              </a:lnSpc>
            </a:pPr>
            <a:endParaRPr b="0" lang="en-US" sz="1800" spc="-1" strike="noStrike">
              <a:solidFill>
                <a:srgbClr val="ffffff"/>
              </a:solidFill>
              <a:latin typeface="Arial"/>
            </a:endParaRPr>
          </a:p>
          <a:p>
            <a:pPr algn="just" defTabSz="914400">
              <a:lnSpc>
                <a:spcPts val="3223"/>
              </a:lnSpc>
            </a:pPr>
            <a:r>
              <a:rPr b="0" lang="en-US" sz="3230" spc="-137" strike="noStrike">
                <a:solidFill>
                  <a:srgbClr val="ffffff"/>
                </a:solidFill>
                <a:latin typeface="Inter Bold"/>
                <a:ea typeface="Inter Bold"/>
              </a:rPr>
              <a:t>Hyperparameter Tuning:</a:t>
            </a:r>
            <a:endParaRPr b="0" lang="en-US" sz="3230" spc="-1" strike="noStrike">
              <a:solidFill>
                <a:srgbClr val="ffffff"/>
              </a:solidFill>
              <a:latin typeface="Arial"/>
            </a:endParaRPr>
          </a:p>
          <a:p>
            <a:pPr algn="just" defTabSz="914400">
              <a:lnSpc>
                <a:spcPts val="3223"/>
              </a:lnSpc>
            </a:pPr>
            <a:r>
              <a:rPr b="0" lang="en-US" sz="3230" spc="-137" strike="noStrike">
                <a:solidFill>
                  <a:srgbClr val="ffffff"/>
                </a:solidFill>
                <a:latin typeface="Inter"/>
                <a:ea typeface="Inter"/>
              </a:rPr>
              <a:t>The performance of these models can be further improved by fine-tuning hyperparameters such as learning rate, batch size, and regularization techniques.</a:t>
            </a:r>
            <a:endParaRPr b="0" lang="en-US" sz="3230" spc="-1" strike="noStrike">
              <a:solidFill>
                <a:srgbClr val="ffffff"/>
              </a:solidFill>
              <a:latin typeface="Arial"/>
            </a:endParaRPr>
          </a:p>
          <a:p>
            <a:pPr algn="just" defTabSz="914400">
              <a:lnSpc>
                <a:spcPts val="3223"/>
              </a:lnSpc>
            </a:pPr>
            <a:endParaRPr b="0" lang="en-US" sz="1800" spc="-1" strike="noStrike">
              <a:solidFill>
                <a:srgbClr val="ffffff"/>
              </a:solidFill>
              <a:latin typeface="Arial"/>
            </a:endParaRPr>
          </a:p>
          <a:p>
            <a:pPr algn="just" defTabSz="914400">
              <a:lnSpc>
                <a:spcPts val="3223"/>
              </a:lnSpc>
            </a:pPr>
            <a:r>
              <a:rPr b="0" lang="en-US" sz="3230" spc="-137" strike="noStrike">
                <a:solidFill>
                  <a:srgbClr val="ffffff"/>
                </a:solidFill>
                <a:latin typeface="Inter Bold"/>
                <a:ea typeface="Inter Bold"/>
              </a:rPr>
              <a:t>Conclusion:</a:t>
            </a:r>
            <a:endParaRPr b="0" lang="en-US" sz="3230" spc="-1" strike="noStrike">
              <a:solidFill>
                <a:srgbClr val="ffffff"/>
              </a:solidFill>
              <a:latin typeface="Arial"/>
            </a:endParaRPr>
          </a:p>
          <a:p>
            <a:pPr algn="just" defTabSz="914400">
              <a:lnSpc>
                <a:spcPts val="3223"/>
              </a:lnSpc>
            </a:pPr>
            <a:r>
              <a:rPr b="0" lang="en-US" sz="3230" spc="-137" strike="noStrike">
                <a:solidFill>
                  <a:srgbClr val="ffffff"/>
                </a:solidFill>
                <a:latin typeface="Inter"/>
                <a:ea typeface="Inter"/>
              </a:rPr>
              <a:t>The graphs provide valuable insights into the training behavior of different deep learning models. By analyzing these trends, researchers and practitioners can make informed decisions about model selection and optimization for specific tasks.</a:t>
            </a:r>
            <a:endParaRPr b="0" lang="en-US" sz="323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4" name="TextBox 2"/>
          <p:cNvSpPr/>
          <p:nvPr/>
        </p:nvSpPr>
        <p:spPr>
          <a:xfrm>
            <a:off x="848520" y="797400"/>
            <a:ext cx="17101800" cy="8962920"/>
          </a:xfrm>
          <a:prstGeom prst="rect">
            <a:avLst/>
          </a:prstGeom>
          <a:noFill/>
          <a:ln w="0">
            <a:noFill/>
          </a:ln>
        </p:spPr>
        <p:style>
          <a:lnRef idx="0"/>
          <a:fillRef idx="0"/>
          <a:effectRef idx="0"/>
          <a:fontRef idx="minor"/>
        </p:style>
        <p:txBody>
          <a:bodyPr lIns="0" rIns="0" tIns="0" bIns="0" anchor="t">
            <a:spAutoFit/>
          </a:bodyPr>
          <a:p>
            <a:pPr algn="just" defTabSz="914400">
              <a:lnSpc>
                <a:spcPts val="2205"/>
              </a:lnSpc>
            </a:pPr>
            <a:r>
              <a:rPr b="0" lang="en-US" sz="2060" spc="-1" strike="noStrike">
                <a:solidFill>
                  <a:srgbClr val="ffffff"/>
                </a:solidFill>
                <a:latin typeface="Inter"/>
                <a:ea typeface="Inter"/>
              </a:rPr>
              <a:t>The primary goal of this algorithm is to recommend recipes that are similar to a given set of ingredients. It achieves this by analyzing the composition of recipes in a dataset and identifying patterns or clusters of ingredients that frequently occur together.</a:t>
            </a:r>
            <a:endParaRPr b="0" lang="en-US" sz="2060" spc="-1" strike="noStrike">
              <a:solidFill>
                <a:srgbClr val="ffffff"/>
              </a:solidFill>
              <a:latin typeface="Arial"/>
            </a:endParaRPr>
          </a:p>
          <a:p>
            <a:pPr algn="just" defTabSz="914400">
              <a:lnSpc>
                <a:spcPts val="2205"/>
              </a:lnSpc>
            </a:pPr>
            <a:endParaRPr b="0" lang="en-US" sz="1800" spc="-1" strike="noStrike">
              <a:solidFill>
                <a:srgbClr val="ffffff"/>
              </a:solidFill>
              <a:latin typeface="Arial"/>
            </a:endParaRPr>
          </a:p>
          <a:p>
            <a:pPr algn="just" defTabSz="914400">
              <a:lnSpc>
                <a:spcPts val="2205"/>
              </a:lnSpc>
            </a:pPr>
            <a:r>
              <a:rPr b="0" lang="en-US" sz="2060" spc="-1" strike="noStrike">
                <a:solidFill>
                  <a:srgbClr val="12bbfe"/>
                </a:solidFill>
                <a:latin typeface="Inter Bold"/>
                <a:ea typeface="Inter Bold"/>
              </a:rPr>
              <a:t>Key Components and Steps:</a:t>
            </a:r>
            <a:endParaRPr b="0" lang="en-US" sz="2060" spc="-1" strike="noStrike">
              <a:solidFill>
                <a:srgbClr val="ffffff"/>
              </a:solidFill>
              <a:latin typeface="Arial"/>
            </a:endParaRPr>
          </a:p>
          <a:p>
            <a:pPr algn="just" defTabSz="914400">
              <a:lnSpc>
                <a:spcPts val="2205"/>
              </a:lnSpc>
            </a:pPr>
            <a:endParaRPr b="0" lang="en-US" sz="1800" spc="-1" strike="noStrike">
              <a:solidFill>
                <a:srgbClr val="ffffff"/>
              </a:solidFill>
              <a:latin typeface="Arial"/>
            </a:endParaRPr>
          </a:p>
          <a:p>
            <a:pPr algn="just" defTabSz="914400">
              <a:lnSpc>
                <a:spcPts val="2205"/>
              </a:lnSpc>
            </a:pPr>
            <a:r>
              <a:rPr b="0" lang="en-US" sz="2060" spc="-1" strike="noStrike">
                <a:solidFill>
                  <a:srgbClr val="ffffff"/>
                </a:solidFill>
                <a:latin typeface="Inter Bold"/>
                <a:ea typeface="Inter Bold"/>
              </a:rPr>
              <a:t>Ingredient Clustering:</a:t>
            </a:r>
            <a:r>
              <a:rPr b="0" lang="en-US" sz="2060" spc="-1" strike="noStrike">
                <a:solidFill>
                  <a:srgbClr val="ffffff"/>
                </a:solidFill>
                <a:latin typeface="Inter"/>
                <a:ea typeface="Inter"/>
              </a:rPr>
              <a:t> The algorithm groups ingredients into clusters based on their co-occurrence in recipes. This helps to identify common ingredient combinations.</a:t>
            </a:r>
            <a:endParaRPr b="0" lang="en-US" sz="2060" spc="-1" strike="noStrike">
              <a:solidFill>
                <a:srgbClr val="ffffff"/>
              </a:solidFill>
              <a:latin typeface="Arial"/>
            </a:endParaRPr>
          </a:p>
          <a:p>
            <a:pPr algn="just" defTabSz="914400">
              <a:lnSpc>
                <a:spcPts val="2205"/>
              </a:lnSpc>
            </a:pPr>
            <a:endParaRPr b="0" lang="en-US" sz="1800" spc="-1" strike="noStrike">
              <a:solidFill>
                <a:srgbClr val="ffffff"/>
              </a:solidFill>
              <a:latin typeface="Arial"/>
            </a:endParaRPr>
          </a:p>
          <a:p>
            <a:pPr algn="just" defTabSz="914400">
              <a:lnSpc>
                <a:spcPts val="2205"/>
              </a:lnSpc>
            </a:pPr>
            <a:r>
              <a:rPr b="0" lang="en-US" sz="2060" spc="-1" strike="noStrike">
                <a:solidFill>
                  <a:srgbClr val="ffffff"/>
                </a:solidFill>
                <a:latin typeface="Inter Bold"/>
                <a:ea typeface="Inter Bold"/>
              </a:rPr>
              <a:t>Ingredient Weighting:</a:t>
            </a:r>
            <a:r>
              <a:rPr b="0" lang="en-US" sz="2060" spc="-1" strike="noStrike">
                <a:solidFill>
                  <a:srgbClr val="ffffff"/>
                </a:solidFill>
                <a:latin typeface="Inter"/>
                <a:ea typeface="Inter"/>
              </a:rPr>
              <a:t> Each ingredient within a cluster is assigned a weight based on its relative abundance in the recipe. More abundant ingredients are given higher weights.</a:t>
            </a:r>
            <a:endParaRPr b="0" lang="en-US" sz="2060" spc="-1" strike="noStrike">
              <a:solidFill>
                <a:srgbClr val="ffffff"/>
              </a:solidFill>
              <a:latin typeface="Arial"/>
            </a:endParaRPr>
          </a:p>
          <a:p>
            <a:pPr algn="just" defTabSz="914400">
              <a:lnSpc>
                <a:spcPts val="2205"/>
              </a:lnSpc>
            </a:pPr>
            <a:endParaRPr b="0" lang="en-US" sz="1800" spc="-1" strike="noStrike">
              <a:solidFill>
                <a:srgbClr val="ffffff"/>
              </a:solidFill>
              <a:latin typeface="Arial"/>
            </a:endParaRPr>
          </a:p>
          <a:p>
            <a:pPr algn="just" defTabSz="914400">
              <a:lnSpc>
                <a:spcPts val="2205"/>
              </a:lnSpc>
            </a:pPr>
            <a:r>
              <a:rPr b="0" lang="en-US" sz="2060" spc="-1" strike="noStrike">
                <a:solidFill>
                  <a:srgbClr val="ffffff"/>
                </a:solidFill>
                <a:latin typeface="Inter Bold"/>
                <a:ea typeface="Inter Bold"/>
              </a:rPr>
              <a:t>Cluster Similarity: </a:t>
            </a:r>
            <a:r>
              <a:rPr b="0" lang="en-US" sz="2060" spc="-1" strike="noStrike">
                <a:solidFill>
                  <a:srgbClr val="ffffff"/>
                </a:solidFill>
                <a:latin typeface="Inter"/>
                <a:ea typeface="Inter"/>
              </a:rPr>
              <a:t>The similarity between a recipe and a given set of ingredients is calculated based on the similarity of the ingredient clusters in the recipe to the predicted clusters.</a:t>
            </a:r>
            <a:endParaRPr b="0" lang="en-US" sz="2060" spc="-1" strike="noStrike">
              <a:solidFill>
                <a:srgbClr val="ffffff"/>
              </a:solidFill>
              <a:latin typeface="Arial"/>
            </a:endParaRPr>
          </a:p>
          <a:p>
            <a:pPr algn="just" defTabSz="914400">
              <a:lnSpc>
                <a:spcPts val="2205"/>
              </a:lnSpc>
            </a:pPr>
            <a:r>
              <a:rPr b="0" lang="en-US" sz="2060" spc="-1" strike="noStrike">
                <a:solidFill>
                  <a:srgbClr val="ffffff"/>
                </a:solidFill>
                <a:latin typeface="Inter"/>
                <a:ea typeface="Inter"/>
              </a:rPr>
              <a:t>Recipe Ranking: Recipes are ranked based on their overall similarity scores, with the most similar recipes appearing at the top.</a:t>
            </a:r>
            <a:endParaRPr b="0" lang="en-US" sz="2060" spc="-1" strike="noStrike">
              <a:solidFill>
                <a:srgbClr val="ffffff"/>
              </a:solidFill>
              <a:latin typeface="Arial"/>
            </a:endParaRPr>
          </a:p>
          <a:p>
            <a:pPr algn="just" defTabSz="914400">
              <a:lnSpc>
                <a:spcPts val="2205"/>
              </a:lnSpc>
            </a:pPr>
            <a:endParaRPr b="0" lang="en-US" sz="1800" spc="-1" strike="noStrike">
              <a:solidFill>
                <a:srgbClr val="ffffff"/>
              </a:solidFill>
              <a:latin typeface="Arial"/>
            </a:endParaRPr>
          </a:p>
          <a:p>
            <a:pPr algn="just" defTabSz="914400">
              <a:lnSpc>
                <a:spcPts val="2205"/>
              </a:lnSpc>
            </a:pPr>
            <a:r>
              <a:rPr b="0" lang="en-US" sz="2060" spc="-1" strike="noStrike">
                <a:solidFill>
                  <a:srgbClr val="3bee96"/>
                </a:solidFill>
                <a:latin typeface="Inter Bold"/>
                <a:ea typeface="Inter Bold"/>
              </a:rPr>
              <a:t>Formulas:</a:t>
            </a:r>
            <a:endParaRPr b="0" lang="en-US" sz="2060" spc="-1" strike="noStrike">
              <a:solidFill>
                <a:srgbClr val="ffffff"/>
              </a:solidFill>
              <a:latin typeface="Arial"/>
            </a:endParaRPr>
          </a:p>
          <a:p>
            <a:pPr algn="just" defTabSz="914400">
              <a:lnSpc>
                <a:spcPts val="2205"/>
              </a:lnSpc>
            </a:pPr>
            <a:r>
              <a:rPr b="0" lang="en-US" sz="2060" spc="-1" strike="noStrike">
                <a:solidFill>
                  <a:srgbClr val="ffffff"/>
                </a:solidFill>
                <a:latin typeface="Inter"/>
                <a:ea typeface="Inter"/>
              </a:rPr>
              <a:t>Weight of an Ingredient Cluster:  </a:t>
            </a:r>
            <a:r>
              <a:rPr b="0" lang="en-US" sz="2060" spc="-1" strike="noStrike">
                <a:solidFill>
                  <a:srgbClr val="ffffff"/>
                </a:solidFill>
                <a:latin typeface="Inter Bold"/>
                <a:ea typeface="Inter Bold"/>
              </a:rPr>
              <a:t>w(c) = ∑ w(i)</a:t>
            </a:r>
            <a:endParaRPr b="0" lang="en-US" sz="2060" spc="-1" strike="noStrike">
              <a:solidFill>
                <a:srgbClr val="ffffff"/>
              </a:solidFill>
              <a:latin typeface="Arial"/>
            </a:endParaRPr>
          </a:p>
          <a:p>
            <a:pPr algn="just" defTabSz="914400">
              <a:lnSpc>
                <a:spcPts val="2205"/>
              </a:lnSpc>
            </a:pPr>
            <a:endParaRPr b="0" lang="en-US" sz="1800" spc="-1" strike="noStrike">
              <a:solidFill>
                <a:srgbClr val="ffffff"/>
              </a:solidFill>
              <a:latin typeface="Arial"/>
            </a:endParaRPr>
          </a:p>
          <a:p>
            <a:pPr algn="just" defTabSz="914400">
              <a:lnSpc>
                <a:spcPts val="2205"/>
              </a:lnSpc>
            </a:pPr>
            <a:r>
              <a:rPr b="0" lang="en-US" sz="2060" spc="-1" strike="noStrike">
                <a:solidFill>
                  <a:srgbClr val="ffffff"/>
                </a:solidFill>
                <a:latin typeface="Inter"/>
                <a:ea typeface="Inter"/>
              </a:rPr>
              <a:t>Normalized Weight of an Ingredient Cluster:  </a:t>
            </a:r>
            <a:r>
              <a:rPr b="0" lang="en-US" sz="2060" spc="-1" strike="noStrike">
                <a:solidFill>
                  <a:srgbClr val="ffffff"/>
                </a:solidFill>
                <a:latin typeface="Inter Bold"/>
                <a:ea typeface="Inter Bold"/>
              </a:rPr>
              <a:t>w'(c) = w(c) / ∑ w(c)</a:t>
            </a:r>
            <a:endParaRPr b="0" lang="en-US" sz="2060" spc="-1" strike="noStrike">
              <a:solidFill>
                <a:srgbClr val="ffffff"/>
              </a:solidFill>
              <a:latin typeface="Arial"/>
            </a:endParaRPr>
          </a:p>
          <a:p>
            <a:pPr algn="just" defTabSz="914400">
              <a:lnSpc>
                <a:spcPts val="2205"/>
              </a:lnSpc>
            </a:pPr>
            <a:endParaRPr b="0" lang="en-US" sz="1800" spc="-1" strike="noStrike">
              <a:solidFill>
                <a:srgbClr val="ffffff"/>
              </a:solidFill>
              <a:latin typeface="Arial"/>
            </a:endParaRPr>
          </a:p>
          <a:p>
            <a:pPr algn="just" defTabSz="914400">
              <a:lnSpc>
                <a:spcPts val="2205"/>
              </a:lnSpc>
            </a:pPr>
            <a:r>
              <a:rPr b="0" lang="en-US" sz="2060" spc="-1" strike="noStrike">
                <a:solidFill>
                  <a:srgbClr val="ffffff"/>
                </a:solidFill>
                <a:latin typeface="Inter"/>
                <a:ea typeface="Inter"/>
              </a:rPr>
              <a:t>Probability of a Cluster: </a:t>
            </a:r>
            <a:r>
              <a:rPr b="0" lang="en-US" sz="2060" spc="-1" strike="noStrike">
                <a:solidFill>
                  <a:srgbClr val="ffffff"/>
                </a:solidFill>
                <a:latin typeface="Inter Bold"/>
                <a:ea typeface="Inter Bold"/>
              </a:rPr>
              <a:t>p(c) = |{r | r contains an ingredient in c}| / R</a:t>
            </a:r>
            <a:endParaRPr b="0" lang="en-US" sz="2060" spc="-1" strike="noStrike">
              <a:solidFill>
                <a:srgbClr val="ffffff"/>
              </a:solidFill>
              <a:latin typeface="Arial"/>
            </a:endParaRPr>
          </a:p>
          <a:p>
            <a:pPr algn="just" defTabSz="914400">
              <a:lnSpc>
                <a:spcPts val="2205"/>
              </a:lnSpc>
            </a:pPr>
            <a:endParaRPr b="0" lang="en-US" sz="1800" spc="-1" strike="noStrike">
              <a:solidFill>
                <a:srgbClr val="ffffff"/>
              </a:solidFill>
              <a:latin typeface="Arial"/>
            </a:endParaRPr>
          </a:p>
          <a:p>
            <a:pPr algn="just" defTabSz="914400">
              <a:lnSpc>
                <a:spcPts val="2205"/>
              </a:lnSpc>
            </a:pPr>
            <a:r>
              <a:rPr b="0" lang="en-US" sz="2060" spc="-1" strike="noStrike">
                <a:solidFill>
                  <a:srgbClr val="ffffff"/>
                </a:solidFill>
                <a:latin typeface="Inter"/>
                <a:ea typeface="Inter"/>
              </a:rPr>
              <a:t>Similarity Value for a Cluster: </a:t>
            </a:r>
            <a:r>
              <a:rPr b="0" lang="en-US" sz="2060" spc="-1" strike="noStrike">
                <a:solidFill>
                  <a:srgbClr val="ffffff"/>
                </a:solidFill>
                <a:latin typeface="Inter Bold"/>
                <a:ea typeface="Inter Bold"/>
              </a:rPr>
              <a:t>s_i = w'(c_i) * e^(-log p(c_i))</a:t>
            </a:r>
            <a:endParaRPr b="0" lang="en-US" sz="2060" spc="-1" strike="noStrike">
              <a:solidFill>
                <a:srgbClr val="ffffff"/>
              </a:solidFill>
              <a:latin typeface="Arial"/>
            </a:endParaRPr>
          </a:p>
          <a:p>
            <a:pPr algn="just" defTabSz="914400">
              <a:lnSpc>
                <a:spcPts val="2205"/>
              </a:lnSpc>
            </a:pPr>
            <a:endParaRPr b="0" lang="en-US" sz="1800" spc="-1" strike="noStrike">
              <a:solidFill>
                <a:srgbClr val="ffffff"/>
              </a:solidFill>
              <a:latin typeface="Arial"/>
            </a:endParaRPr>
          </a:p>
          <a:p>
            <a:pPr algn="just" defTabSz="914400">
              <a:lnSpc>
                <a:spcPts val="2205"/>
              </a:lnSpc>
            </a:pPr>
            <a:r>
              <a:rPr b="0" lang="en-US" sz="2060" spc="-1" strike="noStrike">
                <a:solidFill>
                  <a:srgbClr val="ffffff"/>
                </a:solidFill>
                <a:latin typeface="Inter"/>
                <a:ea typeface="Inter"/>
              </a:rPr>
              <a:t>Similarity of a Recipe to a Given Predicted Set of Ingredients: </a:t>
            </a:r>
            <a:r>
              <a:rPr b="0" lang="en-US" sz="2060" spc="-1" strike="noStrike">
                <a:solidFill>
                  <a:srgbClr val="ffffff"/>
                </a:solidFill>
                <a:latin typeface="Inter Bold"/>
                <a:ea typeface="Inter Bold"/>
              </a:rPr>
              <a:t>s_r = ∑ s_i</a:t>
            </a:r>
            <a:endParaRPr b="0" lang="en-US" sz="2060" spc="-1" strike="noStrike">
              <a:solidFill>
                <a:srgbClr val="ffffff"/>
              </a:solidFill>
              <a:latin typeface="Arial"/>
            </a:endParaRPr>
          </a:p>
          <a:p>
            <a:pPr algn="just" defTabSz="914400">
              <a:lnSpc>
                <a:spcPts val="2205"/>
              </a:lnSpc>
            </a:pPr>
            <a:endParaRPr b="0" lang="en-US" sz="1800" spc="-1" strike="noStrike">
              <a:solidFill>
                <a:srgbClr val="ffffff"/>
              </a:solidFill>
              <a:latin typeface="Arial"/>
            </a:endParaRPr>
          </a:p>
          <a:p>
            <a:pPr lvl="1" marL="444960" indent="-222480" algn="just" defTabSz="914400">
              <a:lnSpc>
                <a:spcPts val="2205"/>
              </a:lnSpc>
              <a:buClr>
                <a:srgbClr val="ffffff"/>
              </a:buClr>
              <a:buFont typeface="Arial"/>
              <a:buChar char="•"/>
            </a:pPr>
            <a:r>
              <a:rPr b="0" lang="en-US" sz="2060" spc="-1" strike="noStrike">
                <a:solidFill>
                  <a:srgbClr val="ffffff"/>
                </a:solidFill>
                <a:latin typeface="Inter"/>
                <a:ea typeface="Inter"/>
              </a:rPr>
              <a:t>The algorithm prioritizes recipes that contain ingredient clusters that are similar to the predicted clusters and have a high weight (i.e., are abundant in the recipe).</a:t>
            </a:r>
            <a:endParaRPr b="0" lang="en-US" sz="2060" spc="-1" strike="noStrike">
              <a:solidFill>
                <a:srgbClr val="ffffff"/>
              </a:solidFill>
              <a:latin typeface="Arial"/>
            </a:endParaRPr>
          </a:p>
          <a:p>
            <a:pPr lvl="1" marL="444960" indent="-222480" algn="just" defTabSz="914400">
              <a:lnSpc>
                <a:spcPts val="2205"/>
              </a:lnSpc>
              <a:buClr>
                <a:srgbClr val="ffffff"/>
              </a:buClr>
              <a:buFont typeface="Arial"/>
              <a:buChar char="•"/>
            </a:pPr>
            <a:r>
              <a:rPr b="0" lang="en-US" sz="2060" spc="-1" strike="noStrike">
                <a:solidFill>
                  <a:srgbClr val="ffffff"/>
                </a:solidFill>
                <a:latin typeface="Inter"/>
                <a:ea typeface="Inter"/>
              </a:rPr>
              <a:t>Rarer ingredient clusters are also given more weight in the similarity calculation, as they may be more distinctive and indicative of specific recipe types.</a:t>
            </a:r>
            <a:endParaRPr b="0" lang="en-US" sz="2060" spc="-1" strike="noStrike">
              <a:solidFill>
                <a:srgbClr val="ffffff"/>
              </a:solidFill>
              <a:latin typeface="Arial"/>
            </a:endParaRPr>
          </a:p>
          <a:p>
            <a:pPr lvl="1" marL="444960" indent="-222480" algn="just" defTabSz="914400">
              <a:lnSpc>
                <a:spcPts val="2205"/>
              </a:lnSpc>
              <a:buClr>
                <a:srgbClr val="ffffff"/>
              </a:buClr>
              <a:buFont typeface="Arial"/>
              <a:buChar char="•"/>
            </a:pPr>
            <a:r>
              <a:rPr b="0" lang="en-US" sz="2060" spc="-1" strike="noStrike">
                <a:solidFill>
                  <a:srgbClr val="ffffff"/>
                </a:solidFill>
                <a:latin typeface="Inter"/>
                <a:ea typeface="Inter"/>
              </a:rPr>
              <a:t>By combining these factors, the algorithm is able to effectively recommend recipes that are likely to match the user's preferences based on the given ingredients.</a:t>
            </a:r>
            <a:endParaRPr b="0" lang="en-US" sz="206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85" name="Group 2"/>
          <p:cNvGrpSpPr/>
          <p:nvPr/>
        </p:nvGrpSpPr>
        <p:grpSpPr>
          <a:xfrm>
            <a:off x="512280" y="507600"/>
            <a:ext cx="17263440" cy="9271440"/>
            <a:chOff x="512280" y="507600"/>
            <a:chExt cx="17263440" cy="9271440"/>
          </a:xfrm>
        </p:grpSpPr>
        <p:sp>
          <p:nvSpPr>
            <p:cNvPr id="186" name="Freeform 3"/>
            <p:cNvSpPr/>
            <p:nvPr/>
          </p:nvSpPr>
          <p:spPr>
            <a:xfrm>
              <a:off x="512280" y="507600"/>
              <a:ext cx="17263440" cy="9271080"/>
            </a:xfrm>
            <a:custGeom>
              <a:avLst/>
              <a:gdLst>
                <a:gd name="textAreaLeft" fmla="*/ 0 w 17263440"/>
                <a:gd name="textAreaRight" fmla="*/ 17263800 w 17263440"/>
                <a:gd name="textAreaTop" fmla="*/ 0 h 9271080"/>
                <a:gd name="textAreaBottom" fmla="*/ 9271440 h 9271080"/>
              </a:gdLst>
              <a:ahLst/>
              <a:rect l="textAreaLeft" t="textAreaTop" r="textAreaRight" b="textAreaBottom"/>
              <a:pathLst>
                <a:path w="4546827" h="2441871">
                  <a:moveTo>
                    <a:pt x="22871" y="0"/>
                  </a:moveTo>
                  <a:lnTo>
                    <a:pt x="4523956" y="0"/>
                  </a:lnTo>
                  <a:cubicBezTo>
                    <a:pt x="4536587" y="0"/>
                    <a:pt x="4546827" y="10240"/>
                    <a:pt x="4546827" y="22871"/>
                  </a:cubicBezTo>
                  <a:lnTo>
                    <a:pt x="4546827" y="2419001"/>
                  </a:lnTo>
                  <a:cubicBezTo>
                    <a:pt x="4546827" y="2425066"/>
                    <a:pt x="4544418" y="2430884"/>
                    <a:pt x="4540128" y="2435173"/>
                  </a:cubicBezTo>
                  <a:cubicBezTo>
                    <a:pt x="4535839" y="2439462"/>
                    <a:pt x="4530022" y="2441871"/>
                    <a:pt x="4523956" y="2441871"/>
                  </a:cubicBezTo>
                  <a:lnTo>
                    <a:pt x="22871" y="2441871"/>
                  </a:lnTo>
                  <a:cubicBezTo>
                    <a:pt x="10240" y="2441871"/>
                    <a:pt x="0" y="2431632"/>
                    <a:pt x="0" y="2419001"/>
                  </a:cubicBezTo>
                  <a:lnTo>
                    <a:pt x="0" y="22871"/>
                  </a:lnTo>
                  <a:cubicBezTo>
                    <a:pt x="0" y="10240"/>
                    <a:pt x="10240" y="0"/>
                    <a:pt x="22871" y="0"/>
                  </a:cubicBezTo>
                  <a:close/>
                </a:path>
              </a:pathLst>
            </a:custGeom>
            <a:gradFill rotWithShape="0">
              <a:gsLst>
                <a:gs pos="0">
                  <a:srgbClr val="626262">
                    <a:alpha val="24000"/>
                  </a:srgbClr>
                </a:gs>
                <a:gs pos="50000">
                  <a:srgbClr val="1b1b1b"/>
                </a:gs>
                <a:gs pos="100000">
                  <a:srgbClr val="1b1b1b"/>
                </a:gs>
              </a:gsLst>
              <a:lin ang="13500000"/>
            </a:grad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87" name="TextBox 4"/>
            <p:cNvSpPr/>
            <p:nvPr/>
          </p:nvSpPr>
          <p:spPr>
            <a:xfrm>
              <a:off x="512280" y="616320"/>
              <a:ext cx="17263440" cy="91627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1800"/>
                </a:lnSpc>
                <a:tabLst>
                  <a:tab algn="l" pos="0"/>
                </a:tabLst>
              </a:pPr>
              <a:endParaRPr b="0" lang="en-US" sz="1800" spc="-1" strike="noStrike">
                <a:solidFill>
                  <a:schemeClr val="dk1"/>
                </a:solidFill>
                <a:latin typeface="Calibri"/>
              </a:endParaRPr>
            </a:p>
          </p:txBody>
        </p:sp>
      </p:grpSp>
      <p:sp>
        <p:nvSpPr>
          <p:cNvPr id="188" name="TextBox 5"/>
          <p:cNvSpPr/>
          <p:nvPr/>
        </p:nvSpPr>
        <p:spPr>
          <a:xfrm>
            <a:off x="5599080" y="1320480"/>
            <a:ext cx="7089480" cy="3392640"/>
          </a:xfrm>
          <a:prstGeom prst="rect">
            <a:avLst/>
          </a:prstGeom>
          <a:noFill/>
          <a:ln w="0">
            <a:noFill/>
          </a:ln>
        </p:spPr>
        <p:style>
          <a:lnRef idx="0"/>
          <a:fillRef idx="0"/>
          <a:effectRef idx="0"/>
          <a:fontRef idx="minor"/>
        </p:style>
        <p:txBody>
          <a:bodyPr lIns="0" rIns="0" tIns="0" bIns="0" anchor="t">
            <a:spAutoFit/>
          </a:bodyPr>
          <a:p>
            <a:pPr algn="ctr" defTabSz="914400">
              <a:lnSpc>
                <a:spcPts val="26711"/>
              </a:lnSpc>
              <a:tabLst>
                <a:tab algn="l" pos="0"/>
              </a:tabLst>
            </a:pPr>
            <a:r>
              <a:rPr b="0" lang="en-US" sz="26710" spc="-1" strike="noStrike">
                <a:solidFill>
                  <a:srgbClr val="ffffff"/>
                </a:solidFill>
                <a:latin typeface="Inter Bold"/>
                <a:ea typeface="Inter Bold"/>
              </a:rPr>
              <a:t>“</a:t>
            </a:r>
            <a:endParaRPr b="0" lang="en-US" sz="26710" spc="-1" strike="noStrike">
              <a:solidFill>
                <a:srgbClr val="ffffff"/>
              </a:solidFill>
              <a:latin typeface="Arial"/>
            </a:endParaRPr>
          </a:p>
        </p:txBody>
      </p:sp>
      <p:sp>
        <p:nvSpPr>
          <p:cNvPr id="189" name="TextBox 6"/>
          <p:cNvSpPr/>
          <p:nvPr/>
        </p:nvSpPr>
        <p:spPr>
          <a:xfrm>
            <a:off x="3021840" y="3426120"/>
            <a:ext cx="13111200" cy="4493160"/>
          </a:xfrm>
          <a:prstGeom prst="rect">
            <a:avLst/>
          </a:prstGeom>
          <a:noFill/>
          <a:ln w="0">
            <a:noFill/>
          </a:ln>
        </p:spPr>
        <p:style>
          <a:lnRef idx="0"/>
          <a:fillRef idx="0"/>
          <a:effectRef idx="0"/>
          <a:fontRef idx="minor"/>
        </p:style>
        <p:txBody>
          <a:bodyPr lIns="0" rIns="0" tIns="0" bIns="0" anchor="t">
            <a:spAutoFit/>
          </a:bodyPr>
          <a:p>
            <a:pPr algn="ctr" defTabSz="914400">
              <a:lnSpc>
                <a:spcPts val="7537"/>
              </a:lnSpc>
            </a:pPr>
            <a:r>
              <a:rPr b="0" lang="en-US" sz="5890" spc="-1" strike="noStrike">
                <a:solidFill>
                  <a:srgbClr val="ffffff"/>
                </a:solidFill>
                <a:latin typeface="Inter Bold"/>
                <a:ea typeface="Inter Bold"/>
              </a:rPr>
              <a:t>Cooking is an art, but all art requires knowing something about the techniques and materials.</a:t>
            </a:r>
            <a:endParaRPr b="0" lang="en-US" sz="5890" spc="-1" strike="noStrike">
              <a:solidFill>
                <a:srgbClr val="ffffff"/>
              </a:solidFill>
              <a:latin typeface="Arial"/>
            </a:endParaRPr>
          </a:p>
          <a:p>
            <a:pPr algn="ctr" defTabSz="914400">
              <a:lnSpc>
                <a:spcPts val="7537"/>
              </a:lnSpc>
            </a:pPr>
            <a:endParaRPr b="0" lang="en-US" sz="1800" spc="-1" strike="noStrike">
              <a:solidFill>
                <a:srgbClr val="ffffff"/>
              </a:solidFill>
              <a:latin typeface="Arial"/>
            </a:endParaRPr>
          </a:p>
          <a:p>
            <a:pPr algn="r" defTabSz="914400">
              <a:lnSpc>
                <a:spcPts val="5233"/>
              </a:lnSpc>
              <a:tabLst>
                <a:tab algn="l" pos="0"/>
              </a:tabLst>
            </a:pPr>
            <a:r>
              <a:rPr b="0" lang="en-US" sz="4090" spc="-1" strike="noStrike">
                <a:solidFill>
                  <a:srgbClr val="ffffff"/>
                </a:solidFill>
                <a:latin typeface="Inter"/>
                <a:ea typeface="Inter"/>
              </a:rPr>
              <a:t>— </a:t>
            </a:r>
            <a:r>
              <a:rPr b="0" lang="en-US" sz="4090" spc="-1" strike="noStrike">
                <a:solidFill>
                  <a:srgbClr val="ffffff"/>
                </a:solidFill>
                <a:latin typeface="Inter"/>
                <a:ea typeface="Inter"/>
              </a:rPr>
              <a:t>Nathan Myhrvold</a:t>
            </a:r>
            <a:endParaRPr b="0" lang="en-US" sz="4090" spc="-1" strike="noStrike">
              <a:solidFill>
                <a:srgbClr val="ffffff"/>
              </a:solidFill>
              <a:latin typeface="Arial"/>
            </a:endParaRPr>
          </a:p>
        </p:txBody>
      </p:sp>
    </p:spTree>
  </p:cSld>
  <p:transition spd="slow">
    <p:fade/>
  </p:transition>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90" name="Group 2"/>
          <p:cNvGrpSpPr/>
          <p:nvPr/>
        </p:nvGrpSpPr>
        <p:grpSpPr>
          <a:xfrm>
            <a:off x="6306120" y="131040"/>
            <a:ext cx="6297120" cy="2611080"/>
            <a:chOff x="6306120" y="131040"/>
            <a:chExt cx="6297120" cy="2611080"/>
          </a:xfrm>
        </p:grpSpPr>
        <p:sp>
          <p:nvSpPr>
            <p:cNvPr id="191" name="Freeform 3"/>
            <p:cNvSpPr/>
            <p:nvPr/>
          </p:nvSpPr>
          <p:spPr>
            <a:xfrm>
              <a:off x="6306120" y="239400"/>
              <a:ext cx="6297120" cy="2502720"/>
            </a:xfrm>
            <a:custGeom>
              <a:avLst/>
              <a:gdLst>
                <a:gd name="textAreaLeft" fmla="*/ 0 w 6297120"/>
                <a:gd name="textAreaRight" fmla="*/ 6297480 w 6297120"/>
                <a:gd name="textAreaTop" fmla="*/ 0 h 2502720"/>
                <a:gd name="textAreaBottom" fmla="*/ 2503080 h 2502720"/>
              </a:gdLst>
              <a:ahLst/>
              <a:rect l="textAreaLeft" t="textAreaTop" r="textAreaRight" b="textAreaBottom"/>
              <a:pathLst>
                <a:path w="1658589" h="659257">
                  <a:moveTo>
                    <a:pt x="29505" y="0"/>
                  </a:moveTo>
                  <a:lnTo>
                    <a:pt x="1629084" y="0"/>
                  </a:lnTo>
                  <a:cubicBezTo>
                    <a:pt x="1636910" y="0"/>
                    <a:pt x="1644414" y="3109"/>
                    <a:pt x="1649948" y="8642"/>
                  </a:cubicBezTo>
                  <a:cubicBezTo>
                    <a:pt x="1655481" y="14175"/>
                    <a:pt x="1658589" y="21680"/>
                    <a:pt x="1658589" y="29505"/>
                  </a:cubicBezTo>
                  <a:lnTo>
                    <a:pt x="1658589" y="629752"/>
                  </a:lnTo>
                  <a:cubicBezTo>
                    <a:pt x="1658589" y="637577"/>
                    <a:pt x="1655481" y="645082"/>
                    <a:pt x="1649948" y="650615"/>
                  </a:cubicBezTo>
                  <a:cubicBezTo>
                    <a:pt x="1644414" y="656149"/>
                    <a:pt x="1636910" y="659257"/>
                    <a:pt x="1629084" y="659257"/>
                  </a:cubicBezTo>
                  <a:lnTo>
                    <a:pt x="29505" y="659257"/>
                  </a:lnTo>
                  <a:cubicBezTo>
                    <a:pt x="21680" y="659257"/>
                    <a:pt x="14175" y="656149"/>
                    <a:pt x="8642" y="650615"/>
                  </a:cubicBezTo>
                  <a:cubicBezTo>
                    <a:pt x="3109" y="645082"/>
                    <a:pt x="0" y="637577"/>
                    <a:pt x="0" y="629752"/>
                  </a:cubicBezTo>
                  <a:lnTo>
                    <a:pt x="0" y="29505"/>
                  </a:lnTo>
                  <a:cubicBezTo>
                    <a:pt x="0" y="21680"/>
                    <a:pt x="3109" y="14175"/>
                    <a:pt x="8642" y="8642"/>
                  </a:cubicBezTo>
                  <a:cubicBezTo>
                    <a:pt x="14175" y="3109"/>
                    <a:pt x="21680" y="0"/>
                    <a:pt x="29505" y="0"/>
                  </a:cubicBezTo>
                  <a:close/>
                </a:path>
              </a:pathLst>
            </a:custGeom>
            <a:noFill/>
            <a:ln cap="rnd" w="19050">
              <a:solidFill>
                <a:srgbClr val="242424"/>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TextBox 4"/>
            <p:cNvSpPr/>
            <p:nvPr/>
          </p:nvSpPr>
          <p:spPr>
            <a:xfrm>
              <a:off x="6306120" y="131040"/>
              <a:ext cx="6297120" cy="26110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466"/>
                </a:lnSpc>
              </a:pPr>
              <a:endParaRPr b="0" lang="en-US" sz="1800" spc="-1" strike="noStrike">
                <a:solidFill>
                  <a:schemeClr val="dk1"/>
                </a:solidFill>
                <a:latin typeface="Calibri"/>
              </a:endParaRPr>
            </a:p>
          </p:txBody>
        </p:sp>
      </p:grpSp>
      <p:sp>
        <p:nvSpPr>
          <p:cNvPr id="193" name="TextBox 5"/>
          <p:cNvSpPr/>
          <p:nvPr/>
        </p:nvSpPr>
        <p:spPr>
          <a:xfrm>
            <a:off x="2046240" y="2434680"/>
            <a:ext cx="15454800" cy="5853240"/>
          </a:xfrm>
          <a:prstGeom prst="rect">
            <a:avLst/>
          </a:prstGeom>
          <a:noFill/>
          <a:ln w="0">
            <a:noFill/>
          </a:ln>
        </p:spPr>
        <p:style>
          <a:lnRef idx="0"/>
          <a:fillRef idx="0"/>
          <a:effectRef idx="0"/>
          <a:fontRef idx="minor"/>
        </p:style>
        <p:txBody>
          <a:bodyPr lIns="0" rIns="0" tIns="0" bIns="0" anchor="t">
            <a:spAutoFit/>
          </a:bodyPr>
          <a:p>
            <a:pPr defTabSz="914400">
              <a:lnSpc>
                <a:spcPts val="3841"/>
              </a:lnSpc>
            </a:pPr>
            <a:r>
              <a:rPr b="0" lang="en-US" sz="2870" spc="-1" strike="noStrike">
                <a:solidFill>
                  <a:srgbClr val="ffffff"/>
                </a:solidFill>
                <a:latin typeface="Inter"/>
                <a:ea typeface="Inter"/>
              </a:rPr>
              <a:t>Be My Chef represents a significant advancement in how we approach cooking and meal planning. By leveraging advanced AI and machine learning technologies, it offers users a personalized and intuitive way to discover new recipes that align with their dietary preferences and available ingredients</a:t>
            </a:r>
            <a:endParaRPr b="0" lang="en-US" sz="2870" spc="-1" strike="noStrike">
              <a:solidFill>
                <a:srgbClr val="ffffff"/>
              </a:solidFill>
              <a:latin typeface="Arial"/>
            </a:endParaRPr>
          </a:p>
          <a:p>
            <a:pPr defTabSz="914400">
              <a:lnSpc>
                <a:spcPts val="3841"/>
              </a:lnSpc>
            </a:pPr>
            <a:endParaRPr b="0" lang="en-US" sz="1800" spc="-1" strike="noStrike">
              <a:solidFill>
                <a:srgbClr val="ffffff"/>
              </a:solidFill>
              <a:latin typeface="Arial"/>
            </a:endParaRPr>
          </a:p>
          <a:p>
            <a:pPr defTabSz="914400">
              <a:lnSpc>
                <a:spcPts val="3841"/>
              </a:lnSpc>
              <a:tabLst>
                <a:tab algn="l" pos="0"/>
              </a:tabLst>
            </a:pPr>
            <a:r>
              <a:rPr b="0" lang="en-US" sz="2870" spc="-1" strike="noStrike">
                <a:solidFill>
                  <a:srgbClr val="ffffff"/>
                </a:solidFill>
                <a:latin typeface="Inter"/>
                <a:ea typeface="Inter"/>
              </a:rPr>
              <a:t>This app not only saves time and reduces food waste but also inspires culinary creativity and ensures that meal preparation is convenient and enjoyable. As we continue to refine and enhance the features of Be My Chef, we aim to revolutionize the home cooking experience, making it more accessible, diverse, and sustainable for everyone. We are excited about the potential of this project to transform kitchens and mealtimes around the world, and we look forward to your support and feedback as we bring this innovative solution to life.</a:t>
            </a:r>
            <a:endParaRPr b="0" lang="en-US" sz="2870" spc="-1" strike="noStrike">
              <a:solidFill>
                <a:srgbClr val="ffffff"/>
              </a:solidFill>
              <a:latin typeface="Arial"/>
            </a:endParaRPr>
          </a:p>
        </p:txBody>
      </p:sp>
      <p:sp>
        <p:nvSpPr>
          <p:cNvPr id="194" name="TextBox 6"/>
          <p:cNvSpPr/>
          <p:nvPr/>
        </p:nvSpPr>
        <p:spPr>
          <a:xfrm>
            <a:off x="5173200" y="68040"/>
            <a:ext cx="7941600" cy="1635480"/>
          </a:xfrm>
          <a:prstGeom prst="rect">
            <a:avLst/>
          </a:prstGeom>
          <a:noFill/>
          <a:ln w="0">
            <a:noFill/>
          </a:ln>
        </p:spPr>
        <p:style>
          <a:lnRef idx="0"/>
          <a:fillRef idx="0"/>
          <a:effectRef idx="0"/>
          <a:fontRef idx="minor"/>
        </p:style>
        <p:txBody>
          <a:bodyPr lIns="0" rIns="0" tIns="0" bIns="0" anchor="t">
            <a:spAutoFit/>
          </a:bodyPr>
          <a:p>
            <a:pPr algn="ctr" defTabSz="914400">
              <a:lnSpc>
                <a:spcPts val="12881"/>
              </a:lnSpc>
            </a:pPr>
            <a:r>
              <a:rPr b="0" lang="en-US" sz="9200" spc="-1" strike="noStrike">
                <a:solidFill>
                  <a:srgbClr val="12bbfe"/>
                </a:solidFill>
                <a:latin typeface="Canva Sans Bold"/>
                <a:ea typeface="Canva Sans Bold"/>
              </a:rPr>
              <a:t>CONCLUSION</a:t>
            </a:r>
            <a:endParaRPr b="0" lang="en-US" sz="9200" spc="-1" strike="noStrike">
              <a:solidFill>
                <a:srgbClr val="ffffff"/>
              </a:solidFill>
              <a:latin typeface="Arial"/>
            </a:endParaRPr>
          </a:p>
        </p:txBody>
      </p:sp>
    </p:spTree>
  </p:cSld>
  <p:transition spd="slow">
    <p:fade/>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95" name="TextBox 2"/>
          <p:cNvSpPr/>
          <p:nvPr/>
        </p:nvSpPr>
        <p:spPr>
          <a:xfrm>
            <a:off x="5664600" y="-171360"/>
            <a:ext cx="7551360" cy="1635480"/>
          </a:xfrm>
          <a:prstGeom prst="rect">
            <a:avLst/>
          </a:prstGeom>
          <a:noFill/>
          <a:ln w="0">
            <a:noFill/>
          </a:ln>
        </p:spPr>
        <p:style>
          <a:lnRef idx="0"/>
          <a:fillRef idx="0"/>
          <a:effectRef idx="0"/>
          <a:fontRef idx="minor"/>
        </p:style>
        <p:txBody>
          <a:bodyPr lIns="0" rIns="0" tIns="0" bIns="0" anchor="t">
            <a:spAutoFit/>
          </a:bodyPr>
          <a:p>
            <a:pPr algn="ctr" defTabSz="914400">
              <a:lnSpc>
                <a:spcPts val="12881"/>
              </a:lnSpc>
            </a:pPr>
            <a:r>
              <a:rPr b="0" lang="en-US" sz="9200" spc="-1" strike="noStrike">
                <a:solidFill>
                  <a:srgbClr val="ff914d"/>
                </a:solidFill>
                <a:latin typeface="Canva Sans Bold"/>
                <a:ea typeface="Canva Sans Bold"/>
              </a:rPr>
              <a:t>REFERENCES</a:t>
            </a:r>
            <a:endParaRPr b="0" lang="en-US" sz="9200" spc="-1" strike="noStrike">
              <a:solidFill>
                <a:srgbClr val="ffffff"/>
              </a:solidFill>
              <a:latin typeface="Arial"/>
            </a:endParaRPr>
          </a:p>
        </p:txBody>
      </p:sp>
      <p:sp>
        <p:nvSpPr>
          <p:cNvPr id="196" name="TextBox 3"/>
          <p:cNvSpPr/>
          <p:nvPr/>
        </p:nvSpPr>
        <p:spPr>
          <a:xfrm>
            <a:off x="835200" y="1901160"/>
            <a:ext cx="8308440" cy="8078760"/>
          </a:xfrm>
          <a:prstGeom prst="rect">
            <a:avLst/>
          </a:prstGeom>
          <a:noFill/>
          <a:ln w="0">
            <a:noFill/>
          </a:ln>
        </p:spPr>
        <p:style>
          <a:lnRef idx="0"/>
          <a:fillRef idx="0"/>
          <a:effectRef idx="0"/>
          <a:fontRef idx="minor"/>
        </p:style>
        <p:txBody>
          <a:bodyPr lIns="0" rIns="0" tIns="0" bIns="0" anchor="t">
            <a:spAutoFit/>
          </a:bodyPr>
          <a:p>
            <a:pPr algn="just" defTabSz="914400">
              <a:lnSpc>
                <a:spcPts val="1928"/>
              </a:lnSpc>
            </a:pPr>
            <a:endParaRPr b="0" lang="en-US" sz="180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[1] Lukas Bossard, Matthieu Guillaumin, and Luc Van Gool. Food-101–</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mining discriminative components with random forests. In European</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conference on computer vision, pages 446–461. Springer, 2014.</a:t>
            </a:r>
            <a:endParaRPr b="0" lang="en-US" sz="1920" spc="-1" strike="noStrike">
              <a:solidFill>
                <a:srgbClr val="ffffff"/>
              </a:solidFill>
              <a:latin typeface="Arial"/>
            </a:endParaRPr>
          </a:p>
          <a:p>
            <a:pPr algn="just" defTabSz="914400">
              <a:lnSpc>
                <a:spcPts val="1928"/>
              </a:lnSpc>
            </a:pPr>
            <a:endParaRPr b="0" lang="en-US" sz="180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[2] Micael Carvalho, R ́emi Cad`ene, David Picard, Laure Soulier, Nicolas</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Thome, and Matthieu Cord. Cross-modal retrieval in the cooking</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context: Learning semantic text-image embeddings. In The 41st In-</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ternational ACM SIGIR Conference on Research &amp; Development in</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Information Retrieval, pages 35–44, 2018.</a:t>
            </a:r>
            <a:endParaRPr b="0" lang="en-US" sz="1920" spc="-1" strike="noStrike">
              <a:solidFill>
                <a:srgbClr val="ffffff"/>
              </a:solidFill>
              <a:latin typeface="Arial"/>
            </a:endParaRPr>
          </a:p>
          <a:p>
            <a:pPr algn="just" defTabSz="914400">
              <a:lnSpc>
                <a:spcPts val="1928"/>
              </a:lnSpc>
            </a:pPr>
            <a:endParaRPr b="0" lang="en-US" sz="180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[3] Jing-jing Chen, Chong-Wah Ngo, and Tat-Seng Chua. Cross-modal</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recipe retrieval with rich food attributes. In Proceedings of the 25th</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ACM international conference on Multimedia, pages 1771–1779, 2017.</a:t>
            </a:r>
            <a:endParaRPr b="0" lang="en-US" sz="1920" spc="-1" strike="noStrike">
              <a:solidFill>
                <a:srgbClr val="ffffff"/>
              </a:solidFill>
              <a:latin typeface="Arial"/>
            </a:endParaRPr>
          </a:p>
          <a:p>
            <a:pPr algn="just" defTabSz="914400">
              <a:lnSpc>
                <a:spcPts val="1928"/>
              </a:lnSpc>
            </a:pPr>
            <a:endParaRPr b="0" lang="en-US" sz="180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[4] Jing-Jing Chen, Chong-Wah Ngo, Fu-Li Feng, and Tat-Seng Chua. Deep</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understanding of cooking procedure for cross-modal recipe retrieval. In</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Proceedings of the 26th ACM international conference on Multimedia,</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pages 1020–1028, 2018.</a:t>
            </a:r>
            <a:endParaRPr b="0" lang="en-US" sz="1920" spc="-1" strike="noStrike">
              <a:solidFill>
                <a:srgbClr val="ffffff"/>
              </a:solidFill>
              <a:latin typeface="Arial"/>
            </a:endParaRPr>
          </a:p>
          <a:p>
            <a:pPr algn="just" defTabSz="914400">
              <a:lnSpc>
                <a:spcPts val="1928"/>
              </a:lnSpc>
            </a:pPr>
            <a:endParaRPr b="0" lang="en-US" sz="180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[5] Mei Chen, Kapil Dhingra, Wen Wu, Lei Yang, Rahul Sukthankar, and</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Jie Yang. Pfid: Pittsburgh fast-food image dataset. In 2009 16th IEEE</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International Conference on Image Processing (ICIP), pages 289–292.</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IEEE, 2009.</a:t>
            </a:r>
            <a:endParaRPr b="0" lang="en-US" sz="1920" spc="-1" strike="noStrike">
              <a:solidFill>
                <a:srgbClr val="ffffff"/>
              </a:solidFill>
              <a:latin typeface="Arial"/>
            </a:endParaRPr>
          </a:p>
          <a:p>
            <a:pPr algn="just" defTabSz="914400">
              <a:lnSpc>
                <a:spcPts val="1928"/>
              </a:lnSpc>
            </a:pPr>
            <a:endParaRPr b="0" lang="en-US" sz="180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[6] Gianluigi Ciocca, Paolo Napoletano, and Raimondo Schettini. Food</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recognition: a new dataset, experiments, and results. IEEE journal of</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biomedical and health informatics, 21(3):588–598, 2016.</a:t>
            </a:r>
            <a:endParaRPr b="0" lang="en-US" sz="1920" spc="-1" strike="noStrike">
              <a:solidFill>
                <a:srgbClr val="ffffff"/>
              </a:solidFill>
              <a:latin typeface="Arial"/>
            </a:endParaRPr>
          </a:p>
          <a:p>
            <a:pPr algn="just" defTabSz="914400">
              <a:lnSpc>
                <a:spcPts val="1928"/>
              </a:lnSpc>
            </a:pPr>
            <a:endParaRPr b="0" lang="en-US" sz="180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[7] Jia Deng, Wei Dong, Richard Socher, Li-Jia Li, Kai Li, and Li Fei-</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Fei. Imagenet: A large-scale hierarchical image database. In 2009 IEEE</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conference on computer vision and pattern recognition, pages 248–255.</a:t>
            </a:r>
            <a:endParaRPr b="0" lang="en-US" sz="1920" spc="-1" strike="noStrike">
              <a:solidFill>
                <a:srgbClr val="ffffff"/>
              </a:solidFill>
              <a:latin typeface="Arial"/>
            </a:endParaRPr>
          </a:p>
          <a:p>
            <a:pPr algn="just" defTabSz="914400">
              <a:lnSpc>
                <a:spcPts val="1928"/>
              </a:lnSpc>
            </a:pPr>
            <a:r>
              <a:rPr b="0" lang="en-US" sz="1920" spc="-80" strike="noStrike">
                <a:solidFill>
                  <a:srgbClr val="ffffff"/>
                </a:solidFill>
                <a:latin typeface="Inter"/>
                <a:ea typeface="Inter"/>
              </a:rPr>
              <a:t>Ieee, 2009.</a:t>
            </a:r>
            <a:endParaRPr b="0" lang="en-US" sz="1920" spc="-1" strike="noStrike">
              <a:solidFill>
                <a:srgbClr val="ffffff"/>
              </a:solidFill>
              <a:latin typeface="Arial"/>
            </a:endParaRPr>
          </a:p>
        </p:txBody>
      </p:sp>
      <p:sp>
        <p:nvSpPr>
          <p:cNvPr id="197" name="TextBox 4"/>
          <p:cNvSpPr/>
          <p:nvPr/>
        </p:nvSpPr>
        <p:spPr>
          <a:xfrm>
            <a:off x="9027360" y="2026440"/>
            <a:ext cx="8231760" cy="7946280"/>
          </a:xfrm>
          <a:prstGeom prst="rect">
            <a:avLst/>
          </a:prstGeom>
          <a:noFill/>
          <a:ln w="0">
            <a:noFill/>
          </a:ln>
        </p:spPr>
        <p:style>
          <a:lnRef idx="0"/>
          <a:fillRef idx="0"/>
          <a:effectRef idx="0"/>
          <a:fontRef idx="minor"/>
        </p:style>
        <p:txBody>
          <a:bodyPr lIns="0" rIns="0" tIns="0" bIns="0" anchor="t">
            <a:spAutoFit/>
          </a:bodyPr>
          <a:p>
            <a:pPr algn="just" defTabSz="914400">
              <a:lnSpc>
                <a:spcPts val="2018"/>
              </a:lnSpc>
            </a:pPr>
            <a:r>
              <a:rPr b="0" lang="en-US" sz="2020" spc="-86" strike="noStrike">
                <a:solidFill>
                  <a:srgbClr val="ffffff"/>
                </a:solidFill>
                <a:latin typeface="Inter"/>
                <a:ea typeface="Inter"/>
              </a:rPr>
              <a:t>[8] Shaobo Fang, Chang Liu, Fengqing Zhu, Edward J Delp, and Carol J</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Boushey. Single-view food portion estimation based on geometric</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models. In 2015 IEEE International Symposium on Multimedia (ISM),</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pages 385–390. IEEE, 2015.</a:t>
            </a:r>
            <a:endParaRPr b="0" lang="en-US" sz="2020" spc="-1" strike="noStrike">
              <a:solidFill>
                <a:srgbClr val="ffffff"/>
              </a:solidFill>
              <a:latin typeface="Arial"/>
            </a:endParaRPr>
          </a:p>
          <a:p>
            <a:pPr algn="just" defTabSz="914400">
              <a:lnSpc>
                <a:spcPts val="2018"/>
              </a:lnSpc>
            </a:pPr>
            <a:endParaRPr b="0" lang="en-US" sz="180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[9] Erica Greene. Extracting structured data from recipes using conditional</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random fields, Apr 2015.</a:t>
            </a:r>
            <a:endParaRPr b="0" lang="en-US" sz="2020" spc="-1" strike="noStrike">
              <a:solidFill>
                <a:srgbClr val="ffffff"/>
              </a:solidFill>
              <a:latin typeface="Arial"/>
            </a:endParaRPr>
          </a:p>
          <a:p>
            <a:pPr algn="just" defTabSz="914400">
              <a:lnSpc>
                <a:spcPts val="2018"/>
              </a:lnSpc>
            </a:pPr>
            <a:endParaRPr b="0" lang="en-US" sz="180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[10] Hamid Hassannejad, Guido Matrella, Paolo Ciampolini, Ilaria De Mu-</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nari, Monica Mordonini, and Stefano Cagnoni. Food image recognition</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using very deep convolutional networks. In Proceedings of the 2nd</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International Workshop on Multimedia Assisted Dietary Management,</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pages 41–49, 2016.</a:t>
            </a:r>
            <a:endParaRPr b="0" lang="en-US" sz="2020" spc="-1" strike="noStrike">
              <a:solidFill>
                <a:srgbClr val="ffffff"/>
              </a:solidFill>
              <a:latin typeface="Arial"/>
            </a:endParaRPr>
          </a:p>
          <a:p>
            <a:pPr algn="just" defTabSz="914400">
              <a:lnSpc>
                <a:spcPts val="2018"/>
              </a:lnSpc>
            </a:pPr>
            <a:endParaRPr b="0" lang="en-US" sz="180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[11] Kaiming He, Xiangyu Zhang, Shaoqing Ren, and Jian Sun. Deep</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residual learning for image recognition. In Proceedings of the IEEE</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conference on computer vision and pattern recognition, pages 770–778,</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2016.</a:t>
            </a:r>
            <a:endParaRPr b="0" lang="en-US" sz="2020" spc="-1" strike="noStrike">
              <a:solidFill>
                <a:srgbClr val="ffffff"/>
              </a:solidFill>
              <a:latin typeface="Arial"/>
            </a:endParaRPr>
          </a:p>
          <a:p>
            <a:pPr algn="just" defTabSz="914400">
              <a:lnSpc>
                <a:spcPts val="2018"/>
              </a:lnSpc>
            </a:pPr>
            <a:endParaRPr b="0" lang="en-US" sz="180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[12] Ye He, Chang Xu, Nitin Khanna, Carol J Boushey, and Edward J</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Delp. Context based food image analysis. In 2013 IEEE International</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Conference on Image Processing, pages 2748–2752. IEEE, 2013.</a:t>
            </a:r>
            <a:endParaRPr b="0" lang="en-US" sz="2020" spc="-1" strike="noStrike">
              <a:solidFill>
                <a:srgbClr val="ffffff"/>
              </a:solidFill>
              <a:latin typeface="Arial"/>
            </a:endParaRPr>
          </a:p>
          <a:p>
            <a:pPr algn="just" defTabSz="914400">
              <a:lnSpc>
                <a:spcPts val="2018"/>
              </a:lnSpc>
            </a:pPr>
            <a:endParaRPr b="0" lang="en-US" sz="180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[13] Luis Herranz, Weiqing Min, and Shuqiang Jiang. Food recognition</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and recipe analysis: integrating visual content, context and external</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knowledge. arXiv preprint arXiv:1801.07239, 2018.</a:t>
            </a:r>
            <a:endParaRPr b="0" lang="en-US" sz="2020" spc="-1" strike="noStrike">
              <a:solidFill>
                <a:srgbClr val="ffffff"/>
              </a:solidFill>
              <a:latin typeface="Arial"/>
            </a:endParaRPr>
          </a:p>
          <a:p>
            <a:pPr algn="just" defTabSz="914400">
              <a:lnSpc>
                <a:spcPts val="2018"/>
              </a:lnSpc>
            </a:pPr>
            <a:endParaRPr b="0" lang="en-US" sz="180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[14] Gao Huang, Zhuang Liu, Laurens Van Der Maaten, and Kilian Q</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Weinberger. Densely connected convolutional networks. In Proceedings</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of the IEEE conference on computer vision and pattern recognition,</a:t>
            </a:r>
            <a:endParaRPr b="0" lang="en-US" sz="2020" spc="-1" strike="noStrike">
              <a:solidFill>
                <a:srgbClr val="ffffff"/>
              </a:solidFill>
              <a:latin typeface="Arial"/>
            </a:endParaRPr>
          </a:p>
          <a:p>
            <a:pPr algn="just" defTabSz="914400">
              <a:lnSpc>
                <a:spcPts val="2018"/>
              </a:lnSpc>
            </a:pPr>
            <a:r>
              <a:rPr b="0" lang="en-US" sz="2020" spc="-86" strike="noStrike">
                <a:solidFill>
                  <a:srgbClr val="ffffff"/>
                </a:solidFill>
                <a:latin typeface="Inter"/>
                <a:ea typeface="Inter"/>
              </a:rPr>
              <a:t>pages 4700–4708, 2017.</a:t>
            </a:r>
            <a:endParaRPr b="0" lang="en-US" sz="202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LibreOffice/24.2.5.2$Linux_X86_64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DAGMAydHJxs</dc:identifier>
  <dc:language>en-US</dc:language>
  <cp:lastModifiedBy/>
  <dcterms:modified xsi:type="dcterms:W3CDTF">2024-09-07T11:30:34Z</dcterms:modified>
  <cp:revision>2</cp:revision>
  <dc:subject/>
  <dc:title>Seminar</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