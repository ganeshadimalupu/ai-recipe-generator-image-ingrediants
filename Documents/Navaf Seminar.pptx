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Canva Sans Bold" charset="1" panose="020B0803030501040103"/>
      <p:regular r:id="rId38"/>
    </p:embeddedFont>
    <p:embeddedFont>
      <p:font typeface="Inter Bold" charset="1" panose="020B0802030000000004"/>
      <p:regular r:id="rId39"/>
    </p:embeddedFont>
    <p:embeddedFont>
      <p:font typeface="Canva Sans" charset="1" panose="020B0503030501040103"/>
      <p:regular r:id="rId40"/>
    </p:embeddedFont>
    <p:embeddedFont>
      <p:font typeface="Times New Roman Bold" charset="1" panose="02030802070405020303"/>
      <p:regular r:id="rId41"/>
    </p:embeddedFont>
    <p:embeddedFont>
      <p:font typeface="Times New Roman" charset="1" panose="02030502070405020303"/>
      <p:regular r:id="rId42"/>
    </p:embeddedFont>
    <p:embeddedFont>
      <p:font typeface="Inter" charset="1" panose="020B0502030000000004"/>
      <p:regular r:id="rId43"/>
    </p:embeddedFont>
    <p:embeddedFont>
      <p:font typeface="Oswald Bold" charset="1" panose="0000080000000000000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VAGSCO7NGa0.mp4" Type="http://schemas.openxmlformats.org/officeDocument/2006/relationships/video"/><Relationship Id="rId4" Target="../media/VAGSCO7NGa0.mp4" Type="http://schemas.microsoft.com/office/2007/relationships/media"/></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55965" y="379518"/>
            <a:ext cx="1298365" cy="1298365"/>
          </a:xfrm>
          <a:custGeom>
            <a:avLst/>
            <a:gdLst/>
            <a:ahLst/>
            <a:cxnLst/>
            <a:rect r="r" b="b" t="t" l="l"/>
            <a:pathLst>
              <a:path h="1298365" w="1298365">
                <a:moveTo>
                  <a:pt x="0" y="0"/>
                </a:moveTo>
                <a:lnTo>
                  <a:pt x="1298364" y="0"/>
                </a:lnTo>
                <a:lnTo>
                  <a:pt x="1298364" y="1298364"/>
                </a:lnTo>
                <a:lnTo>
                  <a:pt x="0" y="1298364"/>
                </a:lnTo>
                <a:lnTo>
                  <a:pt x="0" y="0"/>
                </a:lnTo>
                <a:close/>
              </a:path>
            </a:pathLst>
          </a:custGeom>
          <a:blipFill>
            <a:blip r:embed="rId2"/>
            <a:stretch>
              <a:fillRect l="0" t="0" r="0" b="0"/>
            </a:stretch>
          </a:blipFill>
        </p:spPr>
      </p:sp>
      <p:sp>
        <p:nvSpPr>
          <p:cNvPr name="TextBox 3" id="3"/>
          <p:cNvSpPr txBox="true"/>
          <p:nvPr/>
        </p:nvSpPr>
        <p:spPr>
          <a:xfrm rot="0">
            <a:off x="1654329" y="422035"/>
            <a:ext cx="16633671" cy="769475"/>
          </a:xfrm>
          <a:prstGeom prst="rect">
            <a:avLst/>
          </a:prstGeom>
        </p:spPr>
        <p:txBody>
          <a:bodyPr anchor="t" rtlCol="false" tIns="0" lIns="0" bIns="0" rIns="0">
            <a:spAutoFit/>
          </a:bodyPr>
          <a:lstStyle/>
          <a:p>
            <a:pPr algn="ctr">
              <a:lnSpc>
                <a:spcPts val="6312"/>
              </a:lnSpc>
            </a:pPr>
            <a:r>
              <a:rPr lang="en-US" sz="4509" b="true">
                <a:solidFill>
                  <a:srgbClr val="FFFFFF"/>
                </a:solidFill>
                <a:latin typeface="Canva Sans Bold"/>
                <a:ea typeface="Canva Sans Bold"/>
                <a:cs typeface="Canva Sans Bold"/>
                <a:sym typeface="Canva Sans Bold"/>
              </a:rPr>
              <a:t>ST.THOMAS INSTITUTE FOR SCIENCE AND TECHNOLOGY</a:t>
            </a:r>
          </a:p>
        </p:txBody>
      </p:sp>
      <p:sp>
        <p:nvSpPr>
          <p:cNvPr name="TextBox 4" id="4"/>
          <p:cNvSpPr txBox="true"/>
          <p:nvPr/>
        </p:nvSpPr>
        <p:spPr>
          <a:xfrm rot="0">
            <a:off x="-201600" y="2796621"/>
            <a:ext cx="19350749" cy="1037800"/>
          </a:xfrm>
          <a:prstGeom prst="rect">
            <a:avLst/>
          </a:prstGeom>
        </p:spPr>
        <p:txBody>
          <a:bodyPr anchor="t" rtlCol="false" tIns="0" lIns="0" bIns="0" rIns="0">
            <a:spAutoFit/>
          </a:bodyPr>
          <a:lstStyle/>
          <a:p>
            <a:pPr algn="ctr">
              <a:lnSpc>
                <a:spcPts val="8526"/>
              </a:lnSpc>
            </a:pPr>
            <a:r>
              <a:rPr lang="en-US" sz="6090" b="true">
                <a:solidFill>
                  <a:srgbClr val="FFFFFF"/>
                </a:solidFill>
                <a:latin typeface="Canva Sans Bold"/>
                <a:ea typeface="Canva Sans Bold"/>
                <a:cs typeface="Canva Sans Bold"/>
                <a:sym typeface="Canva Sans Bold"/>
              </a:rPr>
              <a:t>FIRE: Food Image to Recipe Generation</a:t>
            </a:r>
          </a:p>
        </p:txBody>
      </p:sp>
      <p:sp>
        <p:nvSpPr>
          <p:cNvPr name="TextBox 5" id="5"/>
          <p:cNvSpPr txBox="true"/>
          <p:nvPr/>
        </p:nvSpPr>
        <p:spPr>
          <a:xfrm rot="0">
            <a:off x="1248116" y="5506206"/>
            <a:ext cx="4002246" cy="1920680"/>
          </a:xfrm>
          <a:prstGeom prst="rect">
            <a:avLst/>
          </a:prstGeom>
        </p:spPr>
        <p:txBody>
          <a:bodyPr anchor="t" rtlCol="false" tIns="0" lIns="0" bIns="0" rIns="0">
            <a:spAutoFit/>
          </a:bodyPr>
          <a:lstStyle/>
          <a:p>
            <a:pPr algn="l">
              <a:lnSpc>
                <a:spcPts val="3860"/>
              </a:lnSpc>
            </a:pPr>
            <a:r>
              <a:rPr lang="en-US" sz="2757" b="true">
                <a:solidFill>
                  <a:srgbClr val="FFFFFF"/>
                </a:solidFill>
                <a:latin typeface="Canva Sans Bold"/>
                <a:ea typeface="Canva Sans Bold"/>
                <a:cs typeface="Canva Sans Bold"/>
                <a:sym typeface="Canva Sans Bold"/>
              </a:rPr>
              <a:t>GUIDED BY :</a:t>
            </a:r>
          </a:p>
          <a:p>
            <a:pPr algn="l">
              <a:lnSpc>
                <a:spcPts val="3860"/>
              </a:lnSpc>
            </a:pPr>
            <a:r>
              <a:rPr lang="en-US" sz="2757" b="true">
                <a:solidFill>
                  <a:srgbClr val="FFFFFF"/>
                </a:solidFill>
                <a:latin typeface="Canva Sans Bold"/>
                <a:ea typeface="Canva Sans Bold"/>
                <a:cs typeface="Canva Sans Bold"/>
                <a:sym typeface="Canva Sans Bold"/>
              </a:rPr>
              <a:t>MRS. BINDHYA PS</a:t>
            </a:r>
          </a:p>
          <a:p>
            <a:pPr algn="l">
              <a:lnSpc>
                <a:spcPts val="3860"/>
              </a:lnSpc>
            </a:pPr>
            <a:r>
              <a:rPr lang="en-US" sz="2757" b="true">
                <a:solidFill>
                  <a:srgbClr val="FFFFFF"/>
                </a:solidFill>
                <a:latin typeface="Canva Sans Bold"/>
                <a:ea typeface="Canva Sans Bold"/>
                <a:cs typeface="Canva Sans Bold"/>
                <a:sym typeface="Canva Sans Bold"/>
              </a:rPr>
              <a:t>ASST. PROFESSOR, CSE</a:t>
            </a:r>
          </a:p>
          <a:p>
            <a:pPr algn="l">
              <a:lnSpc>
                <a:spcPts val="3860"/>
              </a:lnSpc>
            </a:pPr>
          </a:p>
        </p:txBody>
      </p:sp>
      <p:grpSp>
        <p:nvGrpSpPr>
          <p:cNvPr name="Group 6" id="6"/>
          <p:cNvGrpSpPr/>
          <p:nvPr/>
        </p:nvGrpSpPr>
        <p:grpSpPr>
          <a:xfrm rot="0">
            <a:off x="5946528" y="5361191"/>
            <a:ext cx="7054493" cy="1487184"/>
            <a:chOff x="0" y="0"/>
            <a:chExt cx="9405991" cy="1982912"/>
          </a:xfrm>
        </p:grpSpPr>
        <p:grpSp>
          <p:nvGrpSpPr>
            <p:cNvPr name="Group 7" id="7"/>
            <p:cNvGrpSpPr/>
            <p:nvPr/>
          </p:nvGrpSpPr>
          <p:grpSpPr>
            <a:xfrm rot="0">
              <a:off x="0" y="0"/>
              <a:ext cx="9405991" cy="1982912"/>
              <a:chOff x="0" y="0"/>
              <a:chExt cx="1857973" cy="391686"/>
            </a:xfrm>
          </p:grpSpPr>
          <p:sp>
            <p:nvSpPr>
              <p:cNvPr name="Freeform 8" id="8"/>
              <p:cNvSpPr/>
              <p:nvPr/>
            </p:nvSpPr>
            <p:spPr>
              <a:xfrm flipH="false" flipV="false" rot="0">
                <a:off x="0" y="0"/>
                <a:ext cx="1857973" cy="391686"/>
              </a:xfrm>
              <a:custGeom>
                <a:avLst/>
                <a:gdLst/>
                <a:ahLst/>
                <a:cxnLst/>
                <a:rect r="r" b="b" t="t" l="l"/>
                <a:pathLst>
                  <a:path h="391686" w="1857973">
                    <a:moveTo>
                      <a:pt x="55970" y="0"/>
                    </a:moveTo>
                    <a:lnTo>
                      <a:pt x="1802004" y="0"/>
                    </a:lnTo>
                    <a:cubicBezTo>
                      <a:pt x="1816848" y="0"/>
                      <a:pt x="1831084" y="5897"/>
                      <a:pt x="1841580" y="16393"/>
                    </a:cubicBezTo>
                    <a:cubicBezTo>
                      <a:pt x="1852077" y="26890"/>
                      <a:pt x="1857973" y="41126"/>
                      <a:pt x="1857973" y="55970"/>
                    </a:cubicBezTo>
                    <a:lnTo>
                      <a:pt x="1857973" y="335717"/>
                    </a:lnTo>
                    <a:cubicBezTo>
                      <a:pt x="1857973" y="350561"/>
                      <a:pt x="1852077" y="364797"/>
                      <a:pt x="1841580" y="375293"/>
                    </a:cubicBezTo>
                    <a:cubicBezTo>
                      <a:pt x="1831084" y="385790"/>
                      <a:pt x="1816848" y="391686"/>
                      <a:pt x="1802004" y="391686"/>
                    </a:cubicBezTo>
                    <a:lnTo>
                      <a:pt x="55970" y="391686"/>
                    </a:lnTo>
                    <a:cubicBezTo>
                      <a:pt x="25058" y="391686"/>
                      <a:pt x="0" y="366628"/>
                      <a:pt x="0" y="335717"/>
                    </a:cubicBezTo>
                    <a:lnTo>
                      <a:pt x="0" y="55970"/>
                    </a:lnTo>
                    <a:cubicBezTo>
                      <a:pt x="0" y="41126"/>
                      <a:pt x="5897" y="26890"/>
                      <a:pt x="16393" y="16393"/>
                    </a:cubicBezTo>
                    <a:cubicBezTo>
                      <a:pt x="26890" y="5897"/>
                      <a:pt x="41126" y="0"/>
                      <a:pt x="55970" y="0"/>
                    </a:cubicBezTo>
                    <a:close/>
                  </a:path>
                </a:pathLst>
              </a:custGeom>
              <a:solidFill>
                <a:srgbClr val="12BBFE"/>
              </a:solidFill>
            </p:spPr>
          </p:sp>
          <p:sp>
            <p:nvSpPr>
              <p:cNvPr name="TextBox 9" id="9"/>
              <p:cNvSpPr txBox="true"/>
              <p:nvPr/>
            </p:nvSpPr>
            <p:spPr>
              <a:xfrm>
                <a:off x="0" y="28575"/>
                <a:ext cx="1857973" cy="363111"/>
              </a:xfrm>
              <a:prstGeom prst="rect">
                <a:avLst/>
              </a:prstGeom>
            </p:spPr>
            <p:txBody>
              <a:bodyPr anchor="ctr" rtlCol="false" tIns="50800" lIns="50800" bIns="50800" rIns="50800"/>
              <a:lstStyle/>
              <a:p>
                <a:pPr algn="ctr">
                  <a:lnSpc>
                    <a:spcPts val="1800"/>
                  </a:lnSpc>
                </a:pPr>
              </a:p>
            </p:txBody>
          </p:sp>
        </p:grpSp>
        <p:sp>
          <p:nvSpPr>
            <p:cNvPr name="TextBox 10" id="10"/>
            <p:cNvSpPr txBox="true"/>
            <p:nvPr/>
          </p:nvSpPr>
          <p:spPr>
            <a:xfrm rot="0">
              <a:off x="405488" y="505257"/>
              <a:ext cx="8595015" cy="896198"/>
            </a:xfrm>
            <a:prstGeom prst="rect">
              <a:avLst/>
            </a:prstGeom>
          </p:spPr>
          <p:txBody>
            <a:bodyPr anchor="t" rtlCol="false" tIns="0" lIns="0" bIns="0" rIns="0">
              <a:spAutoFit/>
            </a:bodyPr>
            <a:lstStyle/>
            <a:p>
              <a:pPr algn="ctr" marL="0" indent="0" lvl="0">
                <a:lnSpc>
                  <a:spcPts val="5654"/>
                </a:lnSpc>
                <a:spcBef>
                  <a:spcPct val="0"/>
                </a:spcBef>
              </a:pPr>
              <a:r>
                <a:rPr lang="en-US" b="true" sz="4038">
                  <a:solidFill>
                    <a:srgbClr val="000000"/>
                  </a:solidFill>
                  <a:latin typeface="Canva Sans Bold"/>
                  <a:ea typeface="Canva Sans Bold"/>
                  <a:cs typeface="Canva Sans Bold"/>
                  <a:sym typeface="Canva Sans Bold"/>
                </a:rPr>
                <a:t>SEMINAR PRESENTATION</a:t>
              </a:r>
            </a:p>
          </p:txBody>
        </p:sp>
      </p:grpSp>
      <p:sp>
        <p:nvSpPr>
          <p:cNvPr name="TextBox 11" id="11"/>
          <p:cNvSpPr txBox="true"/>
          <p:nvPr/>
        </p:nvSpPr>
        <p:spPr>
          <a:xfrm rot="0">
            <a:off x="13697186" y="5506206"/>
            <a:ext cx="3340298" cy="1920680"/>
          </a:xfrm>
          <a:prstGeom prst="rect">
            <a:avLst/>
          </a:prstGeom>
        </p:spPr>
        <p:txBody>
          <a:bodyPr anchor="t" rtlCol="false" tIns="0" lIns="0" bIns="0" rIns="0">
            <a:spAutoFit/>
          </a:bodyPr>
          <a:lstStyle/>
          <a:p>
            <a:pPr algn="l">
              <a:lnSpc>
                <a:spcPts val="3860"/>
              </a:lnSpc>
            </a:pPr>
            <a:r>
              <a:rPr lang="en-US" sz="2757" b="true">
                <a:solidFill>
                  <a:srgbClr val="FFFFFF"/>
                </a:solidFill>
                <a:latin typeface="Canva Sans Bold"/>
                <a:ea typeface="Canva Sans Bold"/>
                <a:cs typeface="Canva Sans Bold"/>
                <a:sym typeface="Canva Sans Bold"/>
              </a:rPr>
              <a:t>DONE BY :</a:t>
            </a:r>
          </a:p>
          <a:p>
            <a:pPr algn="l">
              <a:lnSpc>
                <a:spcPts val="3860"/>
              </a:lnSpc>
            </a:pPr>
            <a:r>
              <a:rPr lang="en-US" sz="2757" b="true">
                <a:solidFill>
                  <a:srgbClr val="FFFFFF"/>
                </a:solidFill>
                <a:latin typeface="Canva Sans Bold"/>
                <a:ea typeface="Canva Sans Bold"/>
                <a:cs typeface="Canva Sans Bold"/>
                <a:sym typeface="Canva Sans Bold"/>
              </a:rPr>
              <a:t>NAVAFA NOUSHAD</a:t>
            </a:r>
          </a:p>
          <a:p>
            <a:pPr algn="l">
              <a:lnSpc>
                <a:spcPts val="3860"/>
              </a:lnSpc>
            </a:pPr>
            <a:r>
              <a:rPr lang="en-US" sz="2757" b="true">
                <a:solidFill>
                  <a:srgbClr val="FFFFFF"/>
                </a:solidFill>
                <a:latin typeface="Canva Sans Bold"/>
                <a:ea typeface="Canva Sans Bold"/>
                <a:cs typeface="Canva Sans Bold"/>
                <a:sym typeface="Canva Sans Bold"/>
              </a:rPr>
              <a:t>STI21CS047</a:t>
            </a:r>
          </a:p>
          <a:p>
            <a:pPr algn="l">
              <a:lnSpc>
                <a:spcPts val="3860"/>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735829" y="470016"/>
            <a:ext cx="3313747" cy="742313"/>
          </a:xfrm>
          <a:prstGeom prst="rect">
            <a:avLst/>
          </a:prstGeom>
        </p:spPr>
        <p:txBody>
          <a:bodyPr anchor="t" rtlCol="false" tIns="0" lIns="0" bIns="0" rIns="0">
            <a:spAutoFit/>
          </a:bodyPr>
          <a:lstStyle/>
          <a:p>
            <a:pPr algn="ctr">
              <a:lnSpc>
                <a:spcPts val="5599"/>
              </a:lnSpc>
              <a:spcBef>
                <a:spcPct val="0"/>
              </a:spcBef>
            </a:pPr>
            <a:r>
              <a:rPr lang="en-US" b="true" sz="5599" spc="-235">
                <a:solidFill>
                  <a:srgbClr val="FFFFFF"/>
                </a:solidFill>
                <a:latin typeface="Inter Bold"/>
                <a:ea typeface="Inter Bold"/>
                <a:cs typeface="Inter Bold"/>
                <a:sym typeface="Inter Bold"/>
              </a:rPr>
              <a:t>CONTENT</a:t>
            </a:r>
          </a:p>
        </p:txBody>
      </p:sp>
      <p:sp>
        <p:nvSpPr>
          <p:cNvPr name="TextBox 3" id="3"/>
          <p:cNvSpPr txBox="true"/>
          <p:nvPr/>
        </p:nvSpPr>
        <p:spPr>
          <a:xfrm rot="0">
            <a:off x="1774240" y="100432"/>
            <a:ext cx="6836522" cy="9329318"/>
          </a:xfrm>
          <a:prstGeom prst="rect">
            <a:avLst/>
          </a:prstGeom>
        </p:spPr>
        <p:txBody>
          <a:bodyPr anchor="t" rtlCol="false" tIns="0" lIns="0" bIns="0" rIns="0">
            <a:spAutoFit/>
          </a:bodyPr>
          <a:lstStyle/>
          <a:p>
            <a:pPr algn="just">
              <a:lnSpc>
                <a:spcPts val="6767"/>
              </a:lnSpc>
            </a:pPr>
          </a:p>
          <a:p>
            <a:pPr algn="just">
              <a:lnSpc>
                <a:spcPts val="6767"/>
              </a:lnSpc>
            </a:pPr>
          </a:p>
          <a:p>
            <a:pPr algn="just">
              <a:lnSpc>
                <a:spcPts val="6767"/>
              </a:lnSpc>
            </a:pPr>
            <a:r>
              <a:rPr lang="en-US" sz="2856" b="true">
                <a:solidFill>
                  <a:srgbClr val="FFFFFF"/>
                </a:solidFill>
                <a:latin typeface="Inter Bold"/>
                <a:ea typeface="Inter Bold"/>
                <a:cs typeface="Inter Bold"/>
                <a:sym typeface="Inter Bold"/>
              </a:rPr>
              <a:t>1   INTRODUCTION </a:t>
            </a:r>
          </a:p>
          <a:p>
            <a:pPr algn="just">
              <a:lnSpc>
                <a:spcPts val="6767"/>
              </a:lnSpc>
            </a:pPr>
            <a:r>
              <a:rPr lang="en-US" sz="2856" b="true">
                <a:solidFill>
                  <a:srgbClr val="FFFFFF"/>
                </a:solidFill>
                <a:latin typeface="Inter Bold"/>
                <a:ea typeface="Inter Bold"/>
                <a:cs typeface="Inter Bold"/>
                <a:sym typeface="Inter Bold"/>
              </a:rPr>
              <a:t>2  CHALLENGES IN COOKING TODAY </a:t>
            </a:r>
          </a:p>
          <a:p>
            <a:pPr algn="just">
              <a:lnSpc>
                <a:spcPts val="6767"/>
              </a:lnSpc>
            </a:pPr>
            <a:r>
              <a:rPr lang="en-US" b="true" sz="2856">
                <a:solidFill>
                  <a:srgbClr val="FFFFFF"/>
                </a:solidFill>
                <a:latin typeface="Inter Bold"/>
                <a:ea typeface="Inter Bold"/>
                <a:cs typeface="Inter Bold"/>
                <a:sym typeface="Inter Bold"/>
              </a:rPr>
              <a:t>3  LITERATURE SURVEY</a:t>
            </a:r>
          </a:p>
          <a:p>
            <a:pPr algn="just">
              <a:lnSpc>
                <a:spcPts val="6767"/>
              </a:lnSpc>
            </a:pPr>
            <a:r>
              <a:rPr lang="en-US" sz="2856" b="true">
                <a:solidFill>
                  <a:srgbClr val="FFFFFF"/>
                </a:solidFill>
                <a:latin typeface="Inter Bold"/>
                <a:ea typeface="Inter Bold"/>
                <a:cs typeface="Inter Bold"/>
                <a:sym typeface="Inter Bold"/>
              </a:rPr>
              <a:t>4  PROPOSED SOLUTIONS</a:t>
            </a:r>
          </a:p>
          <a:p>
            <a:pPr algn="just">
              <a:lnSpc>
                <a:spcPts val="6767"/>
              </a:lnSpc>
            </a:pPr>
            <a:r>
              <a:rPr lang="en-US" sz="2856" b="true">
                <a:solidFill>
                  <a:srgbClr val="FFFFFF"/>
                </a:solidFill>
                <a:latin typeface="Inter Bold"/>
                <a:ea typeface="Inter Bold"/>
                <a:cs typeface="Inter Bold"/>
                <a:sym typeface="Inter Bold"/>
              </a:rPr>
              <a:t>5  METHODOLOGIES</a:t>
            </a:r>
          </a:p>
          <a:p>
            <a:pPr algn="just">
              <a:lnSpc>
                <a:spcPts val="6767"/>
              </a:lnSpc>
            </a:pPr>
            <a:r>
              <a:rPr lang="en-US" sz="2856" b="true">
                <a:solidFill>
                  <a:srgbClr val="FFFFFF"/>
                </a:solidFill>
                <a:latin typeface="Inter Bold"/>
                <a:ea typeface="Inter Bold"/>
                <a:cs typeface="Inter Bold"/>
                <a:sym typeface="Inter Bold"/>
              </a:rPr>
              <a:t>6  HOW ITS WORKS</a:t>
            </a:r>
          </a:p>
          <a:p>
            <a:pPr algn="just">
              <a:lnSpc>
                <a:spcPts val="6767"/>
              </a:lnSpc>
            </a:pPr>
          </a:p>
          <a:p>
            <a:pPr algn="just">
              <a:lnSpc>
                <a:spcPts val="6767"/>
              </a:lnSpc>
            </a:pPr>
          </a:p>
          <a:p>
            <a:pPr algn="just">
              <a:lnSpc>
                <a:spcPts val="6767"/>
              </a:lnSpc>
            </a:pPr>
          </a:p>
        </p:txBody>
      </p:sp>
      <p:sp>
        <p:nvSpPr>
          <p:cNvPr name="TextBox 4" id="4"/>
          <p:cNvSpPr txBox="true"/>
          <p:nvPr/>
        </p:nvSpPr>
        <p:spPr>
          <a:xfrm rot="0">
            <a:off x="10049576" y="1719945"/>
            <a:ext cx="7647100" cy="5165035"/>
          </a:xfrm>
          <a:prstGeom prst="rect">
            <a:avLst/>
          </a:prstGeom>
        </p:spPr>
        <p:txBody>
          <a:bodyPr anchor="t" rtlCol="false" tIns="0" lIns="0" bIns="0" rIns="0">
            <a:spAutoFit/>
          </a:bodyPr>
          <a:lstStyle/>
          <a:p>
            <a:pPr algn="just">
              <a:lnSpc>
                <a:spcPts val="6918"/>
              </a:lnSpc>
            </a:pPr>
            <a:r>
              <a:rPr lang="en-US" sz="2907" b="true">
                <a:solidFill>
                  <a:srgbClr val="FFFFFF"/>
                </a:solidFill>
                <a:latin typeface="Inter Bold"/>
                <a:ea typeface="Inter Bold"/>
                <a:cs typeface="Inter Bold"/>
                <a:sym typeface="Inter Bold"/>
              </a:rPr>
              <a:t>7  SYSTEM ARCHITECTURE</a:t>
            </a:r>
          </a:p>
          <a:p>
            <a:pPr algn="just">
              <a:lnSpc>
                <a:spcPts val="6918"/>
              </a:lnSpc>
            </a:pPr>
            <a:r>
              <a:rPr lang="en-US" sz="2907" b="true">
                <a:solidFill>
                  <a:srgbClr val="FFFFFF"/>
                </a:solidFill>
                <a:latin typeface="Inter Bold"/>
                <a:ea typeface="Inter Bold"/>
                <a:cs typeface="Inter Bold"/>
                <a:sym typeface="Inter Bold"/>
              </a:rPr>
              <a:t>8  Data Flow </a:t>
            </a:r>
          </a:p>
          <a:p>
            <a:pPr algn="just">
              <a:lnSpc>
                <a:spcPts val="6918"/>
              </a:lnSpc>
            </a:pPr>
            <a:r>
              <a:rPr lang="en-US" sz="2907" b="true">
                <a:solidFill>
                  <a:srgbClr val="FFFFFF"/>
                </a:solidFill>
                <a:latin typeface="Inter Bold"/>
                <a:ea typeface="Inter Bold"/>
                <a:cs typeface="Inter Bold"/>
                <a:sym typeface="Inter Bold"/>
              </a:rPr>
              <a:t>11  WORKING FORMULA EXPLAINATION</a:t>
            </a:r>
          </a:p>
          <a:p>
            <a:pPr algn="just">
              <a:lnSpc>
                <a:spcPts val="6919"/>
              </a:lnSpc>
            </a:pPr>
            <a:r>
              <a:rPr lang="en-US" sz="2907" b="true">
                <a:solidFill>
                  <a:srgbClr val="FFFFFF"/>
                </a:solidFill>
                <a:latin typeface="Inter Bold"/>
                <a:ea typeface="Inter Bold"/>
                <a:cs typeface="Inter Bold"/>
                <a:sym typeface="Inter Bold"/>
              </a:rPr>
              <a:t>12   KEY FEATURES &amp; BENEFITS</a:t>
            </a:r>
          </a:p>
          <a:p>
            <a:pPr algn="just">
              <a:lnSpc>
                <a:spcPts val="6919"/>
              </a:lnSpc>
            </a:pPr>
            <a:r>
              <a:rPr lang="en-US" sz="2907" b="true">
                <a:solidFill>
                  <a:srgbClr val="FFFFFF"/>
                </a:solidFill>
                <a:latin typeface="Inter Bold"/>
                <a:ea typeface="Inter Bold"/>
                <a:cs typeface="Inter Bold"/>
                <a:sym typeface="Inter Bold"/>
              </a:rPr>
              <a:t>12  CONCLUSION</a:t>
            </a:r>
          </a:p>
          <a:p>
            <a:pPr algn="just">
              <a:lnSpc>
                <a:spcPts val="6919"/>
              </a:lnSpc>
            </a:pPr>
            <a:r>
              <a:rPr lang="en-US" sz="2907" b="true">
                <a:solidFill>
                  <a:srgbClr val="FFFFFF"/>
                </a:solidFill>
                <a:latin typeface="Inter Bold"/>
                <a:ea typeface="Inter Bold"/>
                <a:cs typeface="Inter Bold"/>
                <a:sym typeface="Inter Bold"/>
              </a:rPr>
              <a:t>13  REFERENCES</a:t>
            </a:r>
          </a:p>
        </p:txBody>
      </p:sp>
    </p:spTree>
  </p:cSld>
  <p:clrMapOvr>
    <a:masterClrMapping/>
  </p:clrMapOvr>
  <p:transition spd="med">
    <p:push dir="l"/>
  </p:transition>
</p:sld>
</file>

<file path=ppt/slides/slide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994178" y="1343025"/>
            <a:ext cx="15265122" cy="797411"/>
          </a:xfrm>
          <a:prstGeom prst="rect">
            <a:avLst/>
          </a:prstGeom>
        </p:spPr>
        <p:txBody>
          <a:bodyPr anchor="t" rtlCol="false" tIns="0" lIns="0" bIns="0" rIns="0">
            <a:spAutoFit/>
          </a:bodyPr>
          <a:lstStyle/>
          <a:p>
            <a:pPr algn="just">
              <a:lnSpc>
                <a:spcPts val="5405"/>
              </a:lnSpc>
            </a:pPr>
            <a:r>
              <a:rPr lang="en-US" sz="7304" b="true">
                <a:solidFill>
                  <a:srgbClr val="FFFFFF"/>
                </a:solidFill>
                <a:latin typeface="Inter Bold"/>
                <a:ea typeface="Inter Bold"/>
                <a:cs typeface="Inter Bold"/>
                <a:sym typeface="Inter Bold"/>
              </a:rPr>
              <a:t>Introduction to Food Computing</a:t>
            </a:r>
          </a:p>
        </p:txBody>
      </p:sp>
      <p:sp>
        <p:nvSpPr>
          <p:cNvPr name="TextBox 3" id="3"/>
          <p:cNvSpPr txBox="true"/>
          <p:nvPr/>
        </p:nvSpPr>
        <p:spPr>
          <a:xfrm rot="0">
            <a:off x="693470" y="3376367"/>
            <a:ext cx="17076171" cy="5826994"/>
          </a:xfrm>
          <a:prstGeom prst="rect">
            <a:avLst/>
          </a:prstGeom>
        </p:spPr>
        <p:txBody>
          <a:bodyPr anchor="t" rtlCol="false" tIns="0" lIns="0" bIns="0" rIns="0">
            <a:spAutoFit/>
          </a:bodyPr>
          <a:lstStyle/>
          <a:p>
            <a:pPr algn="just">
              <a:lnSpc>
                <a:spcPts val="4215"/>
              </a:lnSpc>
            </a:pPr>
          </a:p>
          <a:p>
            <a:pPr algn="just" marL="650155" indent="-325077" lvl="1">
              <a:lnSpc>
                <a:spcPts val="4215"/>
              </a:lnSpc>
              <a:buFont typeface="Arial"/>
              <a:buChar char="•"/>
            </a:pPr>
            <a:r>
              <a:rPr lang="en-US" sz="3011">
                <a:solidFill>
                  <a:srgbClr val="FFFFFF"/>
                </a:solidFill>
                <a:latin typeface="Canva Sans"/>
                <a:ea typeface="Canva Sans"/>
                <a:cs typeface="Canva Sans"/>
                <a:sym typeface="Canva Sans"/>
              </a:rPr>
              <a:t>Definition: Food computing is a multidisciplinary field that leverages AI to address food-related tasks such as recipe generation from images.</a:t>
            </a:r>
          </a:p>
          <a:p>
            <a:pPr algn="just">
              <a:lnSpc>
                <a:spcPts val="4215"/>
              </a:lnSpc>
            </a:pPr>
          </a:p>
          <a:p>
            <a:pPr algn="just" marL="650155" indent="-325077" lvl="1">
              <a:lnSpc>
                <a:spcPts val="4215"/>
              </a:lnSpc>
              <a:buFont typeface="Arial"/>
              <a:buChar char="•"/>
            </a:pPr>
            <a:r>
              <a:rPr lang="en-US" sz="3011">
                <a:solidFill>
                  <a:srgbClr val="FFFFFF"/>
                </a:solidFill>
                <a:latin typeface="Canva Sans"/>
                <a:ea typeface="Canva Sans"/>
                <a:cs typeface="Canva Sans"/>
                <a:sym typeface="Canva Sans"/>
              </a:rPr>
              <a:t>Significance: Food is deeply tied to culture, health, and identity. With millions of food images shared daily on social media, the need for automatic systems to generate recipes from these images has grown​</a:t>
            </a:r>
          </a:p>
          <a:p>
            <a:pPr algn="just">
              <a:lnSpc>
                <a:spcPts val="4215"/>
              </a:lnSpc>
            </a:pPr>
          </a:p>
          <a:p>
            <a:pPr algn="just" marL="650155" indent="-325077" lvl="1">
              <a:lnSpc>
                <a:spcPts val="4215"/>
              </a:lnSpc>
              <a:buFont typeface="Arial"/>
              <a:buChar char="•"/>
            </a:pPr>
            <a:r>
              <a:rPr lang="en-US" sz="3011">
                <a:solidFill>
                  <a:srgbClr val="FFFFFF"/>
                </a:solidFill>
                <a:latin typeface="Canva Sans"/>
                <a:ea typeface="Canva Sans"/>
                <a:cs typeface="Canva Sans"/>
                <a:sym typeface="Canva Sans"/>
              </a:rPr>
              <a:t>Challenge: Current models face limitations due to dataset size and lack of integration between vision and language models​</a:t>
            </a:r>
          </a:p>
          <a:p>
            <a:pPr algn="just">
              <a:lnSpc>
                <a:spcPts val="4215"/>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71500" y="1906658"/>
            <a:ext cx="17045718" cy="7170182"/>
          </a:xfrm>
          <a:prstGeom prst="rect">
            <a:avLst/>
          </a:prstGeom>
        </p:spPr>
        <p:txBody>
          <a:bodyPr anchor="t" rtlCol="false" tIns="0" lIns="0" bIns="0" rIns="0">
            <a:spAutoFit/>
          </a:bodyPr>
          <a:lstStyle/>
          <a:p>
            <a:pPr algn="just">
              <a:lnSpc>
                <a:spcPts val="4318"/>
              </a:lnSpc>
            </a:pPr>
            <a:r>
              <a:rPr lang="en-US" sz="3084" b="true">
                <a:solidFill>
                  <a:srgbClr val="C3342C"/>
                </a:solidFill>
                <a:latin typeface="Times New Roman Bold"/>
                <a:ea typeface="Times New Roman Bold"/>
                <a:cs typeface="Times New Roman Bold"/>
                <a:sym typeface="Times New Roman Bold"/>
              </a:rPr>
              <a:t>Martinel et al. (2018) - </a:t>
            </a:r>
            <a:r>
              <a:rPr lang="en-US" sz="3084">
                <a:solidFill>
                  <a:srgbClr val="FFFFFF"/>
                </a:solidFill>
                <a:latin typeface="Times New Roman"/>
                <a:ea typeface="Times New Roman"/>
                <a:cs typeface="Times New Roman"/>
                <a:sym typeface="Times New Roman"/>
              </a:rPr>
              <a:t>Introduced a slice convolution block in residual networks (ResNet) to capture features from food images​</a:t>
            </a:r>
          </a:p>
          <a:p>
            <a:pPr algn="just">
              <a:lnSpc>
                <a:spcPts val="4318"/>
              </a:lnSpc>
            </a:pPr>
          </a:p>
          <a:p>
            <a:pPr algn="just">
              <a:lnSpc>
                <a:spcPts val="4318"/>
              </a:lnSpc>
            </a:pPr>
            <a:r>
              <a:rPr lang="en-US" sz="3084" b="true">
                <a:solidFill>
                  <a:srgbClr val="C3342C"/>
                </a:solidFill>
                <a:latin typeface="Times New Roman Bold"/>
                <a:ea typeface="Times New Roman Bold"/>
                <a:cs typeface="Times New Roman Bold"/>
                <a:sym typeface="Times New Roman Bold"/>
              </a:rPr>
              <a:t>Salvador et al. (2019) - </a:t>
            </a:r>
            <a:r>
              <a:rPr lang="en-US" sz="3084">
                <a:solidFill>
                  <a:srgbClr val="FFFFFF"/>
                </a:solidFill>
                <a:latin typeface="Times New Roman"/>
                <a:ea typeface="Times New Roman"/>
                <a:cs typeface="Times New Roman"/>
                <a:sym typeface="Times New Roman"/>
              </a:rPr>
              <a:t>Proposed InverseCooking, an encoder-decoder framework to generate food titles and ingredient lists from food images​</a:t>
            </a:r>
          </a:p>
          <a:p>
            <a:pPr algn="just">
              <a:lnSpc>
                <a:spcPts val="4318"/>
              </a:lnSpc>
            </a:pPr>
          </a:p>
          <a:p>
            <a:pPr algn="just">
              <a:lnSpc>
                <a:spcPts val="4318"/>
              </a:lnSpc>
            </a:pPr>
            <a:r>
              <a:rPr lang="en-US" sz="3084" b="true">
                <a:solidFill>
                  <a:srgbClr val="C3342C"/>
                </a:solidFill>
                <a:latin typeface="Times New Roman Bold"/>
                <a:ea typeface="Times New Roman Bold"/>
                <a:cs typeface="Times New Roman Bold"/>
                <a:sym typeface="Times New Roman Bold"/>
              </a:rPr>
              <a:t>Wang et al. (2020) - </a:t>
            </a:r>
            <a:r>
              <a:rPr lang="en-US" sz="3084">
                <a:solidFill>
                  <a:srgbClr val="FFFFFF"/>
                </a:solidFill>
                <a:latin typeface="Times New Roman"/>
                <a:ea typeface="Times New Roman"/>
                <a:cs typeface="Times New Roman"/>
                <a:sym typeface="Times New Roman"/>
              </a:rPr>
              <a:t>Treated recipe generation as an image captioning task and used tree-structured representations to improve recipe coherence​</a:t>
            </a:r>
          </a:p>
          <a:p>
            <a:pPr algn="just">
              <a:lnSpc>
                <a:spcPts val="4318"/>
              </a:lnSpc>
            </a:pPr>
          </a:p>
          <a:p>
            <a:pPr algn="just">
              <a:lnSpc>
                <a:spcPts val="4318"/>
              </a:lnSpc>
            </a:pPr>
            <a:r>
              <a:rPr lang="en-US" sz="3084" b="true">
                <a:solidFill>
                  <a:srgbClr val="C3342C"/>
                </a:solidFill>
                <a:latin typeface="Times New Roman Bold"/>
                <a:ea typeface="Times New Roman Bold"/>
                <a:cs typeface="Times New Roman Bold"/>
                <a:sym typeface="Times New Roman Bold"/>
              </a:rPr>
              <a:t>Salvador et al. (2019) - InverseCooking:</a:t>
            </a:r>
          </a:p>
          <a:p>
            <a:pPr algn="just" marL="665912" indent="-332956" lvl="1">
              <a:lnSpc>
                <a:spcPts val="4318"/>
              </a:lnSpc>
              <a:buFont typeface="Arial"/>
              <a:buChar char="•"/>
            </a:pPr>
            <a:r>
              <a:rPr lang="en-US" sz="3084">
                <a:solidFill>
                  <a:srgbClr val="FFFFFF"/>
                </a:solidFill>
                <a:latin typeface="Times New Roman"/>
                <a:ea typeface="Times New Roman"/>
                <a:cs typeface="Times New Roman"/>
                <a:sym typeface="Times New Roman"/>
              </a:rPr>
              <a:t>Strengths: It uses a transformer-based model for ingredient extraction and cooking instruction generation.</a:t>
            </a:r>
          </a:p>
          <a:p>
            <a:pPr algn="just">
              <a:lnSpc>
                <a:spcPts val="4318"/>
              </a:lnSpc>
            </a:pPr>
          </a:p>
        </p:txBody>
      </p:sp>
      <p:sp>
        <p:nvSpPr>
          <p:cNvPr name="TextBox 3" id="3"/>
          <p:cNvSpPr txBox="true"/>
          <p:nvPr/>
        </p:nvSpPr>
        <p:spPr>
          <a:xfrm rot="0">
            <a:off x="3872547" y="-11747"/>
            <a:ext cx="10600055" cy="1566545"/>
          </a:xfrm>
          <a:prstGeom prst="rect">
            <a:avLst/>
          </a:prstGeom>
        </p:spPr>
        <p:txBody>
          <a:bodyPr anchor="t" rtlCol="false" tIns="0" lIns="0" bIns="0" rIns="0">
            <a:spAutoFit/>
          </a:bodyPr>
          <a:lstStyle/>
          <a:p>
            <a:pPr algn="ctr">
              <a:lnSpc>
                <a:spcPts val="12880"/>
              </a:lnSpc>
            </a:pPr>
            <a:r>
              <a:rPr lang="en-US" sz="9200" b="true">
                <a:solidFill>
                  <a:srgbClr val="12BBFE"/>
                </a:solidFill>
                <a:latin typeface="Canva Sans Bold"/>
                <a:ea typeface="Canva Sans Bold"/>
                <a:cs typeface="Canva Sans Bold"/>
                <a:sym typeface="Canva Sans Bold"/>
              </a:rPr>
              <a:t>Literature Survey</a:t>
            </a:r>
          </a:p>
        </p:txBody>
      </p:sp>
    </p:spTree>
  </p:cSld>
  <p:clrMapOvr>
    <a:masterClrMapping/>
  </p:clrMapOvr>
  <p:transition spd="slow">
    <p:fade/>
  </p:transition>
</p:sld>
</file>

<file path=ppt/slides/slide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884304" y="895350"/>
            <a:ext cx="16374996" cy="4182377"/>
          </a:xfrm>
          <a:prstGeom prst="rect">
            <a:avLst/>
          </a:prstGeom>
        </p:spPr>
        <p:txBody>
          <a:bodyPr anchor="t" rtlCol="false" tIns="0" lIns="0" bIns="0" rIns="0">
            <a:spAutoFit/>
          </a:bodyPr>
          <a:lstStyle/>
          <a:p>
            <a:pPr algn="l">
              <a:lnSpc>
                <a:spcPts val="4675"/>
              </a:lnSpc>
            </a:pPr>
            <a:r>
              <a:rPr lang="en-US" sz="3339">
                <a:solidFill>
                  <a:srgbClr val="C3342C"/>
                </a:solidFill>
                <a:latin typeface="Times New Roman"/>
                <a:ea typeface="Times New Roman"/>
                <a:cs typeface="Times New Roman"/>
                <a:sym typeface="Times New Roman"/>
              </a:rPr>
              <a:t>Chef Transformer (2020) - </a:t>
            </a:r>
            <a:r>
              <a:rPr lang="en-US" sz="3339">
                <a:solidFill>
                  <a:srgbClr val="FFFFFF"/>
                </a:solidFill>
                <a:latin typeface="Times New Roman"/>
                <a:ea typeface="Times New Roman"/>
                <a:cs typeface="Times New Roman"/>
                <a:sym typeface="Times New Roman"/>
              </a:rPr>
              <a:t>Focused on generating recipes from ingredient lists, not images​</a:t>
            </a:r>
          </a:p>
          <a:p>
            <a:pPr algn="l">
              <a:lnSpc>
                <a:spcPts val="4675"/>
              </a:lnSpc>
            </a:pPr>
          </a:p>
          <a:p>
            <a:pPr algn="l">
              <a:lnSpc>
                <a:spcPts val="4675"/>
              </a:lnSpc>
            </a:pPr>
            <a:r>
              <a:rPr lang="en-US" sz="3339">
                <a:solidFill>
                  <a:srgbClr val="C3342C"/>
                </a:solidFill>
                <a:latin typeface="Times New Roman"/>
                <a:ea typeface="Times New Roman"/>
                <a:cs typeface="Times New Roman"/>
                <a:sym typeface="Times New Roman"/>
              </a:rPr>
              <a:t>CLIP (2021) -</a:t>
            </a:r>
            <a:r>
              <a:rPr lang="en-US" sz="3339">
                <a:solidFill>
                  <a:srgbClr val="FFFFFF"/>
                </a:solidFill>
                <a:latin typeface="Times New Roman"/>
                <a:ea typeface="Times New Roman"/>
                <a:cs typeface="Times New Roman"/>
                <a:sym typeface="Times New Roman"/>
              </a:rPr>
              <a:t> Utilized a contrastive learning approach to align image and text representations.</a:t>
            </a:r>
          </a:p>
          <a:p>
            <a:pPr algn="l">
              <a:lnSpc>
                <a:spcPts val="4675"/>
              </a:lnSpc>
            </a:pPr>
          </a:p>
          <a:p>
            <a:pPr algn="l">
              <a:lnSpc>
                <a:spcPts val="4675"/>
              </a:lnSpc>
              <a:spcBef>
                <a:spcPct val="0"/>
              </a:spcBef>
            </a:pPr>
            <a:r>
              <a:rPr lang="en-US" sz="3339">
                <a:solidFill>
                  <a:srgbClr val="C3342C"/>
                </a:solidFill>
                <a:latin typeface="Times New Roman"/>
                <a:ea typeface="Times New Roman"/>
                <a:cs typeface="Times New Roman"/>
                <a:sym typeface="Times New Roman"/>
              </a:rPr>
              <a:t>Xie et al. (2010) - </a:t>
            </a:r>
            <a:r>
              <a:rPr lang="en-US" sz="3339">
                <a:solidFill>
                  <a:srgbClr val="FFFFFF"/>
                </a:solidFill>
                <a:latin typeface="Times New Roman"/>
                <a:ea typeface="Times New Roman"/>
                <a:cs typeface="Times New Roman"/>
                <a:sym typeface="Times New Roman"/>
              </a:rPr>
              <a:t>Used a similarity and filtering algorithm to retrieve recipes based on the cooking flow​</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Draw Backs</a:t>
            </a:r>
          </a:p>
        </p:txBody>
      </p:sp>
      <p:sp>
        <p:nvSpPr>
          <p:cNvPr name="TextBox 6" id="6"/>
          <p:cNvSpPr txBox="true"/>
          <p:nvPr/>
        </p:nvSpPr>
        <p:spPr>
          <a:xfrm rot="0">
            <a:off x="1627476" y="2883357"/>
            <a:ext cx="15835835" cy="6408303"/>
          </a:xfrm>
          <a:prstGeom prst="rect">
            <a:avLst/>
          </a:prstGeom>
        </p:spPr>
        <p:txBody>
          <a:bodyPr anchor="t" rtlCol="false" tIns="0" lIns="0" bIns="0" rIns="0">
            <a:spAutoFit/>
          </a:bodyPr>
          <a:lstStyle/>
          <a:p>
            <a:pPr algn="just" marL="611179" indent="-305590" lvl="1">
              <a:lnSpc>
                <a:spcPts val="3878"/>
              </a:lnSpc>
              <a:buFont typeface="Arial"/>
              <a:buChar char="•"/>
            </a:pPr>
            <a:r>
              <a:rPr lang="en-US" sz="2830">
                <a:solidFill>
                  <a:srgbClr val="FFFFFF"/>
                </a:solidFill>
                <a:latin typeface="Inter"/>
                <a:ea typeface="Inter"/>
                <a:cs typeface="Inter"/>
                <a:sym typeface="Inter"/>
              </a:rPr>
              <a:t>Focused primarily on global features, neglecting local features critic</a:t>
            </a:r>
            <a:r>
              <a:rPr lang="en-US" sz="2830">
                <a:solidFill>
                  <a:srgbClr val="FFFFFF"/>
                </a:solidFill>
                <a:latin typeface="Inter"/>
                <a:ea typeface="Inter"/>
                <a:cs typeface="Inter"/>
                <a:sym typeface="Inter"/>
              </a:rPr>
              <a:t>al for ingredient detection.</a:t>
            </a:r>
          </a:p>
          <a:p>
            <a:pPr algn="just" marL="611179" indent="-305590" lvl="1">
              <a:lnSpc>
                <a:spcPts val="3878"/>
              </a:lnSpc>
              <a:buFont typeface="Arial"/>
              <a:buChar char="•"/>
            </a:pPr>
            <a:r>
              <a:rPr lang="en-US" sz="2830">
                <a:solidFill>
                  <a:srgbClr val="FFFFFF"/>
                </a:solidFill>
                <a:latin typeface="Inter"/>
                <a:ea typeface="Inter"/>
                <a:cs typeface="Inter"/>
                <a:sym typeface="Inter"/>
              </a:rPr>
              <a:t>St</a:t>
            </a:r>
            <a:r>
              <a:rPr lang="en-US" sz="2830">
                <a:solidFill>
                  <a:srgbClr val="FFFFFF"/>
                </a:solidFill>
                <a:latin typeface="Inter"/>
                <a:ea typeface="Inter"/>
                <a:cs typeface="Inter"/>
                <a:sym typeface="Inter"/>
              </a:rPr>
              <a:t>ruggles with images where ingredients overlap or are occluded​</a:t>
            </a:r>
          </a:p>
          <a:p>
            <a:pPr algn="just" marL="611179" indent="-305590" lvl="1">
              <a:lnSpc>
                <a:spcPts val="3878"/>
              </a:lnSpc>
              <a:buFont typeface="Arial"/>
              <a:buChar char="•"/>
            </a:pPr>
            <a:r>
              <a:rPr lang="en-US" sz="2830">
                <a:solidFill>
                  <a:srgbClr val="FFFFFF"/>
                </a:solidFill>
                <a:latin typeface="Inter"/>
                <a:ea typeface="Inter"/>
                <a:cs typeface="Inter"/>
                <a:sym typeface="Inter"/>
              </a:rPr>
              <a:t>Overemphasized global image features, leading to errors in identifying overlapping or hidden ingredients.</a:t>
            </a:r>
          </a:p>
          <a:p>
            <a:pPr algn="just" marL="611179" indent="-305590" lvl="1">
              <a:lnSpc>
                <a:spcPts val="3878"/>
              </a:lnSpc>
              <a:buFont typeface="Arial"/>
              <a:buChar char="•"/>
            </a:pPr>
            <a:r>
              <a:rPr lang="en-US" sz="2830">
                <a:solidFill>
                  <a:srgbClr val="FFFFFF"/>
                </a:solidFill>
                <a:latin typeface="Inter"/>
                <a:ea typeface="Inter"/>
                <a:cs typeface="Inter"/>
                <a:sym typeface="Inter"/>
              </a:rPr>
              <a:t>Still reliant on retrieval-based approaches, which limit creativity and generalization.</a:t>
            </a:r>
          </a:p>
          <a:p>
            <a:pPr algn="just" marL="611179" indent="-305590" lvl="1">
              <a:lnSpc>
                <a:spcPts val="3878"/>
              </a:lnSpc>
              <a:buFont typeface="Arial"/>
              <a:buChar char="•"/>
            </a:pPr>
            <a:r>
              <a:rPr lang="en-US" sz="2830">
                <a:solidFill>
                  <a:srgbClr val="FFFFFF"/>
                </a:solidFill>
                <a:latin typeface="Inter"/>
                <a:ea typeface="Inter"/>
                <a:cs typeface="Inter"/>
                <a:sym typeface="Inter"/>
              </a:rPr>
              <a:t>Doesn't handle ingredient extraction effectively for unseen or complex dishes.</a:t>
            </a:r>
          </a:p>
          <a:p>
            <a:pPr algn="just" marL="611179" indent="-305590" lvl="1">
              <a:lnSpc>
                <a:spcPts val="3878"/>
              </a:lnSpc>
              <a:buFont typeface="Arial"/>
              <a:buChar char="•"/>
            </a:pPr>
            <a:r>
              <a:rPr lang="en-US" sz="2830">
                <a:solidFill>
                  <a:srgbClr val="FFFFFF"/>
                </a:solidFill>
                <a:latin typeface="Inter"/>
                <a:ea typeface="Inter"/>
                <a:cs typeface="Inter"/>
                <a:sym typeface="Inter"/>
              </a:rPr>
              <a:t>Limited to pre-defined ingredients provided during testing, rather than extracting ingredients from images.</a:t>
            </a:r>
          </a:p>
          <a:p>
            <a:pPr algn="just" marL="611179" indent="-305590" lvl="1">
              <a:lnSpc>
                <a:spcPts val="3878"/>
              </a:lnSpc>
              <a:buFont typeface="Arial"/>
              <a:buChar char="•"/>
            </a:pPr>
            <a:r>
              <a:rPr lang="en-US" sz="2830">
                <a:solidFill>
                  <a:srgbClr val="FFFFFF"/>
                </a:solidFill>
                <a:latin typeface="Inter"/>
                <a:ea typeface="Inter"/>
                <a:cs typeface="Inter"/>
                <a:sym typeface="Inter"/>
              </a:rPr>
              <a:t>Fails to handle cases where the same ingredients lead to different recipes, thus requiring human input for context.</a:t>
            </a:r>
          </a:p>
          <a:p>
            <a:pPr algn="just" marL="611179" indent="-305590" lvl="1">
              <a:lnSpc>
                <a:spcPts val="3878"/>
              </a:lnSpc>
              <a:buFont typeface="Arial"/>
              <a:buChar char="•"/>
            </a:pPr>
            <a:r>
              <a:rPr lang="en-US" sz="2830">
                <a:solidFill>
                  <a:srgbClr val="FFFFFF"/>
                </a:solidFill>
                <a:latin typeface="Inter"/>
                <a:ea typeface="Inter"/>
                <a:cs typeface="Inter"/>
                <a:sym typeface="Inter"/>
              </a:rPr>
              <a:t>Doesn't address the generation of complex recipes where ingredient interactions are intricate.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FIRE Model Overview</a:t>
            </a:r>
          </a:p>
        </p:txBody>
      </p:sp>
      <p:sp>
        <p:nvSpPr>
          <p:cNvPr name="TextBox 6" id="6"/>
          <p:cNvSpPr txBox="true"/>
          <p:nvPr/>
        </p:nvSpPr>
        <p:spPr>
          <a:xfrm rot="0">
            <a:off x="-327147" y="3408317"/>
            <a:ext cx="14992946" cy="4875939"/>
          </a:xfrm>
          <a:prstGeom prst="rect">
            <a:avLst/>
          </a:prstGeom>
        </p:spPr>
        <p:txBody>
          <a:bodyPr anchor="t" rtlCol="false" tIns="0" lIns="0" bIns="0" rIns="0">
            <a:spAutoFit/>
          </a:bodyPr>
          <a:lstStyle/>
          <a:p>
            <a:pPr algn="just">
              <a:lnSpc>
                <a:spcPts val="4285"/>
              </a:lnSpc>
            </a:pPr>
          </a:p>
          <a:p>
            <a:pPr algn="just" marL="675357" indent="-337678" lvl="1">
              <a:lnSpc>
                <a:spcPts val="4285"/>
              </a:lnSpc>
              <a:buFont typeface="Arial"/>
              <a:buChar char="•"/>
            </a:pPr>
            <a:r>
              <a:rPr lang="en-US" sz="3128">
                <a:solidFill>
                  <a:srgbClr val="FFFFFF"/>
                </a:solidFill>
                <a:latin typeface="Inter"/>
                <a:ea typeface="Inter"/>
                <a:cs typeface="Inter"/>
                <a:sym typeface="Inter"/>
              </a:rPr>
              <a:t>FIRE Objective: Generate food titles, ingredients, and cooking instructions from a given food image.</a:t>
            </a:r>
          </a:p>
          <a:p>
            <a:pPr algn="just">
              <a:lnSpc>
                <a:spcPts val="4285"/>
              </a:lnSpc>
            </a:pPr>
          </a:p>
          <a:p>
            <a:pPr algn="just" marL="675357" indent="-337678" lvl="1">
              <a:lnSpc>
                <a:spcPts val="4285"/>
              </a:lnSpc>
              <a:buFont typeface="Arial"/>
              <a:buChar char="•"/>
            </a:pPr>
            <a:r>
              <a:rPr lang="en-US" sz="3128">
                <a:solidFill>
                  <a:srgbClr val="FFFFFF"/>
                </a:solidFill>
                <a:latin typeface="Inter"/>
                <a:ea typeface="Inter"/>
                <a:cs typeface="Inter"/>
                <a:sym typeface="Inter"/>
              </a:rPr>
              <a:t>Key Contributions:</a:t>
            </a:r>
          </a:p>
          <a:p>
            <a:pPr algn="just" marL="1350714" indent="-450238" lvl="2">
              <a:lnSpc>
                <a:spcPts val="4285"/>
              </a:lnSpc>
              <a:buAutoNum type="alphaLcPeriod" startAt="1"/>
            </a:pPr>
            <a:r>
              <a:rPr lang="en-US" sz="3128">
                <a:solidFill>
                  <a:srgbClr val="FFFFFF"/>
                </a:solidFill>
                <a:latin typeface="Inter"/>
                <a:ea typeface="Inter"/>
                <a:cs typeface="Inter"/>
                <a:sym typeface="Inter"/>
              </a:rPr>
              <a:t>Vision Transformers (ViT) for ingredient extraction.</a:t>
            </a:r>
          </a:p>
          <a:p>
            <a:pPr algn="just" marL="1350714" indent="-450238" lvl="2">
              <a:lnSpc>
                <a:spcPts val="4285"/>
              </a:lnSpc>
              <a:buAutoNum type="alphaLcPeriod" startAt="1"/>
            </a:pPr>
            <a:r>
              <a:rPr lang="en-US" sz="3128">
                <a:solidFill>
                  <a:srgbClr val="FFFFFF"/>
                </a:solidFill>
                <a:latin typeface="Inter"/>
                <a:ea typeface="Inter"/>
                <a:cs typeface="Inter"/>
                <a:sym typeface="Inter"/>
              </a:rPr>
              <a:t>BLIP Model for title generation.</a:t>
            </a:r>
          </a:p>
          <a:p>
            <a:pPr algn="just" marL="1350714" indent="-450238" lvl="2">
              <a:lnSpc>
                <a:spcPts val="4285"/>
              </a:lnSpc>
              <a:buAutoNum type="alphaLcPeriod" startAt="1"/>
            </a:pPr>
            <a:r>
              <a:rPr lang="en-US" sz="3128">
                <a:solidFill>
                  <a:srgbClr val="FFFFFF"/>
                </a:solidFill>
                <a:latin typeface="Inter"/>
                <a:ea typeface="Inter"/>
                <a:cs typeface="Inter"/>
                <a:sym typeface="Inter"/>
              </a:rPr>
              <a:t>T5 Model for cooking instructions​</a:t>
            </a:r>
          </a:p>
          <a:p>
            <a:pPr algn="just" marL="0" indent="0" lvl="0">
              <a:lnSpc>
                <a:spcPts val="4285"/>
              </a:lnSpc>
            </a:pPr>
          </a:p>
        </p:txBody>
      </p:sp>
    </p:spTree>
  </p:cSld>
  <p:clrMapOvr>
    <a:masterClrMapping/>
  </p:clrMapOvr>
  <p:transition spd="slow">
    <p:fade/>
  </p:transition>
</p:sld>
</file>

<file path=ppt/slides/slide8.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Technical Components of FIRE</a:t>
            </a:r>
          </a:p>
        </p:txBody>
      </p:sp>
      <p:sp>
        <p:nvSpPr>
          <p:cNvPr name="TextBox 6" id="6"/>
          <p:cNvSpPr txBox="true"/>
          <p:nvPr/>
        </p:nvSpPr>
        <p:spPr>
          <a:xfrm rot="0">
            <a:off x="1627476" y="2437471"/>
            <a:ext cx="14992946" cy="6528527"/>
          </a:xfrm>
          <a:prstGeom prst="rect">
            <a:avLst/>
          </a:prstGeom>
        </p:spPr>
        <p:txBody>
          <a:bodyPr anchor="t" rtlCol="false" tIns="0" lIns="0" bIns="0" rIns="0">
            <a:spAutoFit/>
          </a:bodyPr>
          <a:lstStyle/>
          <a:p>
            <a:pPr algn="just">
              <a:lnSpc>
                <a:spcPts val="4285"/>
              </a:lnSpc>
            </a:pPr>
          </a:p>
          <a:p>
            <a:pPr algn="just" marL="675357" indent="-337678" lvl="1">
              <a:lnSpc>
                <a:spcPts val="4285"/>
              </a:lnSpc>
              <a:buFont typeface="Arial"/>
              <a:buChar char="•"/>
            </a:pPr>
            <a:r>
              <a:rPr lang="en-US" sz="3128">
                <a:solidFill>
                  <a:srgbClr val="FFFFFF"/>
                </a:solidFill>
                <a:latin typeface="Inter"/>
                <a:ea typeface="Inter"/>
                <a:cs typeface="Inter"/>
                <a:sym typeface="Inter"/>
              </a:rPr>
              <a:t>Title Generation:</a:t>
            </a:r>
          </a:p>
          <a:p>
            <a:pPr algn="just" marL="1350714" indent="-450238" lvl="2">
              <a:lnSpc>
                <a:spcPts val="4285"/>
              </a:lnSpc>
              <a:buFont typeface="Arial"/>
              <a:buChar char="⚬"/>
            </a:pPr>
            <a:r>
              <a:rPr lang="en-US" sz="3128">
                <a:solidFill>
                  <a:srgbClr val="FFFFFF"/>
                </a:solidFill>
                <a:latin typeface="Inter"/>
                <a:ea typeface="Inter"/>
                <a:cs typeface="Inter"/>
                <a:sym typeface="Inter"/>
              </a:rPr>
              <a:t>BLIP Model: Originally developed for general image captioning, it was fine-tuned to produce concise recipe titles</a:t>
            </a:r>
            <a:r>
              <a:rPr lang="en-US" sz="3128">
                <a:solidFill>
                  <a:srgbClr val="FFFFFF"/>
                </a:solidFill>
                <a:latin typeface="Inter"/>
                <a:ea typeface="Inter"/>
                <a:cs typeface="Inter"/>
                <a:sym typeface="Inter"/>
              </a:rPr>
              <a:t> from food images.</a:t>
            </a:r>
          </a:p>
          <a:p>
            <a:pPr algn="just" marL="1350714" indent="-450238" lvl="2">
              <a:lnSpc>
                <a:spcPts val="4285"/>
              </a:lnSpc>
              <a:buFont typeface="Arial"/>
              <a:buChar char="⚬"/>
            </a:pPr>
            <a:r>
              <a:rPr lang="en-US" sz="3128">
                <a:solidFill>
                  <a:srgbClr val="FFFFFF"/>
                </a:solidFill>
                <a:latin typeface="Inter"/>
                <a:ea typeface="Inter"/>
                <a:cs typeface="Inter"/>
                <a:sym typeface="Inter"/>
              </a:rPr>
              <a:t>Improvement: Fine-tuning BLIP with food-specific datasets increased title accuracy​</a:t>
            </a:r>
          </a:p>
          <a:p>
            <a:pPr algn="just" marL="675357" indent="-337678" lvl="1">
              <a:lnSpc>
                <a:spcPts val="4285"/>
              </a:lnSpc>
              <a:buFont typeface="Arial"/>
              <a:buChar char="•"/>
            </a:pPr>
            <a:r>
              <a:rPr lang="en-US" sz="3128">
                <a:solidFill>
                  <a:srgbClr val="FFFFFF"/>
                </a:solidFill>
                <a:latin typeface="Inter"/>
                <a:ea typeface="Inter"/>
                <a:cs typeface="Inter"/>
                <a:sym typeface="Inter"/>
              </a:rPr>
              <a:t>Ingredient Extraction:</a:t>
            </a:r>
          </a:p>
          <a:p>
            <a:pPr algn="just" marL="1350714" indent="-450238" lvl="2">
              <a:lnSpc>
                <a:spcPts val="4285"/>
              </a:lnSpc>
              <a:buFont typeface="Arial"/>
              <a:buChar char="⚬"/>
            </a:pPr>
            <a:r>
              <a:rPr lang="en-US" sz="3128">
                <a:solidFill>
                  <a:srgbClr val="FFFFFF"/>
                </a:solidFill>
                <a:latin typeface="Inter"/>
                <a:ea typeface="Inter"/>
                <a:cs typeface="Inter"/>
                <a:sym typeface="Inter"/>
              </a:rPr>
              <a:t>Vision Transformer (ViT): Extracts features from food images, followed by a custom decoder for ingredient extraction.</a:t>
            </a:r>
          </a:p>
          <a:p>
            <a:pPr algn="just" marL="1350714" indent="-450238" lvl="2">
              <a:lnSpc>
                <a:spcPts val="4285"/>
              </a:lnSpc>
              <a:buFont typeface="Arial"/>
              <a:buChar char="⚬"/>
            </a:pPr>
            <a:r>
              <a:rPr lang="en-US" sz="3128">
                <a:solidFill>
                  <a:srgbClr val="FFFFFF"/>
                </a:solidFill>
                <a:latin typeface="Inter"/>
                <a:ea typeface="Inter"/>
                <a:cs typeface="Inter"/>
                <a:sym typeface="Inter"/>
              </a:rPr>
              <a:t>Key Innovation: FIRE predicts ingredients using a set-based approach, meaning the order of ingredients does not affect the result​</a:t>
            </a:r>
          </a:p>
          <a:p>
            <a:pPr algn="just" marL="675357" indent="-337678" lvl="1">
              <a:lnSpc>
                <a:spcPts val="4285"/>
              </a:lnSpc>
              <a:buFont typeface="Arial"/>
              <a:buChar char="•"/>
            </a:pPr>
          </a:p>
        </p:txBody>
      </p:sp>
    </p:spTree>
  </p:cSld>
  <p:clrMapOvr>
    <a:masterClrMapping/>
  </p:clrMapOvr>
  <p:transition spd="slow">
    <p:fade/>
  </p:transition>
</p:sld>
</file>

<file path=ppt/slides/slide9.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Technical Components of FIRE</a:t>
            </a:r>
          </a:p>
        </p:txBody>
      </p:sp>
      <p:sp>
        <p:nvSpPr>
          <p:cNvPr name="TextBox 6" id="6"/>
          <p:cNvSpPr txBox="true"/>
          <p:nvPr/>
        </p:nvSpPr>
        <p:spPr>
          <a:xfrm rot="0">
            <a:off x="1627476" y="4073390"/>
            <a:ext cx="14992946" cy="3256689"/>
          </a:xfrm>
          <a:prstGeom prst="rect">
            <a:avLst/>
          </a:prstGeom>
        </p:spPr>
        <p:txBody>
          <a:bodyPr anchor="t" rtlCol="false" tIns="0" lIns="0" bIns="0" rIns="0">
            <a:spAutoFit/>
          </a:bodyPr>
          <a:lstStyle/>
          <a:p>
            <a:pPr algn="just" marL="675357" indent="-337678" lvl="1">
              <a:lnSpc>
                <a:spcPts val="4285"/>
              </a:lnSpc>
              <a:buFont typeface="Arial"/>
              <a:buChar char="•"/>
            </a:pPr>
            <a:r>
              <a:rPr lang="en-US" sz="3128">
                <a:solidFill>
                  <a:srgbClr val="FFFFFF"/>
                </a:solidFill>
                <a:latin typeface="Inter"/>
                <a:ea typeface="Inter"/>
                <a:cs typeface="Inter"/>
                <a:sym typeface="Inter"/>
              </a:rPr>
              <a:t>Cooking Instruction</a:t>
            </a:r>
            <a:r>
              <a:rPr lang="en-US" sz="3128">
                <a:solidFill>
                  <a:srgbClr val="FFFFFF"/>
                </a:solidFill>
                <a:latin typeface="Inter"/>
                <a:ea typeface="Inter"/>
                <a:cs typeface="Inter"/>
                <a:sym typeface="Inter"/>
              </a:rPr>
              <a:t> Generation:</a:t>
            </a:r>
          </a:p>
          <a:p>
            <a:pPr algn="just" marL="1350714" indent="-450238" lvl="2">
              <a:lnSpc>
                <a:spcPts val="4285"/>
              </a:lnSpc>
              <a:buFont typeface="Arial"/>
              <a:buChar char="⚬"/>
            </a:pPr>
            <a:r>
              <a:rPr lang="en-US" sz="3128">
                <a:solidFill>
                  <a:srgbClr val="FFFFFF"/>
                </a:solidFill>
                <a:latin typeface="Inter"/>
                <a:ea typeface="Inter"/>
                <a:cs typeface="Inter"/>
                <a:sym typeface="Inter"/>
              </a:rPr>
              <a:t>T5 </a:t>
            </a:r>
            <a:r>
              <a:rPr lang="en-US" sz="3128">
                <a:solidFill>
                  <a:srgbClr val="FFFFFF"/>
                </a:solidFill>
                <a:latin typeface="Inter"/>
                <a:ea typeface="Inter"/>
                <a:cs typeface="Inter"/>
                <a:sym typeface="Inter"/>
              </a:rPr>
              <a:t>Language Model: Generates natural-language cooking instructions by using both the recipe title</a:t>
            </a:r>
            <a:r>
              <a:rPr lang="en-US" sz="3128">
                <a:solidFill>
                  <a:srgbClr val="FFFFFF"/>
                </a:solidFill>
                <a:latin typeface="Inter"/>
                <a:ea typeface="Inter"/>
                <a:cs typeface="Inter"/>
                <a:sym typeface="Inter"/>
              </a:rPr>
              <a:t> and the extracted i</a:t>
            </a:r>
            <a:r>
              <a:rPr lang="en-US" sz="3128">
                <a:solidFill>
                  <a:srgbClr val="FFFFFF"/>
                </a:solidFill>
                <a:latin typeface="Inter"/>
                <a:ea typeface="Inter"/>
                <a:cs typeface="Inter"/>
                <a:sym typeface="Inter"/>
              </a:rPr>
              <a:t>ngredients as inputs.</a:t>
            </a:r>
          </a:p>
          <a:p>
            <a:pPr algn="just" marL="1350714" indent="-450238" lvl="2">
              <a:lnSpc>
                <a:spcPts val="4285"/>
              </a:lnSpc>
              <a:buFont typeface="Arial"/>
              <a:buChar char="⚬"/>
            </a:pPr>
            <a:r>
              <a:rPr lang="en-US" sz="3128">
                <a:solidFill>
                  <a:srgbClr val="FFFFFF"/>
                </a:solidFill>
                <a:latin typeface="Inter"/>
                <a:ea typeface="Inter"/>
                <a:cs typeface="Inter"/>
                <a:sym typeface="Inter"/>
              </a:rPr>
              <a:t>Challenge Solved: T5 handles the absence of ingredient quantities at inference time​</a:t>
            </a:r>
          </a:p>
          <a:p>
            <a:pPr algn="just">
              <a:lnSpc>
                <a:spcPts val="4285"/>
              </a:lnSpc>
            </a:pPr>
          </a:p>
        </p:txBody>
      </p:sp>
    </p:spTree>
  </p:cSld>
  <p:clrMapOvr>
    <a:masterClrMapping/>
  </p:clrMapOvr>
  <p:transition spd="slow">
    <p:fade/>
  </p:transition>
</p:sld>
</file>

<file path=ppt/slides/slide10.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Model Architecture of FIRE</a:t>
            </a:r>
          </a:p>
        </p:txBody>
      </p:sp>
      <p:sp>
        <p:nvSpPr>
          <p:cNvPr name="TextBox 6" id="6"/>
          <p:cNvSpPr txBox="true"/>
          <p:nvPr/>
        </p:nvSpPr>
        <p:spPr>
          <a:xfrm rot="0">
            <a:off x="1627476" y="3256621"/>
            <a:ext cx="14992946" cy="4890227"/>
          </a:xfrm>
          <a:prstGeom prst="rect">
            <a:avLst/>
          </a:prstGeom>
        </p:spPr>
        <p:txBody>
          <a:bodyPr anchor="t" rtlCol="false" tIns="0" lIns="0" bIns="0" rIns="0">
            <a:spAutoFit/>
          </a:bodyPr>
          <a:lstStyle/>
          <a:p>
            <a:pPr algn="just">
              <a:lnSpc>
                <a:spcPts val="4285"/>
              </a:lnSpc>
            </a:pPr>
          </a:p>
          <a:p>
            <a:pPr algn="just" marL="675357" indent="-337678" lvl="1">
              <a:lnSpc>
                <a:spcPts val="4285"/>
              </a:lnSpc>
              <a:buFont typeface="Arial"/>
              <a:buChar char="•"/>
            </a:pPr>
            <a:r>
              <a:rPr lang="en-US" sz="3128">
                <a:solidFill>
                  <a:srgbClr val="FFFFFF"/>
                </a:solidFill>
                <a:latin typeface="Inter"/>
                <a:ea typeface="Inter"/>
                <a:cs typeface="Inter"/>
                <a:sym typeface="Inter"/>
              </a:rPr>
              <a:t>FIRE (Food Image to REcipe generation) leverages a multimodal approach combining computer vision for image understanding and natural language models for text generation.</a:t>
            </a:r>
          </a:p>
          <a:p>
            <a:pPr algn="just" marL="675357" indent="-337678" lvl="1">
              <a:lnSpc>
                <a:spcPts val="4285"/>
              </a:lnSpc>
              <a:buFont typeface="Arial"/>
              <a:buChar char="•"/>
            </a:pPr>
            <a:r>
              <a:rPr lang="en-US" sz="3128">
                <a:solidFill>
                  <a:srgbClr val="FFFFFF"/>
                </a:solidFill>
                <a:latin typeface="Inter"/>
                <a:ea typeface="Inter"/>
                <a:cs typeface="Inter"/>
                <a:sym typeface="Inter"/>
              </a:rPr>
              <a:t>The core architecture of FIRE consists of three key components:</a:t>
            </a:r>
          </a:p>
          <a:p>
            <a:pPr algn="just" marL="1350714" indent="-450238" lvl="2">
              <a:lnSpc>
                <a:spcPts val="4285"/>
              </a:lnSpc>
              <a:buFont typeface="Arial"/>
              <a:buChar char="⚬"/>
            </a:pPr>
            <a:r>
              <a:rPr lang="en-US" sz="3128">
                <a:solidFill>
                  <a:srgbClr val="FFFFFF"/>
                </a:solidFill>
                <a:latin typeface="Inter"/>
                <a:ea typeface="Inter"/>
                <a:cs typeface="Inter"/>
                <a:sym typeface="Inter"/>
              </a:rPr>
              <a:t>Title Generation using an image captioning model.</a:t>
            </a:r>
          </a:p>
          <a:p>
            <a:pPr algn="just" marL="1350714" indent="-450238" lvl="2">
              <a:lnSpc>
                <a:spcPts val="4285"/>
              </a:lnSpc>
              <a:buFont typeface="Arial"/>
              <a:buChar char="⚬"/>
            </a:pPr>
            <a:r>
              <a:rPr lang="en-US" sz="3128">
                <a:solidFill>
                  <a:srgbClr val="FFFFFF"/>
                </a:solidFill>
                <a:latin typeface="Inter"/>
                <a:ea typeface="Inter"/>
                <a:cs typeface="Inter"/>
                <a:sym typeface="Inter"/>
              </a:rPr>
              <a:t>Ingredient Extraction using a Vision Transformer (ViT).</a:t>
            </a:r>
          </a:p>
          <a:p>
            <a:pPr algn="just" marL="1350714" indent="-450238" lvl="2">
              <a:lnSpc>
                <a:spcPts val="4285"/>
              </a:lnSpc>
              <a:buFont typeface="Arial"/>
              <a:buChar char="⚬"/>
            </a:pPr>
            <a:r>
              <a:rPr lang="en-US" sz="3128">
                <a:solidFill>
                  <a:srgbClr val="FFFFFF"/>
                </a:solidFill>
                <a:latin typeface="Inter"/>
                <a:ea typeface="Inter"/>
                <a:cs typeface="Inter"/>
                <a:sym typeface="Inter"/>
              </a:rPr>
              <a:t>Cooking Instruction Generation using the T5 language model.</a:t>
            </a:r>
          </a:p>
          <a:p>
            <a:pPr algn="just">
              <a:lnSpc>
                <a:spcPts val="4285"/>
              </a:lnSpc>
            </a:pPr>
          </a:p>
        </p:txBody>
      </p:sp>
    </p:spTree>
  </p:cSld>
  <p:clrMapOvr>
    <a:masterClrMapping/>
  </p:clrMapOvr>
  <p:transition spd="slow">
    <p:fade/>
  </p:transition>
</p:sld>
</file>

<file path=ppt/slides/slide1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 </a:t>
            </a:r>
            <a:r>
              <a:rPr lang="en-US" b="true" sz="5625" spc="-236">
                <a:solidFill>
                  <a:srgbClr val="12BBFE"/>
                </a:solidFill>
                <a:latin typeface="Inter Bold"/>
                <a:ea typeface="Inter Bold"/>
                <a:cs typeface="Inter Bold"/>
                <a:sym typeface="Inter Bold"/>
              </a:rPr>
              <a:t>Step-by-Step Process of FIRE</a:t>
            </a:r>
          </a:p>
        </p:txBody>
      </p:sp>
      <p:sp>
        <p:nvSpPr>
          <p:cNvPr name="TextBox 6" id="6"/>
          <p:cNvSpPr txBox="true"/>
          <p:nvPr/>
        </p:nvSpPr>
        <p:spPr>
          <a:xfrm rot="0">
            <a:off x="1627476" y="2166008"/>
            <a:ext cx="14992946" cy="7071452"/>
          </a:xfrm>
          <a:prstGeom prst="rect">
            <a:avLst/>
          </a:prstGeom>
        </p:spPr>
        <p:txBody>
          <a:bodyPr anchor="t" rtlCol="false" tIns="0" lIns="0" bIns="0" rIns="0">
            <a:spAutoFit/>
          </a:bodyPr>
          <a:lstStyle/>
          <a:p>
            <a:pPr algn="just">
              <a:lnSpc>
                <a:spcPts val="4285"/>
              </a:lnSpc>
            </a:pPr>
          </a:p>
          <a:p>
            <a:pPr algn="just">
              <a:lnSpc>
                <a:spcPts val="4285"/>
              </a:lnSpc>
            </a:pPr>
            <a:r>
              <a:rPr lang="en-US" sz="3128">
                <a:solidFill>
                  <a:srgbClr val="FFFFFF"/>
                </a:solidFill>
                <a:latin typeface="Inter"/>
                <a:ea typeface="Inter"/>
                <a:cs typeface="Inter"/>
                <a:sym typeface="Inter"/>
              </a:rPr>
              <a:t>Step 1: Title Generation</a:t>
            </a:r>
          </a:p>
          <a:p>
            <a:pPr algn="just" marL="675357" indent="-337678" lvl="1">
              <a:lnSpc>
                <a:spcPts val="4285"/>
              </a:lnSpc>
              <a:buFont typeface="Arial"/>
              <a:buChar char="•"/>
            </a:pPr>
            <a:r>
              <a:rPr lang="en-US" sz="3128">
                <a:solidFill>
                  <a:srgbClr val="FFFFFF"/>
                </a:solidFill>
                <a:latin typeface="Inter"/>
                <a:ea typeface="Inter"/>
                <a:cs typeface="Inter"/>
                <a:sym typeface="Inter"/>
              </a:rPr>
              <a:t>Model Used: BLIP (Bootstrapping Language-Image Pre-training).</a:t>
            </a:r>
          </a:p>
          <a:p>
            <a:pPr algn="just" marL="675357" indent="-337678" lvl="1">
              <a:lnSpc>
                <a:spcPts val="4285"/>
              </a:lnSpc>
              <a:buFont typeface="Arial"/>
              <a:buChar char="•"/>
            </a:pPr>
            <a:r>
              <a:rPr lang="en-US" sz="3128">
                <a:solidFill>
                  <a:srgbClr val="FFFFFF"/>
                </a:solidFill>
                <a:latin typeface="Inter"/>
                <a:ea typeface="Inter"/>
                <a:cs typeface="Inter"/>
                <a:sym typeface="Inter"/>
              </a:rPr>
              <a:t>Input: A food image.</a:t>
            </a:r>
          </a:p>
          <a:p>
            <a:pPr algn="just" marL="675357" indent="-337678" lvl="1">
              <a:lnSpc>
                <a:spcPts val="4285"/>
              </a:lnSpc>
              <a:buFont typeface="Arial"/>
              <a:buChar char="•"/>
            </a:pPr>
            <a:r>
              <a:rPr lang="en-US" sz="3128">
                <a:solidFill>
                  <a:srgbClr val="FFFFFF"/>
                </a:solidFill>
                <a:latin typeface="Inter"/>
                <a:ea typeface="Inter"/>
                <a:cs typeface="Inter"/>
                <a:sym typeface="Inter"/>
              </a:rPr>
              <a:t>Output: A short, descriptive title for the dish.</a:t>
            </a:r>
          </a:p>
          <a:p>
            <a:pPr algn="just" marL="675357" indent="-337678" lvl="1">
              <a:lnSpc>
                <a:spcPts val="4285"/>
              </a:lnSpc>
              <a:buFont typeface="Arial"/>
              <a:buChar char="•"/>
            </a:pPr>
            <a:r>
              <a:rPr lang="en-US" sz="3128">
                <a:solidFill>
                  <a:srgbClr val="FFFFFF"/>
                </a:solidFill>
                <a:latin typeface="Inter"/>
                <a:ea typeface="Inter"/>
                <a:cs typeface="Inter"/>
                <a:sym typeface="Inter"/>
              </a:rPr>
              <a:t>Process:</a:t>
            </a:r>
          </a:p>
          <a:p>
            <a:pPr algn="just" marL="1350714" indent="-450238" lvl="2">
              <a:lnSpc>
                <a:spcPts val="4285"/>
              </a:lnSpc>
              <a:buFont typeface="Arial"/>
              <a:buChar char="⚬"/>
            </a:pPr>
            <a:r>
              <a:rPr lang="en-US" sz="3128">
                <a:solidFill>
                  <a:srgbClr val="FFFFFF"/>
                </a:solidFill>
                <a:latin typeface="Inter"/>
                <a:ea typeface="Inter"/>
                <a:cs typeface="Inter"/>
                <a:sym typeface="Inter"/>
              </a:rPr>
              <a:t>The input image is passed through a pre-trained image-captioning model, BLIP, which is fine-tuned on a food-specific dataset.</a:t>
            </a:r>
          </a:p>
          <a:p>
            <a:pPr algn="just" marL="1350714" indent="-450238" lvl="2">
              <a:lnSpc>
                <a:spcPts val="4285"/>
              </a:lnSpc>
              <a:buFont typeface="Arial"/>
              <a:buChar char="⚬"/>
            </a:pPr>
            <a:r>
              <a:rPr lang="en-US" sz="3128">
                <a:solidFill>
                  <a:srgbClr val="FFFFFF"/>
                </a:solidFill>
                <a:latin typeface="Inter"/>
                <a:ea typeface="Inter"/>
                <a:cs typeface="Inter"/>
                <a:sym typeface="Inter"/>
              </a:rPr>
              <a:t>The BLIP model generates captions describing the image.</a:t>
            </a:r>
          </a:p>
          <a:p>
            <a:pPr algn="just" marL="1350714" indent="-450238" lvl="2">
              <a:lnSpc>
                <a:spcPts val="4285"/>
              </a:lnSpc>
              <a:buFont typeface="Arial"/>
              <a:buChar char="⚬"/>
            </a:pPr>
            <a:r>
              <a:rPr lang="en-US" sz="3128">
                <a:solidFill>
                  <a:srgbClr val="FFFFFF"/>
                </a:solidFill>
                <a:latin typeface="Inter"/>
                <a:ea typeface="Inter"/>
                <a:cs typeface="Inter"/>
                <a:sym typeface="Inter"/>
              </a:rPr>
              <a:t>Fine-tuning helps the model focus on food-related titles rather than general captions (e.g., removing background or irrelevant information from the title).</a:t>
            </a:r>
          </a:p>
          <a:p>
            <a:pPr algn="just">
              <a:lnSpc>
                <a:spcPts val="4285"/>
              </a:lnSpc>
            </a:pPr>
          </a:p>
        </p:txBody>
      </p:sp>
    </p:spTree>
  </p:cSld>
  <p:clrMapOvr>
    <a:masterClrMapping/>
  </p:clrMapOvr>
  <p:transition spd="slow">
    <p:fade/>
  </p:transition>
</p:sld>
</file>

<file path=ppt/slides/slide1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Algorithm</a:t>
            </a:r>
          </a:p>
        </p:txBody>
      </p:sp>
      <p:sp>
        <p:nvSpPr>
          <p:cNvPr name="TextBox 6" id="6"/>
          <p:cNvSpPr txBox="true"/>
          <p:nvPr/>
        </p:nvSpPr>
        <p:spPr>
          <a:xfrm rot="0">
            <a:off x="1807685" y="2440102"/>
            <a:ext cx="14992946" cy="3790089"/>
          </a:xfrm>
          <a:prstGeom prst="rect">
            <a:avLst/>
          </a:prstGeom>
        </p:spPr>
        <p:txBody>
          <a:bodyPr anchor="t" rtlCol="false" tIns="0" lIns="0" bIns="0" rIns="0">
            <a:spAutoFit/>
          </a:bodyPr>
          <a:lstStyle/>
          <a:p>
            <a:pPr algn="just">
              <a:lnSpc>
                <a:spcPts val="4285"/>
              </a:lnSpc>
            </a:pPr>
          </a:p>
          <a:p>
            <a:pPr algn="just" marL="675357" indent="-337678" lvl="1">
              <a:lnSpc>
                <a:spcPts val="4285"/>
              </a:lnSpc>
              <a:buFont typeface="Arial"/>
              <a:buChar char="•"/>
            </a:pPr>
            <a:r>
              <a:rPr lang="en-US" sz="3128">
                <a:solidFill>
                  <a:srgbClr val="FFFFFF"/>
                </a:solidFill>
                <a:latin typeface="Inter"/>
                <a:ea typeface="Inter"/>
                <a:cs typeface="Inter"/>
                <a:sym typeface="Inter"/>
              </a:rPr>
              <a:t>Fine-tuned BLIP model learns to minimize the difference between predicted and ground-truth titles using cross-entropy loss during training.</a:t>
            </a:r>
          </a:p>
          <a:p>
            <a:pPr algn="just" marL="675357" indent="-337678" lvl="1">
              <a:lnSpc>
                <a:spcPts val="4285"/>
              </a:lnSpc>
              <a:buFont typeface="Arial"/>
              <a:buChar char="•"/>
            </a:pPr>
            <a:r>
              <a:rPr lang="en-US" sz="3128">
                <a:solidFill>
                  <a:srgbClr val="FFFFFF"/>
                </a:solidFill>
                <a:latin typeface="Inter"/>
                <a:ea typeface="Inter"/>
                <a:cs typeface="Inter"/>
                <a:sym typeface="Inter"/>
              </a:rPr>
              <a:t>The model uses a transformer-based encoder-decoder architecture to generate captions, where the encoder extracts image features, and the decoder generates the title.</a:t>
            </a:r>
          </a:p>
          <a:p>
            <a:pPr algn="just">
              <a:lnSpc>
                <a:spcPts val="4285"/>
              </a:lnSpc>
            </a:pPr>
          </a:p>
        </p:txBody>
      </p:sp>
    </p:spTree>
  </p:cSld>
  <p:clrMapOvr>
    <a:masterClrMapping/>
  </p:clrMapOvr>
  <p:transition spd="slow">
    <p:fade/>
  </p:transition>
</p:sld>
</file>

<file path=ppt/slides/slide1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 </a:t>
            </a:r>
            <a:r>
              <a:rPr lang="en-US" b="true" sz="5625" spc="-236">
                <a:solidFill>
                  <a:srgbClr val="12BBFE"/>
                </a:solidFill>
                <a:latin typeface="Inter Bold"/>
                <a:ea typeface="Inter Bold"/>
                <a:cs typeface="Inter Bold"/>
                <a:sym typeface="Inter Bold"/>
              </a:rPr>
              <a:t>Step-by-Step Process of FIRE</a:t>
            </a:r>
          </a:p>
        </p:txBody>
      </p:sp>
      <p:sp>
        <p:nvSpPr>
          <p:cNvPr name="TextBox 6" id="6"/>
          <p:cNvSpPr txBox="true"/>
          <p:nvPr/>
        </p:nvSpPr>
        <p:spPr>
          <a:xfrm rot="0">
            <a:off x="1627476" y="2437471"/>
            <a:ext cx="14992946" cy="6528527"/>
          </a:xfrm>
          <a:prstGeom prst="rect">
            <a:avLst/>
          </a:prstGeom>
        </p:spPr>
        <p:txBody>
          <a:bodyPr anchor="t" rtlCol="false" tIns="0" lIns="0" bIns="0" rIns="0">
            <a:spAutoFit/>
          </a:bodyPr>
          <a:lstStyle/>
          <a:p>
            <a:pPr algn="just">
              <a:lnSpc>
                <a:spcPts val="4285"/>
              </a:lnSpc>
            </a:pPr>
            <a:r>
              <a:rPr lang="en-US" sz="3128">
                <a:solidFill>
                  <a:srgbClr val="FFFFFF"/>
                </a:solidFill>
                <a:latin typeface="Inter"/>
                <a:ea typeface="Inter"/>
                <a:cs typeface="Inter"/>
                <a:sym typeface="Inter"/>
              </a:rPr>
              <a:t>Step 2: Ingredient Extraction</a:t>
            </a:r>
          </a:p>
          <a:p>
            <a:pPr algn="just" marL="675357" indent="-337678" lvl="1">
              <a:lnSpc>
                <a:spcPts val="4285"/>
              </a:lnSpc>
              <a:buFont typeface="Arial"/>
              <a:buChar char="•"/>
            </a:pPr>
            <a:r>
              <a:rPr lang="en-US" sz="3128">
                <a:solidFill>
                  <a:srgbClr val="FFFFFF"/>
                </a:solidFill>
                <a:latin typeface="Inter"/>
                <a:ea typeface="Inter"/>
                <a:cs typeface="Inter"/>
                <a:sym typeface="Inter"/>
              </a:rPr>
              <a:t>Model Used: Vision Transformer (ViT) with an attention-based decoder.</a:t>
            </a:r>
          </a:p>
          <a:p>
            <a:pPr algn="just" marL="675357" indent="-337678" lvl="1">
              <a:lnSpc>
                <a:spcPts val="4285"/>
              </a:lnSpc>
              <a:buFont typeface="Arial"/>
              <a:buChar char="•"/>
            </a:pPr>
            <a:r>
              <a:rPr lang="en-US" sz="3128">
                <a:solidFill>
                  <a:srgbClr val="FFFFFF"/>
                </a:solidFill>
                <a:latin typeface="Inter"/>
                <a:ea typeface="Inter"/>
                <a:cs typeface="Inter"/>
                <a:sym typeface="Inter"/>
              </a:rPr>
              <a:t>Input: The same food image.</a:t>
            </a:r>
          </a:p>
          <a:p>
            <a:pPr algn="just" marL="675357" indent="-337678" lvl="1">
              <a:lnSpc>
                <a:spcPts val="4285"/>
              </a:lnSpc>
              <a:buFont typeface="Arial"/>
              <a:buChar char="•"/>
            </a:pPr>
            <a:r>
              <a:rPr lang="en-US" sz="3128">
                <a:solidFill>
                  <a:srgbClr val="FFFFFF"/>
                </a:solidFill>
                <a:latin typeface="Inter"/>
                <a:ea typeface="Inter"/>
                <a:cs typeface="Inter"/>
                <a:sym typeface="Inter"/>
              </a:rPr>
              <a:t>Output: A list of ingredients (in set form, without quantity at this stage).</a:t>
            </a:r>
          </a:p>
          <a:p>
            <a:pPr algn="just" marL="675357" indent="-337678" lvl="1">
              <a:lnSpc>
                <a:spcPts val="4285"/>
              </a:lnSpc>
              <a:buFont typeface="Arial"/>
              <a:buChar char="•"/>
            </a:pPr>
            <a:r>
              <a:rPr lang="en-US" sz="3128">
                <a:solidFill>
                  <a:srgbClr val="FFFFFF"/>
                </a:solidFill>
                <a:latin typeface="Inter"/>
                <a:ea typeface="Inter"/>
                <a:cs typeface="Inter"/>
                <a:sym typeface="Inter"/>
              </a:rPr>
              <a:t>Process:</a:t>
            </a:r>
          </a:p>
          <a:p>
            <a:pPr algn="just" marL="1350714" indent="-450238" lvl="2">
              <a:lnSpc>
                <a:spcPts val="4285"/>
              </a:lnSpc>
              <a:buFont typeface="Arial"/>
              <a:buChar char="⚬"/>
            </a:pPr>
            <a:r>
              <a:rPr lang="en-US" sz="3128">
                <a:solidFill>
                  <a:srgbClr val="FFFFFF"/>
                </a:solidFill>
                <a:latin typeface="Inter"/>
                <a:ea typeface="Inter"/>
                <a:cs typeface="Inter"/>
                <a:sym typeface="Inter"/>
              </a:rPr>
              <a:t>The input image is processed through a Vision Transformer (ViT), which extracts features from different regions of the image using self-attention mechanisms.</a:t>
            </a:r>
          </a:p>
          <a:p>
            <a:pPr algn="just" marL="1350714" indent="-450238" lvl="2">
              <a:lnSpc>
                <a:spcPts val="4285"/>
              </a:lnSpc>
              <a:buFont typeface="Arial"/>
              <a:buChar char="⚬"/>
            </a:pPr>
            <a:r>
              <a:rPr lang="en-US" sz="3128">
                <a:solidFill>
                  <a:srgbClr val="FFFFFF"/>
                </a:solidFill>
                <a:latin typeface="Inter"/>
                <a:ea typeface="Inter"/>
                <a:cs typeface="Inter"/>
                <a:sym typeface="Inter"/>
              </a:rPr>
              <a:t>These features are passed through a decoder that predicts ingredients.</a:t>
            </a:r>
          </a:p>
          <a:p>
            <a:pPr algn="just" marL="1350714" indent="-450238" lvl="2">
              <a:lnSpc>
                <a:spcPts val="4285"/>
              </a:lnSpc>
              <a:buFont typeface="Arial"/>
              <a:buChar char="⚬"/>
            </a:pPr>
            <a:r>
              <a:rPr lang="en-US" sz="3128">
                <a:solidFill>
                  <a:srgbClr val="FFFFFF"/>
                </a:solidFill>
                <a:latin typeface="Inter"/>
                <a:ea typeface="Inter"/>
                <a:cs typeface="Inter"/>
                <a:sym typeface="Inter"/>
              </a:rPr>
              <a:t>The decoder is conditioned on the extracted visual features and uses a multi-layer attention mechanism to output the relevant ingredients.</a:t>
            </a:r>
          </a:p>
          <a:p>
            <a:pPr algn="just">
              <a:lnSpc>
                <a:spcPts val="4285"/>
              </a:lnSpc>
            </a:pPr>
          </a:p>
        </p:txBody>
      </p:sp>
    </p:spTree>
  </p:cSld>
  <p:clrMapOvr>
    <a:masterClrMapping/>
  </p:clrMapOvr>
  <p:transition spd="slow">
    <p:fade/>
  </p:transition>
</p:sld>
</file>

<file path=ppt/slides/slide1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Algorithm</a:t>
            </a:r>
          </a:p>
        </p:txBody>
      </p:sp>
      <p:sp>
        <p:nvSpPr>
          <p:cNvPr name="TextBox 6" id="6"/>
          <p:cNvSpPr txBox="true"/>
          <p:nvPr/>
        </p:nvSpPr>
        <p:spPr>
          <a:xfrm rot="0">
            <a:off x="1627476" y="2444615"/>
            <a:ext cx="14992946" cy="6514239"/>
          </a:xfrm>
          <a:prstGeom prst="rect">
            <a:avLst/>
          </a:prstGeom>
        </p:spPr>
        <p:txBody>
          <a:bodyPr anchor="t" rtlCol="false" tIns="0" lIns="0" bIns="0" rIns="0">
            <a:spAutoFit/>
          </a:bodyPr>
          <a:lstStyle/>
          <a:p>
            <a:pPr algn="just">
              <a:lnSpc>
                <a:spcPts val="4285"/>
              </a:lnSpc>
            </a:pPr>
          </a:p>
          <a:p>
            <a:pPr algn="just" marL="675357" indent="-337678" lvl="1">
              <a:lnSpc>
                <a:spcPts val="4285"/>
              </a:lnSpc>
              <a:buFont typeface="Arial"/>
              <a:buChar char="•"/>
            </a:pPr>
            <a:r>
              <a:rPr lang="en-US" sz="3128">
                <a:solidFill>
                  <a:srgbClr val="FFFFFF"/>
                </a:solidFill>
                <a:latin typeface="Inter"/>
                <a:ea typeface="Inter"/>
                <a:cs typeface="Inter"/>
                <a:sym typeface="Inter"/>
              </a:rPr>
              <a:t>ViT uses a series of self-attention layers to capture both global and local image features.</a:t>
            </a:r>
          </a:p>
          <a:p>
            <a:pPr algn="just" marL="675357" indent="-337678" lvl="1">
              <a:lnSpc>
                <a:spcPts val="4285"/>
              </a:lnSpc>
              <a:buFont typeface="Arial"/>
              <a:buChar char="•"/>
            </a:pPr>
            <a:r>
              <a:rPr lang="en-US" sz="3128">
                <a:solidFill>
                  <a:srgbClr val="FFFFFF"/>
                </a:solidFill>
                <a:latin typeface="Inter"/>
                <a:ea typeface="Inter"/>
                <a:cs typeface="Inter"/>
                <a:sym typeface="Inter"/>
              </a:rPr>
              <a:t>The ingredient extraction decoder works by predicting each ingredient sequentially until it encounters an End-of-Sequence (EOS) token.</a:t>
            </a:r>
          </a:p>
          <a:p>
            <a:pPr algn="just" marL="675357" indent="-337678" lvl="1">
              <a:lnSpc>
                <a:spcPts val="4285"/>
              </a:lnSpc>
              <a:buFont typeface="Arial"/>
              <a:buChar char="•"/>
            </a:pPr>
            <a:r>
              <a:rPr lang="en-US" sz="3128">
                <a:solidFill>
                  <a:srgbClr val="FFFFFF"/>
                </a:solidFill>
                <a:latin typeface="Inter"/>
                <a:ea typeface="Inter"/>
                <a:cs typeface="Inter"/>
                <a:sym typeface="Inter"/>
              </a:rPr>
              <a:t>The predicted ingredient list is represented as a binary vector, where each position corresponds to whether a particular ingredient is present (1) or absent (0) in the recipe.</a:t>
            </a:r>
          </a:p>
          <a:p>
            <a:pPr algn="just" marL="675357" indent="-337678" lvl="1">
              <a:lnSpc>
                <a:spcPts val="4285"/>
              </a:lnSpc>
              <a:buFont typeface="Arial"/>
              <a:buChar char="•"/>
            </a:pPr>
            <a:r>
              <a:rPr lang="en-US" sz="3128">
                <a:solidFill>
                  <a:srgbClr val="FFFFFF"/>
                </a:solidFill>
                <a:latin typeface="Inter"/>
                <a:ea typeface="Inter"/>
                <a:cs typeface="Inter"/>
                <a:sym typeface="Inter"/>
              </a:rPr>
              <a:t>Loss </a:t>
            </a:r>
            <a:r>
              <a:rPr lang="en-US" sz="3128">
                <a:solidFill>
                  <a:srgbClr val="FFFFFF"/>
                </a:solidFill>
                <a:latin typeface="Inter"/>
                <a:ea typeface="Inter"/>
                <a:cs typeface="Inter"/>
                <a:sym typeface="Inter"/>
              </a:rPr>
              <a:t>Function: The model minimizes a combination of binary cross-entropy loss (for correct ingredient prediction) and cardinality loss (which helps the model predict the correct number of ingredients).</a:t>
            </a:r>
          </a:p>
          <a:p>
            <a:pPr algn="just">
              <a:lnSpc>
                <a:spcPts val="4285"/>
              </a:lnSpc>
            </a:pPr>
          </a:p>
        </p:txBody>
      </p:sp>
    </p:spTree>
  </p:cSld>
  <p:clrMapOvr>
    <a:masterClrMapping/>
  </p:clrMapOvr>
  <p:transition spd="slow">
    <p:fade/>
  </p:transition>
</p:sld>
</file>

<file path=ppt/slides/slide1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 </a:t>
            </a:r>
            <a:r>
              <a:rPr lang="en-US" b="true" sz="5625" spc="-236">
                <a:solidFill>
                  <a:srgbClr val="12BBFE"/>
                </a:solidFill>
                <a:latin typeface="Inter Bold"/>
                <a:ea typeface="Inter Bold"/>
                <a:cs typeface="Inter Bold"/>
                <a:sym typeface="Inter Bold"/>
              </a:rPr>
              <a:t>Step-by-Step Process of FIRE</a:t>
            </a:r>
          </a:p>
        </p:txBody>
      </p:sp>
      <p:sp>
        <p:nvSpPr>
          <p:cNvPr name="TextBox 6" id="6"/>
          <p:cNvSpPr txBox="true"/>
          <p:nvPr/>
        </p:nvSpPr>
        <p:spPr>
          <a:xfrm rot="0">
            <a:off x="1627476" y="2166008"/>
            <a:ext cx="14992946" cy="7071452"/>
          </a:xfrm>
          <a:prstGeom prst="rect">
            <a:avLst/>
          </a:prstGeom>
        </p:spPr>
        <p:txBody>
          <a:bodyPr anchor="t" rtlCol="false" tIns="0" lIns="0" bIns="0" rIns="0">
            <a:spAutoFit/>
          </a:bodyPr>
          <a:lstStyle/>
          <a:p>
            <a:pPr algn="just">
              <a:lnSpc>
                <a:spcPts val="4285"/>
              </a:lnSpc>
            </a:pPr>
            <a:r>
              <a:rPr lang="en-US" sz="3128">
                <a:solidFill>
                  <a:srgbClr val="FFFFFF"/>
                </a:solidFill>
                <a:latin typeface="Inter"/>
                <a:ea typeface="Inter"/>
                <a:cs typeface="Inter"/>
                <a:sym typeface="Inter"/>
              </a:rPr>
              <a:t>Step 3: Cooking Instruction Generation</a:t>
            </a:r>
          </a:p>
          <a:p>
            <a:pPr algn="just" marL="675357" indent="-337678" lvl="1">
              <a:lnSpc>
                <a:spcPts val="4285"/>
              </a:lnSpc>
              <a:buFont typeface="Arial"/>
              <a:buChar char="•"/>
            </a:pPr>
            <a:r>
              <a:rPr lang="en-US" sz="3128">
                <a:solidFill>
                  <a:srgbClr val="FFFFFF"/>
                </a:solidFill>
                <a:latin typeface="Inter"/>
                <a:ea typeface="Inter"/>
                <a:cs typeface="Inter"/>
                <a:sym typeface="Inter"/>
              </a:rPr>
              <a:t>Model Used: T5 (Text-to-Text Transfer Transformer).</a:t>
            </a:r>
          </a:p>
          <a:p>
            <a:pPr algn="just" marL="675357" indent="-337678" lvl="1">
              <a:lnSpc>
                <a:spcPts val="4285"/>
              </a:lnSpc>
              <a:buFont typeface="Arial"/>
              <a:buChar char="•"/>
            </a:pPr>
            <a:r>
              <a:rPr lang="en-US" sz="3128">
                <a:solidFill>
                  <a:srgbClr val="FFFFFF"/>
                </a:solidFill>
                <a:latin typeface="Inter"/>
                <a:ea typeface="Inter"/>
                <a:cs typeface="Inter"/>
                <a:sym typeface="Inter"/>
              </a:rPr>
              <a:t>Input: The generated title and the list of extracted ingredients.</a:t>
            </a:r>
          </a:p>
          <a:p>
            <a:pPr algn="just" marL="675357" indent="-337678" lvl="1">
              <a:lnSpc>
                <a:spcPts val="4285"/>
              </a:lnSpc>
              <a:buFont typeface="Arial"/>
              <a:buChar char="•"/>
            </a:pPr>
            <a:r>
              <a:rPr lang="en-US" sz="3128">
                <a:solidFill>
                  <a:srgbClr val="FFFFFF"/>
                </a:solidFill>
                <a:latin typeface="Inter"/>
                <a:ea typeface="Inter"/>
                <a:cs typeface="Inter"/>
                <a:sym typeface="Inter"/>
              </a:rPr>
              <a:t>Output: Step-by-step cooking instructions in natural language.</a:t>
            </a:r>
          </a:p>
          <a:p>
            <a:pPr algn="just" marL="675357" indent="-337678" lvl="1">
              <a:lnSpc>
                <a:spcPts val="4285"/>
              </a:lnSpc>
              <a:buFont typeface="Arial"/>
              <a:buChar char="•"/>
            </a:pPr>
            <a:r>
              <a:rPr lang="en-US" sz="3128">
                <a:solidFill>
                  <a:srgbClr val="FFFFFF"/>
                </a:solidFill>
                <a:latin typeface="Inter"/>
                <a:ea typeface="Inter"/>
                <a:cs typeface="Inter"/>
                <a:sym typeface="Inter"/>
              </a:rPr>
              <a:t>Process:</a:t>
            </a:r>
          </a:p>
          <a:p>
            <a:pPr algn="just" marL="1350714" indent="-450238" lvl="2">
              <a:lnSpc>
                <a:spcPts val="4285"/>
              </a:lnSpc>
              <a:buFont typeface="Arial"/>
              <a:buChar char="⚬"/>
            </a:pPr>
            <a:r>
              <a:rPr lang="en-US" sz="3128">
                <a:solidFill>
                  <a:srgbClr val="FFFFFF"/>
                </a:solidFill>
                <a:latin typeface="Inter"/>
                <a:ea typeface="Inter"/>
                <a:cs typeface="Inter"/>
                <a:sym typeface="Inter"/>
              </a:rPr>
              <a:t>The T5 model is fine-tuned to generate cooking instructions based on a formatted input combining the dish title and the list of ingredients.</a:t>
            </a:r>
          </a:p>
          <a:p>
            <a:pPr algn="just" marL="1350714" indent="-450238" lvl="2">
              <a:lnSpc>
                <a:spcPts val="4285"/>
              </a:lnSpc>
              <a:buFont typeface="Arial"/>
              <a:buChar char="⚬"/>
            </a:pPr>
            <a:r>
              <a:rPr lang="en-US" sz="3128">
                <a:solidFill>
                  <a:srgbClr val="FFFFFF"/>
                </a:solidFill>
                <a:latin typeface="Inter"/>
                <a:ea typeface="Inter"/>
                <a:cs typeface="Inter"/>
                <a:sym typeface="Inter"/>
              </a:rPr>
              <a:t>The T5 model works by taking a sequence of text inputs and generating another sequence (the instructions) as output.</a:t>
            </a:r>
          </a:p>
          <a:p>
            <a:pPr algn="just" marL="1350714" indent="-450238" lvl="2">
              <a:lnSpc>
                <a:spcPts val="4285"/>
              </a:lnSpc>
              <a:buFont typeface="Arial"/>
              <a:buChar char="⚬"/>
            </a:pPr>
            <a:r>
              <a:rPr lang="en-US" sz="3128">
                <a:solidFill>
                  <a:srgbClr val="FFFFFF"/>
                </a:solidFill>
                <a:latin typeface="Inter"/>
                <a:ea typeface="Inter"/>
                <a:cs typeface="Inter"/>
                <a:sym typeface="Inter"/>
              </a:rPr>
              <a:t>The training is done using the Recipe1M dataset, where the model learns the relationships between ingredients, titles, and the sequence of instructions.</a:t>
            </a:r>
          </a:p>
          <a:p>
            <a:pPr algn="just">
              <a:lnSpc>
                <a:spcPts val="4285"/>
              </a:lnSpc>
            </a:pPr>
          </a:p>
        </p:txBody>
      </p:sp>
    </p:spTree>
  </p:cSld>
  <p:clrMapOvr>
    <a:masterClrMapping/>
  </p:clrMapOvr>
  <p:transition spd="slow">
    <p:fade/>
  </p:transition>
</p:sld>
</file>

<file path=ppt/slides/slide1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Algorithm</a:t>
            </a:r>
          </a:p>
        </p:txBody>
      </p:sp>
      <p:sp>
        <p:nvSpPr>
          <p:cNvPr name="TextBox 6" id="6"/>
          <p:cNvSpPr txBox="true"/>
          <p:nvPr/>
        </p:nvSpPr>
        <p:spPr>
          <a:xfrm rot="0">
            <a:off x="1627476" y="2985158"/>
            <a:ext cx="14992946" cy="5433152"/>
          </a:xfrm>
          <a:prstGeom prst="rect">
            <a:avLst/>
          </a:prstGeom>
        </p:spPr>
        <p:txBody>
          <a:bodyPr anchor="t" rtlCol="false" tIns="0" lIns="0" bIns="0" rIns="0">
            <a:spAutoFit/>
          </a:bodyPr>
          <a:lstStyle/>
          <a:p>
            <a:pPr algn="just">
              <a:lnSpc>
                <a:spcPts val="4285"/>
              </a:lnSpc>
            </a:pPr>
          </a:p>
          <a:p>
            <a:pPr algn="just" marL="675357" indent="-337678" lvl="1">
              <a:lnSpc>
                <a:spcPts val="4285"/>
              </a:lnSpc>
              <a:buFont typeface="Arial"/>
              <a:buChar char="•"/>
            </a:pPr>
            <a:r>
              <a:rPr lang="en-US" sz="3128">
                <a:solidFill>
                  <a:srgbClr val="FFFFFF"/>
                </a:solidFill>
                <a:latin typeface="Inter"/>
                <a:ea typeface="Inter"/>
                <a:cs typeface="Inter"/>
                <a:sym typeface="Inter"/>
              </a:rPr>
              <a:t>T5</a:t>
            </a:r>
            <a:r>
              <a:rPr lang="en-US" sz="3128">
                <a:solidFill>
                  <a:srgbClr val="FFFFFF"/>
                </a:solidFill>
                <a:latin typeface="Inter"/>
                <a:ea typeface="Inter"/>
                <a:cs typeface="Inter"/>
                <a:sym typeface="Inter"/>
              </a:rPr>
              <a:t> uses an encoder-decoder transformer architecture:</a:t>
            </a:r>
          </a:p>
          <a:p>
            <a:pPr algn="just" marL="1350714" indent="-450238" lvl="2">
              <a:lnSpc>
                <a:spcPts val="4285"/>
              </a:lnSpc>
              <a:buFont typeface="Arial"/>
              <a:buChar char="⚬"/>
            </a:pPr>
            <a:r>
              <a:rPr lang="en-US" sz="3128">
                <a:solidFill>
                  <a:srgbClr val="FFFFFF"/>
                </a:solidFill>
                <a:latin typeface="Inter"/>
                <a:ea typeface="Inter"/>
                <a:cs typeface="Inter"/>
                <a:sym typeface="Inter"/>
              </a:rPr>
              <a:t>The encoder processes the concatenated input (title + ingredients).</a:t>
            </a:r>
          </a:p>
          <a:p>
            <a:pPr algn="just" marL="1350714" indent="-450238" lvl="2">
              <a:lnSpc>
                <a:spcPts val="4285"/>
              </a:lnSpc>
              <a:buFont typeface="Arial"/>
              <a:buChar char="⚬"/>
            </a:pPr>
            <a:r>
              <a:rPr lang="en-US" sz="3128">
                <a:solidFill>
                  <a:srgbClr val="FFFFFF"/>
                </a:solidFill>
                <a:latin typeface="Inter"/>
                <a:ea typeface="Inter"/>
                <a:cs typeface="Inter"/>
                <a:sym typeface="Inter"/>
              </a:rPr>
              <a:t>The</a:t>
            </a:r>
            <a:r>
              <a:rPr lang="en-US" sz="3128">
                <a:solidFill>
                  <a:srgbClr val="FFFFFF"/>
                </a:solidFill>
                <a:latin typeface="Inter"/>
                <a:ea typeface="Inter"/>
                <a:cs typeface="Inter"/>
                <a:sym typeface="Inter"/>
              </a:rPr>
              <a:t> decoder generates the instructions one step at a time, using self-attention to ensure that each part of the instruction is coherent.</a:t>
            </a:r>
          </a:p>
          <a:p>
            <a:pPr algn="just" marL="675357" indent="-337678" lvl="1">
              <a:lnSpc>
                <a:spcPts val="4285"/>
              </a:lnSpc>
              <a:buFont typeface="Arial"/>
              <a:buChar char="•"/>
            </a:pPr>
            <a:r>
              <a:rPr lang="en-US" sz="3128">
                <a:solidFill>
                  <a:srgbClr val="FFFFFF"/>
                </a:solidFill>
                <a:latin typeface="Inter"/>
                <a:ea typeface="Inter"/>
                <a:cs typeface="Inter"/>
                <a:sym typeface="Inter"/>
              </a:rPr>
              <a:t>During inference, the model predicts cooking instructions based on the title and ingredients alone, as ingredient quantities are not available at test time.</a:t>
            </a:r>
          </a:p>
          <a:p>
            <a:pPr algn="just" marL="675357" indent="-337678" lvl="1">
              <a:lnSpc>
                <a:spcPts val="4285"/>
              </a:lnSpc>
              <a:buFont typeface="Arial"/>
              <a:buChar char="•"/>
            </a:pPr>
            <a:r>
              <a:rPr lang="en-US" sz="3128">
                <a:solidFill>
                  <a:srgbClr val="FFFFFF"/>
                </a:solidFill>
                <a:latin typeface="Inter"/>
                <a:ea typeface="Inter"/>
                <a:cs typeface="Inter"/>
                <a:sym typeface="Inter"/>
              </a:rPr>
              <a:t>The model is trained using maximum likelihood estimation (MLE), where the predicted sequence of instructions is compared to the ground truth.</a:t>
            </a:r>
          </a:p>
          <a:p>
            <a:pPr algn="just">
              <a:lnSpc>
                <a:spcPts val="4285"/>
              </a:lnSpc>
            </a:pPr>
          </a:p>
        </p:txBody>
      </p:sp>
    </p:spTree>
  </p:cSld>
  <p:clrMapOvr>
    <a:masterClrMapping/>
  </p:clrMapOvr>
  <p:transition spd="slow">
    <p:fade/>
  </p:transition>
</p:sld>
</file>

<file path=ppt/slides/slide17.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646416" y="704802"/>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 </a:t>
            </a:r>
            <a:r>
              <a:rPr lang="en-US" b="true" sz="5625" spc="-236">
                <a:solidFill>
                  <a:srgbClr val="12BBFE"/>
                </a:solidFill>
                <a:latin typeface="Inter Bold"/>
                <a:ea typeface="Inter Bold"/>
                <a:cs typeface="Inter Bold"/>
                <a:sym typeface="Inter Bold"/>
              </a:rPr>
              <a:t>Step-by-Step Process of FIRE</a:t>
            </a:r>
          </a:p>
        </p:txBody>
      </p:sp>
      <p:sp>
        <p:nvSpPr>
          <p:cNvPr name="TextBox 6" id="6"/>
          <p:cNvSpPr txBox="true"/>
          <p:nvPr/>
        </p:nvSpPr>
        <p:spPr>
          <a:xfrm rot="0">
            <a:off x="743219" y="1791942"/>
            <a:ext cx="17050336" cy="8147777"/>
          </a:xfrm>
          <a:prstGeom prst="rect">
            <a:avLst/>
          </a:prstGeom>
        </p:spPr>
        <p:txBody>
          <a:bodyPr anchor="t" rtlCol="false" tIns="0" lIns="0" bIns="0" rIns="0">
            <a:spAutoFit/>
          </a:bodyPr>
          <a:lstStyle/>
          <a:p>
            <a:pPr algn="just">
              <a:lnSpc>
                <a:spcPts val="4285"/>
              </a:lnSpc>
            </a:pPr>
            <a:r>
              <a:rPr lang="en-US" sz="3128">
                <a:solidFill>
                  <a:srgbClr val="FFFFFF"/>
                </a:solidFill>
                <a:latin typeface="Inter"/>
                <a:ea typeface="Inter"/>
                <a:cs typeface="Inter"/>
                <a:sym typeface="Inter"/>
              </a:rPr>
              <a:t>Training Process</a:t>
            </a:r>
          </a:p>
          <a:p>
            <a:pPr algn="just" marL="675357" indent="-337678" lvl="1">
              <a:lnSpc>
                <a:spcPts val="4285"/>
              </a:lnSpc>
              <a:buAutoNum type="arabicPeriod" startAt="1"/>
            </a:pPr>
            <a:r>
              <a:rPr lang="en-US" sz="3128">
                <a:solidFill>
                  <a:srgbClr val="FFFFFF"/>
                </a:solidFill>
                <a:latin typeface="Inter"/>
                <a:ea typeface="Inter"/>
                <a:cs typeface="Inter"/>
                <a:sym typeface="Inter"/>
              </a:rPr>
              <a:t>Data Preprocessing:</a:t>
            </a:r>
          </a:p>
          <a:p>
            <a:pPr algn="just" marL="1350714" indent="-450238" lvl="2">
              <a:lnSpc>
                <a:spcPts val="4285"/>
              </a:lnSpc>
              <a:buFont typeface="Arial"/>
              <a:buChar char="⚬"/>
            </a:pPr>
            <a:r>
              <a:rPr lang="en-US" sz="3128">
                <a:solidFill>
                  <a:srgbClr val="FFFFFF"/>
                </a:solidFill>
                <a:latin typeface="Inter"/>
                <a:ea typeface="Inter"/>
                <a:cs typeface="Inter"/>
                <a:sym typeface="Inter"/>
              </a:rPr>
              <a:t>R</a:t>
            </a:r>
            <a:r>
              <a:rPr lang="en-US" sz="3128">
                <a:solidFill>
                  <a:srgbClr val="FFFFFF"/>
                </a:solidFill>
                <a:latin typeface="Inter"/>
                <a:ea typeface="Inter"/>
                <a:cs typeface="Inter"/>
                <a:sym typeface="Inter"/>
              </a:rPr>
              <a:t>ecipe1M Dataset: Contains recipes with titles, ingredients, and instructions, along with corresponding food images.</a:t>
            </a:r>
          </a:p>
          <a:p>
            <a:pPr algn="just" marL="1350714" indent="-450238" lvl="2">
              <a:lnSpc>
                <a:spcPts val="4285"/>
              </a:lnSpc>
              <a:buFont typeface="Arial"/>
              <a:buChar char="⚬"/>
            </a:pPr>
            <a:r>
              <a:rPr lang="en-US" sz="3128">
                <a:solidFill>
                  <a:srgbClr val="FFFFFF"/>
                </a:solidFill>
                <a:latin typeface="Inter"/>
                <a:ea typeface="Inter"/>
                <a:cs typeface="Inter"/>
                <a:sym typeface="Inter"/>
              </a:rPr>
              <a:t>Preprocess the dataset by filtering for recipes with images, and normalize the text data for ingredients and instructions.</a:t>
            </a:r>
          </a:p>
          <a:p>
            <a:pPr algn="just" marL="675357" indent="-337678" lvl="1">
              <a:lnSpc>
                <a:spcPts val="4285"/>
              </a:lnSpc>
              <a:buAutoNum type="arabicPeriod" startAt="1"/>
            </a:pPr>
            <a:r>
              <a:rPr lang="en-US" sz="3128">
                <a:solidFill>
                  <a:srgbClr val="FFFFFF"/>
                </a:solidFill>
                <a:latin typeface="Inter"/>
                <a:ea typeface="Inter"/>
                <a:cs typeface="Inter"/>
                <a:sym typeface="Inter"/>
              </a:rPr>
              <a:t>Model Training:</a:t>
            </a:r>
          </a:p>
          <a:p>
            <a:pPr algn="just" marL="1350714" indent="-450238" lvl="2">
              <a:lnSpc>
                <a:spcPts val="4285"/>
              </a:lnSpc>
              <a:buFont typeface="Arial"/>
              <a:buChar char="⚬"/>
            </a:pPr>
            <a:r>
              <a:rPr lang="en-US" sz="3128">
                <a:solidFill>
                  <a:srgbClr val="FFFFFF"/>
                </a:solidFill>
                <a:latin typeface="Inter"/>
                <a:ea typeface="Inter"/>
                <a:cs typeface="Inter"/>
                <a:sym typeface="Inter"/>
              </a:rPr>
              <a:t>Fine-tuning BLIP: Train the BLIP model on food-related data, ensuring it generates concise and relevant recipe titles.</a:t>
            </a:r>
          </a:p>
          <a:p>
            <a:pPr algn="just" marL="1350714" indent="-450238" lvl="2">
              <a:lnSpc>
                <a:spcPts val="4285"/>
              </a:lnSpc>
              <a:buFont typeface="Arial"/>
              <a:buChar char="⚬"/>
            </a:pPr>
            <a:r>
              <a:rPr lang="en-US" sz="3128">
                <a:solidFill>
                  <a:srgbClr val="FFFFFF"/>
                </a:solidFill>
                <a:latin typeface="Inter"/>
                <a:ea typeface="Inter"/>
                <a:cs typeface="Inter"/>
                <a:sym typeface="Inter"/>
              </a:rPr>
              <a:t>Training ViT: Train the Vision Transformer to recognize ingredient patterns in images. The binary cross-entropy loss helps optimize ingredient prediction.</a:t>
            </a:r>
          </a:p>
          <a:p>
            <a:pPr algn="just" marL="1350714" indent="-450238" lvl="2">
              <a:lnSpc>
                <a:spcPts val="4285"/>
              </a:lnSpc>
              <a:buFont typeface="Arial"/>
              <a:buChar char="⚬"/>
            </a:pPr>
            <a:r>
              <a:rPr lang="en-US" sz="3128">
                <a:solidFill>
                  <a:srgbClr val="FFFFFF"/>
                </a:solidFill>
                <a:latin typeface="Inter"/>
                <a:ea typeface="Inter"/>
                <a:cs typeface="Inter"/>
                <a:sym typeface="Inter"/>
              </a:rPr>
              <a:t>Training T5: Fine-tune T5 to generate cooking instructions based on the extracted title and ingredients. Use SacreBLEU and ROUGE-L to evaluate the quality of generated instructions.</a:t>
            </a:r>
          </a:p>
          <a:p>
            <a:pPr algn="just">
              <a:lnSpc>
                <a:spcPts val="4285"/>
              </a:lnSpc>
            </a:pPr>
          </a:p>
        </p:txBody>
      </p:sp>
    </p:spTree>
  </p:cSld>
  <p:clrMapOvr>
    <a:masterClrMapping/>
  </p:clrMapOvr>
  <p:transition spd="slow">
    <p:fade/>
  </p:transition>
</p:sld>
</file>

<file path=ppt/slides/slide18.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4341" y="346753"/>
            <a:ext cx="17339215" cy="9702184"/>
            <a:chOff x="0" y="0"/>
            <a:chExt cx="4566707" cy="2555308"/>
          </a:xfrm>
        </p:grpSpPr>
        <p:sp>
          <p:nvSpPr>
            <p:cNvPr name="Freeform 3" id="3"/>
            <p:cNvSpPr/>
            <p:nvPr/>
          </p:nvSpPr>
          <p:spPr>
            <a:xfrm flipH="false" flipV="false" rot="0">
              <a:off x="0" y="0"/>
              <a:ext cx="4566707" cy="2555308"/>
            </a:xfrm>
            <a:custGeom>
              <a:avLst/>
              <a:gdLst/>
              <a:ahLst/>
              <a:cxnLst/>
              <a:rect r="r" b="b" t="t" l="l"/>
              <a:pathLst>
                <a:path h="2555308" w="4566707">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cap="rnd">
              <a:noFill/>
              <a:prstDash val="solid"/>
              <a:round/>
            </a:ln>
          </p:spPr>
        </p:sp>
        <p:sp>
          <p:nvSpPr>
            <p:cNvPr name="TextBox 4" id="4"/>
            <p:cNvSpPr txBox="true"/>
            <p:nvPr/>
          </p:nvSpPr>
          <p:spPr>
            <a:xfrm>
              <a:off x="0" y="28575"/>
              <a:ext cx="4566707" cy="252673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3706486" y="1477449"/>
            <a:ext cx="9862142" cy="752571"/>
          </a:xfrm>
          <a:prstGeom prst="rect">
            <a:avLst/>
          </a:prstGeom>
        </p:spPr>
        <p:txBody>
          <a:bodyPr anchor="t" rtlCol="false" tIns="0" lIns="0" bIns="0" rIns="0">
            <a:spAutoFit/>
          </a:bodyPr>
          <a:lstStyle/>
          <a:p>
            <a:pPr algn="ctr" marL="0" indent="0" lvl="0">
              <a:lnSpc>
                <a:spcPts val="5625"/>
              </a:lnSpc>
              <a:spcBef>
                <a:spcPct val="0"/>
              </a:spcBef>
            </a:pPr>
            <a:r>
              <a:rPr lang="en-US" b="true" sz="5625" spc="-236">
                <a:solidFill>
                  <a:srgbClr val="12BBFE"/>
                </a:solidFill>
                <a:latin typeface="Inter Bold"/>
                <a:ea typeface="Inter Bold"/>
                <a:cs typeface="Inter Bold"/>
                <a:sym typeface="Inter Bold"/>
              </a:rPr>
              <a:t> </a:t>
            </a:r>
            <a:r>
              <a:rPr lang="en-US" b="true" sz="5625" spc="-236">
                <a:solidFill>
                  <a:srgbClr val="12BBFE"/>
                </a:solidFill>
                <a:latin typeface="Inter Bold"/>
                <a:ea typeface="Inter Bold"/>
                <a:cs typeface="Inter Bold"/>
                <a:sym typeface="Inter Bold"/>
              </a:rPr>
              <a:t>Step-by-Step Process of FIRE</a:t>
            </a:r>
          </a:p>
        </p:txBody>
      </p:sp>
      <p:sp>
        <p:nvSpPr>
          <p:cNvPr name="TextBox 6" id="6"/>
          <p:cNvSpPr txBox="true"/>
          <p:nvPr/>
        </p:nvSpPr>
        <p:spPr>
          <a:xfrm rot="0">
            <a:off x="1627476" y="2444615"/>
            <a:ext cx="14992946" cy="6514239"/>
          </a:xfrm>
          <a:prstGeom prst="rect">
            <a:avLst/>
          </a:prstGeom>
        </p:spPr>
        <p:txBody>
          <a:bodyPr anchor="t" rtlCol="false" tIns="0" lIns="0" bIns="0" rIns="0">
            <a:spAutoFit/>
          </a:bodyPr>
          <a:lstStyle/>
          <a:p>
            <a:pPr algn="just">
              <a:lnSpc>
                <a:spcPts val="4285"/>
              </a:lnSpc>
            </a:pPr>
            <a:r>
              <a:rPr lang="en-US" sz="3128">
                <a:solidFill>
                  <a:srgbClr val="FFFFFF"/>
                </a:solidFill>
                <a:latin typeface="Inter"/>
                <a:ea typeface="Inter"/>
                <a:cs typeface="Inter"/>
                <a:sym typeface="Inter"/>
              </a:rPr>
              <a:t>Performance Metrics</a:t>
            </a:r>
          </a:p>
          <a:p>
            <a:pPr algn="just" marL="675357" indent="-337678" lvl="1">
              <a:lnSpc>
                <a:spcPts val="4285"/>
              </a:lnSpc>
              <a:buFont typeface="Arial"/>
              <a:buChar char="•"/>
            </a:pPr>
            <a:r>
              <a:rPr lang="en-US" sz="3128">
                <a:solidFill>
                  <a:srgbClr val="FFFFFF"/>
                </a:solidFill>
                <a:latin typeface="Inter"/>
                <a:ea typeface="Inter"/>
                <a:cs typeface="Inter"/>
                <a:sym typeface="Inter"/>
              </a:rPr>
              <a:t>Ingredient Extraction: Evaluated using F1-score and IoU (Intersection over Union), focusing on how accurately the model predicts the correct set of ingredients.</a:t>
            </a:r>
          </a:p>
          <a:p>
            <a:pPr algn="just" marL="675357" indent="-337678" lvl="1">
              <a:lnSpc>
                <a:spcPts val="4285"/>
              </a:lnSpc>
              <a:buFont typeface="Arial"/>
              <a:buChar char="•"/>
            </a:pPr>
            <a:r>
              <a:rPr lang="en-US" sz="3128">
                <a:solidFill>
                  <a:srgbClr val="FFFFFF"/>
                </a:solidFill>
                <a:latin typeface="Inter"/>
                <a:ea typeface="Inter"/>
                <a:cs typeface="Inter"/>
                <a:sym typeface="Inter"/>
              </a:rPr>
              <a:t>In</a:t>
            </a:r>
            <a:r>
              <a:rPr lang="en-US" sz="3128">
                <a:solidFill>
                  <a:srgbClr val="FFFFFF"/>
                </a:solidFill>
                <a:latin typeface="Inter"/>
                <a:ea typeface="Inter"/>
                <a:cs typeface="Inter"/>
                <a:sym typeface="Inter"/>
              </a:rPr>
              <a:t>struction Generation: Evaluated using SacreBLEU and ROUGE-L, which measure how similar the generated cooking instructions are to human-written ones.</a:t>
            </a:r>
          </a:p>
          <a:p>
            <a:pPr algn="just" marL="675357" indent="-337678" lvl="1">
              <a:lnSpc>
                <a:spcPts val="4285"/>
              </a:lnSpc>
              <a:buFont typeface="Arial"/>
              <a:buChar char="•"/>
            </a:pPr>
            <a:r>
              <a:rPr lang="en-US" sz="3128">
                <a:solidFill>
                  <a:srgbClr val="FFFFFF"/>
                </a:solidFill>
                <a:latin typeface="Inter"/>
                <a:ea typeface="Inter"/>
                <a:cs typeface="Inter"/>
                <a:sym typeface="Inter"/>
              </a:rPr>
              <a:t>Ingredient extraction showed a relative improvement of 1.5% in IoU and 1.4% in F1 score compared to InverseCooking​</a:t>
            </a:r>
          </a:p>
          <a:p>
            <a:pPr algn="just" marL="675357" indent="-337678" lvl="1">
              <a:lnSpc>
                <a:spcPts val="4285"/>
              </a:lnSpc>
              <a:buFont typeface="Arial"/>
              <a:buChar char="•"/>
            </a:pPr>
            <a:r>
              <a:rPr lang="en-US" sz="3128">
                <a:solidFill>
                  <a:srgbClr val="FFFFFF"/>
                </a:solidFill>
                <a:latin typeface="Inter"/>
                <a:ea typeface="Inter"/>
                <a:cs typeface="Inter"/>
                <a:sym typeface="Inter"/>
              </a:rPr>
              <a:t>T5 generated higher-quality cooking instructions when fine-tuned compared to zero-shot prompting​</a:t>
            </a:r>
          </a:p>
          <a:p>
            <a:pPr algn="just">
              <a:lnSpc>
                <a:spcPts val="4285"/>
              </a:lnSpc>
            </a:pPr>
          </a:p>
        </p:txBody>
      </p:sp>
    </p:spTree>
  </p:cSld>
  <p:clrMapOvr>
    <a:masterClrMapping/>
  </p:clrMapOvr>
  <p:transition spd="slow">
    <p:fade/>
  </p:transition>
</p:sld>
</file>

<file path=ppt/slides/slide19.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533173" y="675056"/>
            <a:ext cx="17221654" cy="9271481"/>
            <a:chOff x="0" y="0"/>
            <a:chExt cx="4535744" cy="2441871"/>
          </a:xfrm>
        </p:grpSpPr>
        <p:sp>
          <p:nvSpPr>
            <p:cNvPr name="Freeform 3" id="3"/>
            <p:cNvSpPr/>
            <p:nvPr/>
          </p:nvSpPr>
          <p:spPr>
            <a:xfrm flipH="false" flipV="false" rot="0">
              <a:off x="0" y="0"/>
              <a:ext cx="4535744" cy="2441871"/>
            </a:xfrm>
            <a:custGeom>
              <a:avLst/>
              <a:gdLst/>
              <a:ahLst/>
              <a:cxnLst/>
              <a:rect r="r" b="b" t="t" l="l"/>
              <a:pathLst>
                <a:path h="2441871" w="4535744">
                  <a:moveTo>
                    <a:pt x="22927" y="0"/>
                  </a:moveTo>
                  <a:lnTo>
                    <a:pt x="4512817" y="0"/>
                  </a:lnTo>
                  <a:cubicBezTo>
                    <a:pt x="4518898" y="0"/>
                    <a:pt x="4524729" y="2415"/>
                    <a:pt x="4529029" y="6715"/>
                  </a:cubicBezTo>
                  <a:cubicBezTo>
                    <a:pt x="4533329" y="11015"/>
                    <a:pt x="4535744" y="16846"/>
                    <a:pt x="4535744" y="22927"/>
                  </a:cubicBezTo>
                  <a:lnTo>
                    <a:pt x="4535744" y="2418945"/>
                  </a:lnTo>
                  <a:cubicBezTo>
                    <a:pt x="4535744" y="2431607"/>
                    <a:pt x="4525480" y="2441871"/>
                    <a:pt x="4512817" y="2441871"/>
                  </a:cubicBezTo>
                  <a:lnTo>
                    <a:pt x="22927" y="2441871"/>
                  </a:lnTo>
                  <a:cubicBezTo>
                    <a:pt x="10265" y="2441871"/>
                    <a:pt x="0" y="2431607"/>
                    <a:pt x="0" y="2418945"/>
                  </a:cubicBezTo>
                  <a:lnTo>
                    <a:pt x="0" y="22927"/>
                  </a:lnTo>
                  <a:cubicBezTo>
                    <a:pt x="0" y="10265"/>
                    <a:pt x="10265" y="0"/>
                    <a:pt x="22927" y="0"/>
                  </a:cubicBezTo>
                  <a:close/>
                </a:path>
              </a:pathLst>
            </a:custGeom>
            <a:gradFill rotWithShape="true">
              <a:gsLst>
                <a:gs pos="0">
                  <a:srgbClr val="1B1B1B">
                    <a:alpha val="100000"/>
                  </a:srgbClr>
                </a:gs>
                <a:gs pos="50000">
                  <a:srgbClr val="1B1B1B">
                    <a:alpha val="100000"/>
                  </a:srgbClr>
                </a:gs>
                <a:gs pos="100000">
                  <a:srgbClr val="626262">
                    <a:alpha val="24000"/>
                  </a:srgbClr>
                </a:gs>
              </a:gsLst>
              <a:path path="circle">
                <a:fillToRect l="0" r="100000" t="0" b="100000"/>
              </a:path>
              <a:tileRect r="0" l="-100000" b="0" t="-100000"/>
            </a:gradFill>
            <a:ln cap="rnd">
              <a:noFill/>
              <a:prstDash val="solid"/>
              <a:round/>
            </a:ln>
          </p:spPr>
        </p:sp>
        <p:sp>
          <p:nvSpPr>
            <p:cNvPr name="TextBox 4" id="4"/>
            <p:cNvSpPr txBox="true"/>
            <p:nvPr/>
          </p:nvSpPr>
          <p:spPr>
            <a:xfrm>
              <a:off x="0" y="28575"/>
              <a:ext cx="4535744" cy="2413296"/>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5" id="5"/>
          <p:cNvSpPr txBox="true"/>
          <p:nvPr/>
        </p:nvSpPr>
        <p:spPr>
          <a:xfrm rot="0">
            <a:off x="2318460" y="1181100"/>
            <a:ext cx="14044740" cy="1085819"/>
          </a:xfrm>
          <a:prstGeom prst="rect">
            <a:avLst/>
          </a:prstGeom>
        </p:spPr>
        <p:txBody>
          <a:bodyPr anchor="t" rtlCol="false" tIns="0" lIns="0" bIns="0" rIns="0">
            <a:spAutoFit/>
          </a:bodyPr>
          <a:lstStyle/>
          <a:p>
            <a:pPr algn="ctr" marL="0" indent="0" lvl="0">
              <a:lnSpc>
                <a:spcPts val="8124"/>
              </a:lnSpc>
              <a:spcBef>
                <a:spcPct val="0"/>
              </a:spcBef>
            </a:pPr>
            <a:r>
              <a:rPr lang="en-US" b="true" sz="8124" spc="-341">
                <a:solidFill>
                  <a:srgbClr val="CB6CE6"/>
                </a:solidFill>
                <a:latin typeface="Inter Bold"/>
                <a:ea typeface="Inter Bold"/>
                <a:cs typeface="Inter Bold"/>
                <a:sym typeface="Inter Bold"/>
              </a:rPr>
              <a:t>Key Features and Benefits</a:t>
            </a:r>
          </a:p>
        </p:txBody>
      </p:sp>
      <p:sp>
        <p:nvSpPr>
          <p:cNvPr name="TextBox 6" id="6"/>
          <p:cNvSpPr txBox="true"/>
          <p:nvPr/>
        </p:nvSpPr>
        <p:spPr>
          <a:xfrm rot="0">
            <a:off x="1491767" y="3401613"/>
            <a:ext cx="15698126" cy="6094038"/>
          </a:xfrm>
          <a:prstGeom prst="rect">
            <a:avLst/>
          </a:prstGeom>
        </p:spPr>
        <p:txBody>
          <a:bodyPr anchor="t" rtlCol="false" tIns="0" lIns="0" bIns="0" rIns="0">
            <a:spAutoFit/>
          </a:bodyPr>
          <a:lstStyle/>
          <a:p>
            <a:pPr algn="l" marL="651670" indent="-325835" lvl="1">
              <a:lnSpc>
                <a:spcPts val="3712"/>
              </a:lnSpc>
              <a:buFont typeface="Arial"/>
              <a:buChar char="•"/>
            </a:pPr>
            <a:r>
              <a:rPr lang="en-US" sz="3018">
                <a:solidFill>
                  <a:srgbClr val="FFFFFF"/>
                </a:solidFill>
                <a:latin typeface="Inter"/>
                <a:ea typeface="Inter"/>
                <a:cs typeface="Inter"/>
                <a:sym typeface="Inter"/>
              </a:rPr>
              <a:t>Prioritize recipes with low environmental impact through eco-friendly algorithms.</a:t>
            </a:r>
          </a:p>
          <a:p>
            <a:pPr algn="l" marL="651670" indent="-325835" lvl="1">
              <a:lnSpc>
                <a:spcPts val="3712"/>
              </a:lnSpc>
              <a:buFont typeface="Arial"/>
              <a:buChar char="•"/>
            </a:pPr>
            <a:r>
              <a:rPr lang="en-US" sz="3018">
                <a:solidFill>
                  <a:srgbClr val="FFFFFF"/>
                </a:solidFill>
                <a:latin typeface="Inter"/>
                <a:ea typeface="Inter"/>
                <a:cs typeface="Inter"/>
                <a:sym typeface="Inter"/>
              </a:rPr>
              <a:t>Implement health filters with decision trees or rule-based systems.</a:t>
            </a:r>
          </a:p>
          <a:p>
            <a:pPr algn="l" marL="651670" indent="-325835" lvl="1">
              <a:lnSpc>
                <a:spcPts val="3712"/>
              </a:lnSpc>
              <a:buFont typeface="Arial"/>
              <a:buChar char="•"/>
            </a:pPr>
            <a:r>
              <a:rPr lang="en-US" sz="3018">
                <a:solidFill>
                  <a:srgbClr val="FFFFFF"/>
                </a:solidFill>
                <a:latin typeface="Inter"/>
                <a:ea typeface="Inter"/>
                <a:cs typeface="Inter"/>
                <a:sym typeface="Inter"/>
              </a:rPr>
              <a:t>Efficiency and Time Savings</a:t>
            </a:r>
          </a:p>
          <a:p>
            <a:pPr algn="l" marL="651670" indent="-325835" lvl="1">
              <a:lnSpc>
                <a:spcPts val="3712"/>
              </a:lnSpc>
              <a:buFont typeface="Arial"/>
              <a:buChar char="•"/>
            </a:pPr>
            <a:r>
              <a:rPr lang="en-US" sz="3018">
                <a:solidFill>
                  <a:srgbClr val="FFFFFF"/>
                </a:solidFill>
                <a:latin typeface="Inter"/>
                <a:ea typeface="Inter"/>
                <a:cs typeface="Inter"/>
                <a:sym typeface="Inter"/>
              </a:rPr>
              <a:t>Health and Nutrition</a:t>
            </a:r>
          </a:p>
          <a:p>
            <a:pPr algn="l" marL="651670" indent="-325835" lvl="1">
              <a:lnSpc>
                <a:spcPts val="3712"/>
              </a:lnSpc>
              <a:buFont typeface="Arial"/>
              <a:buChar char="•"/>
            </a:pPr>
            <a:r>
              <a:rPr lang="en-US" sz="3018">
                <a:solidFill>
                  <a:srgbClr val="FFFFFF"/>
                </a:solidFill>
                <a:latin typeface="Inter"/>
                <a:ea typeface="Inter"/>
                <a:cs typeface="Inter"/>
                <a:sym typeface="Inter"/>
              </a:rPr>
              <a:t>Variety and Creativity</a:t>
            </a:r>
          </a:p>
          <a:p>
            <a:pPr algn="l" marL="651670" indent="-325835" lvl="1">
              <a:lnSpc>
                <a:spcPts val="3712"/>
              </a:lnSpc>
              <a:buFont typeface="Arial"/>
              <a:buChar char="•"/>
            </a:pPr>
            <a:r>
              <a:rPr lang="en-US" sz="3018">
                <a:solidFill>
                  <a:srgbClr val="FFFFFF"/>
                </a:solidFill>
                <a:latin typeface="Inter"/>
                <a:ea typeface="Inter"/>
                <a:cs typeface="Inter"/>
                <a:sym typeface="Inter"/>
              </a:rPr>
              <a:t>Apply batch processing algorithms to generate meal plans quickly.</a:t>
            </a:r>
          </a:p>
          <a:p>
            <a:pPr algn="l" marL="651670" indent="-325835" lvl="1">
              <a:lnSpc>
                <a:spcPts val="3712"/>
              </a:lnSpc>
              <a:buFont typeface="Arial"/>
              <a:buChar char="•"/>
            </a:pPr>
            <a:r>
              <a:rPr lang="en-US" sz="3018">
                <a:solidFill>
                  <a:srgbClr val="FFFFFF"/>
                </a:solidFill>
                <a:latin typeface="Inter"/>
                <a:ea typeface="Inter"/>
                <a:cs typeface="Inter"/>
                <a:sym typeface="Inter"/>
              </a:rPr>
              <a:t>Implement efficient indexing techniques for fast recipe search.</a:t>
            </a:r>
          </a:p>
          <a:p>
            <a:pPr algn="l" marL="651670" indent="-325835" lvl="1">
              <a:lnSpc>
                <a:spcPts val="3712"/>
              </a:lnSpc>
              <a:buFont typeface="Arial"/>
              <a:buChar char="•"/>
            </a:pPr>
            <a:r>
              <a:rPr lang="en-US" sz="3018">
                <a:solidFill>
                  <a:srgbClr val="FFFFFF"/>
                </a:solidFill>
                <a:latin typeface="Inter"/>
                <a:ea typeface="Inter"/>
                <a:cs typeface="Inter"/>
                <a:sym typeface="Inter"/>
              </a:rPr>
              <a:t>Use reinforcement learning to refine recommendations based on user feedback.</a:t>
            </a:r>
          </a:p>
          <a:p>
            <a:pPr algn="l" marL="651670" indent="-325835" lvl="1">
              <a:lnSpc>
                <a:spcPts val="3712"/>
              </a:lnSpc>
              <a:buFont typeface="Arial"/>
              <a:buChar char="•"/>
            </a:pPr>
            <a:r>
              <a:rPr lang="en-US" sz="3018">
                <a:solidFill>
                  <a:srgbClr val="FFFFFF"/>
                </a:solidFill>
                <a:latin typeface="Inter"/>
                <a:ea typeface="Inter"/>
                <a:cs typeface="Inter"/>
                <a:sym typeface="Inter"/>
              </a:rPr>
              <a:t>Implement constraint satisfaction algorithms for dietary restrictions.</a:t>
            </a:r>
          </a:p>
          <a:p>
            <a:pPr algn="l" marL="651670" indent="-325835" lvl="1">
              <a:lnSpc>
                <a:spcPts val="3712"/>
              </a:lnSpc>
              <a:buFont typeface="Arial"/>
              <a:buChar char="•"/>
            </a:pPr>
            <a:r>
              <a:rPr lang="en-US" sz="3018">
                <a:solidFill>
                  <a:srgbClr val="FFFFFF"/>
                </a:solidFill>
                <a:latin typeface="Inter"/>
                <a:ea typeface="Inter"/>
                <a:cs typeface="Inter"/>
                <a:sym typeface="Inter"/>
              </a:rPr>
              <a:t>Use collaborative filtering and matrix factorization for preference modeling.</a:t>
            </a:r>
          </a:p>
          <a:p>
            <a:pPr algn="l" marL="651670" indent="-325835" lvl="1">
              <a:lnSpc>
                <a:spcPts val="3712"/>
              </a:lnSpc>
              <a:buFont typeface="Arial"/>
              <a:buChar char="•"/>
            </a:pPr>
            <a:r>
              <a:rPr lang="en-US" sz="3018">
                <a:solidFill>
                  <a:srgbClr val="FFFFFF"/>
                </a:solidFill>
                <a:latin typeface="Inter"/>
                <a:ea typeface="Inter"/>
                <a:cs typeface="Inter"/>
                <a:sym typeface="Inter"/>
              </a:rPr>
              <a:t>Match recipes with current kitchen inventory using optimization algorithms.</a:t>
            </a:r>
          </a:p>
          <a:p>
            <a:pPr algn="l" marL="651670" indent="-325835" lvl="1">
              <a:lnSpc>
                <a:spcPts val="3712"/>
              </a:lnSpc>
              <a:buFont typeface="Arial"/>
              <a:buChar char="•"/>
            </a:pPr>
            <a:r>
              <a:rPr lang="en-US" sz="3018">
                <a:solidFill>
                  <a:srgbClr val="FFFFFF"/>
                </a:solidFill>
                <a:latin typeface="Inter"/>
                <a:ea typeface="Inter"/>
                <a:cs typeface="Inter"/>
                <a:sym typeface="Inter"/>
              </a:rPr>
              <a:t>Track user progress and provide feedback on cooking skills.</a:t>
            </a:r>
          </a:p>
          <a:p>
            <a:pPr algn="l">
              <a:lnSpc>
                <a:spcPts val="3712"/>
              </a:lnSpc>
            </a:pPr>
          </a:p>
        </p:txBody>
      </p:sp>
    </p:spTree>
  </p:cSld>
  <p:clrMapOvr>
    <a:masterClrMapping/>
  </p:clrMapOvr>
  <p:transition spd="slow">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453495" y="1266018"/>
            <a:ext cx="7859191" cy="7992282"/>
          </a:xfrm>
          <a:custGeom>
            <a:avLst/>
            <a:gdLst/>
            <a:ahLst/>
            <a:cxnLst/>
            <a:rect r="r" b="b" t="t" l="l"/>
            <a:pathLst>
              <a:path h="7992282" w="7859191">
                <a:moveTo>
                  <a:pt x="0" y="0"/>
                </a:moveTo>
                <a:lnTo>
                  <a:pt x="7859190" y="0"/>
                </a:lnTo>
                <a:lnTo>
                  <a:pt x="7859190" y="7992282"/>
                </a:lnTo>
                <a:lnTo>
                  <a:pt x="0" y="7992282"/>
                </a:lnTo>
                <a:lnTo>
                  <a:pt x="0" y="0"/>
                </a:lnTo>
                <a:close/>
              </a:path>
            </a:pathLst>
          </a:custGeom>
          <a:blipFill>
            <a:blip r:embed="rId2"/>
            <a:stretch>
              <a:fillRect l="-16379" t="-238601" r="-388141" b="0"/>
            </a:stretch>
          </a:blipFill>
        </p:spPr>
      </p:sp>
    </p:spTree>
  </p:cSld>
  <p:clrMapOvr>
    <a:masterClrMapping/>
  </p:clrMapOvr>
  <p:transition spd="slow">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679547" y="1412295"/>
            <a:ext cx="7997678" cy="7462409"/>
          </a:xfrm>
          <a:custGeom>
            <a:avLst/>
            <a:gdLst/>
            <a:ahLst/>
            <a:cxnLst/>
            <a:rect r="r" b="b" t="t" l="l"/>
            <a:pathLst>
              <a:path h="7462409" w="7997678">
                <a:moveTo>
                  <a:pt x="0" y="0"/>
                </a:moveTo>
                <a:lnTo>
                  <a:pt x="7997677" y="0"/>
                </a:lnTo>
                <a:lnTo>
                  <a:pt x="7997677" y="7462410"/>
                </a:lnTo>
                <a:lnTo>
                  <a:pt x="0" y="7462410"/>
                </a:lnTo>
                <a:lnTo>
                  <a:pt x="0" y="0"/>
                </a:lnTo>
                <a:close/>
              </a:path>
            </a:pathLst>
          </a:custGeom>
          <a:blipFill>
            <a:blip r:embed="rId2"/>
            <a:stretch>
              <a:fillRect l="-17463" t="-100000" r="-188461"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188724" y="1694178"/>
            <a:ext cx="14944787" cy="1836992"/>
          </a:xfrm>
          <a:custGeom>
            <a:avLst/>
            <a:gdLst/>
            <a:ahLst/>
            <a:cxnLst/>
            <a:rect r="r" b="b" t="t" l="l"/>
            <a:pathLst>
              <a:path h="1836992" w="14944787">
                <a:moveTo>
                  <a:pt x="0" y="0"/>
                </a:moveTo>
                <a:lnTo>
                  <a:pt x="14944787" y="0"/>
                </a:lnTo>
                <a:lnTo>
                  <a:pt x="14944787" y="1836991"/>
                </a:lnTo>
                <a:lnTo>
                  <a:pt x="0" y="1836991"/>
                </a:lnTo>
                <a:lnTo>
                  <a:pt x="0" y="0"/>
                </a:lnTo>
                <a:close/>
              </a:path>
            </a:pathLst>
          </a:custGeom>
          <a:blipFill>
            <a:blip r:embed="rId2"/>
            <a:stretch>
              <a:fillRect l="-10410" t="-48656" r="-1772" b="-27031"/>
            </a:stretch>
          </a:blipFill>
        </p:spPr>
      </p:sp>
      <p:sp>
        <p:nvSpPr>
          <p:cNvPr name="Freeform 3" id="3"/>
          <p:cNvSpPr/>
          <p:nvPr/>
        </p:nvSpPr>
        <p:spPr>
          <a:xfrm flipH="false" flipV="false" rot="0">
            <a:off x="3850405" y="5647027"/>
            <a:ext cx="10587189" cy="2942645"/>
          </a:xfrm>
          <a:custGeom>
            <a:avLst/>
            <a:gdLst/>
            <a:ahLst/>
            <a:cxnLst/>
            <a:rect r="r" b="b" t="t" l="l"/>
            <a:pathLst>
              <a:path h="2942645" w="10587189">
                <a:moveTo>
                  <a:pt x="0" y="0"/>
                </a:moveTo>
                <a:lnTo>
                  <a:pt x="10587190" y="0"/>
                </a:lnTo>
                <a:lnTo>
                  <a:pt x="10587190" y="2942645"/>
                </a:lnTo>
                <a:lnTo>
                  <a:pt x="0" y="2942645"/>
                </a:lnTo>
                <a:lnTo>
                  <a:pt x="0" y="0"/>
                </a:lnTo>
                <a:close/>
              </a:path>
            </a:pathLst>
          </a:custGeom>
          <a:blipFill>
            <a:blip r:embed="rId3"/>
            <a:stretch>
              <a:fillRect l="-5690" t="0" r="-1053" b="-11374"/>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391827" y="2593506"/>
            <a:ext cx="15504347" cy="5099988"/>
          </a:xfrm>
          <a:custGeom>
            <a:avLst/>
            <a:gdLst/>
            <a:ahLst/>
            <a:cxnLst/>
            <a:rect r="r" b="b" t="t" l="l"/>
            <a:pathLst>
              <a:path h="5099988" w="15504347">
                <a:moveTo>
                  <a:pt x="0" y="0"/>
                </a:moveTo>
                <a:lnTo>
                  <a:pt x="15504346" y="0"/>
                </a:lnTo>
                <a:lnTo>
                  <a:pt x="15504346" y="5099988"/>
                </a:lnTo>
                <a:lnTo>
                  <a:pt x="0" y="5099988"/>
                </a:lnTo>
                <a:lnTo>
                  <a:pt x="0" y="0"/>
                </a:lnTo>
                <a:close/>
              </a:path>
            </a:pathLst>
          </a:custGeom>
          <a:blipFill>
            <a:blip r:embed="rId2"/>
            <a:stretch>
              <a:fillRect l="-219" t="0" r="-219"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455878" y="1374407"/>
            <a:ext cx="15376244" cy="7883893"/>
          </a:xfrm>
          <a:custGeom>
            <a:avLst/>
            <a:gdLst/>
            <a:ahLst/>
            <a:cxnLst/>
            <a:rect r="r" b="b" t="t" l="l"/>
            <a:pathLst>
              <a:path h="7883893" w="15376244">
                <a:moveTo>
                  <a:pt x="0" y="0"/>
                </a:moveTo>
                <a:lnTo>
                  <a:pt x="15376244" y="0"/>
                </a:lnTo>
                <a:lnTo>
                  <a:pt x="15376244" y="7883893"/>
                </a:lnTo>
                <a:lnTo>
                  <a:pt x="0" y="7883893"/>
                </a:lnTo>
                <a:lnTo>
                  <a:pt x="0" y="0"/>
                </a:lnTo>
                <a:close/>
              </a:path>
            </a:pathLst>
          </a:custGeom>
          <a:blipFill>
            <a:blip r:embed="rId2"/>
            <a:stretch>
              <a:fillRect l="-3289" t="-7617" r="-822"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499314" y="1169543"/>
            <a:ext cx="12452938" cy="8088757"/>
          </a:xfrm>
          <a:custGeom>
            <a:avLst/>
            <a:gdLst/>
            <a:ahLst/>
            <a:cxnLst/>
            <a:rect r="r" b="b" t="t" l="l"/>
            <a:pathLst>
              <a:path h="8088757" w="12452938">
                <a:moveTo>
                  <a:pt x="0" y="0"/>
                </a:moveTo>
                <a:lnTo>
                  <a:pt x="12452938" y="0"/>
                </a:lnTo>
                <a:lnTo>
                  <a:pt x="12452938" y="8088757"/>
                </a:lnTo>
                <a:lnTo>
                  <a:pt x="0" y="8088757"/>
                </a:lnTo>
                <a:lnTo>
                  <a:pt x="0" y="0"/>
                </a:lnTo>
                <a:close/>
              </a:path>
            </a:pathLst>
          </a:custGeom>
          <a:blipFill>
            <a:blip r:embed="rId2"/>
            <a:stretch>
              <a:fillRect l="-3443" t="-6116" r="-1589"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345952" y="1028700"/>
            <a:ext cx="11648484" cy="8229600"/>
          </a:xfrm>
          <a:custGeom>
            <a:avLst/>
            <a:gdLst/>
            <a:ahLst/>
            <a:cxnLst/>
            <a:rect r="r" b="b" t="t" l="l"/>
            <a:pathLst>
              <a:path h="8229600" w="11648484">
                <a:moveTo>
                  <a:pt x="0" y="0"/>
                </a:moveTo>
                <a:lnTo>
                  <a:pt x="11648483" y="0"/>
                </a:lnTo>
                <a:lnTo>
                  <a:pt x="11648483" y="8229600"/>
                </a:lnTo>
                <a:lnTo>
                  <a:pt x="0" y="8229600"/>
                </a:lnTo>
                <a:lnTo>
                  <a:pt x="0" y="0"/>
                </a:lnTo>
                <a:close/>
              </a:path>
            </a:pathLst>
          </a:custGeom>
          <a:blipFill>
            <a:blip r:embed="rId2"/>
            <a:stretch>
              <a:fillRect l="-2970" t="0" r="-189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3158836" y="1028700"/>
            <a:ext cx="11970327" cy="8229600"/>
          </a:xfrm>
          <a:prstGeom prst="rect">
            <a:avLst/>
          </a:prstGeom>
        </p:spPr>
      </p:pic>
    </p:spTree>
  </p:cSld>
  <p:clrMapOvr>
    <a:masterClrMapping/>
  </p:clrMapOvr>
  <p:timing>
    <p:tnLst>
      <p:par>
        <p:cTn dur="indefinite" restart="never" nodeType="tmRoot">
          <p:childTnLst>
            <p:video>
              <p:cMediaNode vol="0">
                <p:cTn fill="hold" display="false">
                  <p:stCondLst>
                    <p:cond delay="indefinite"/>
                  </p:stCondLst>
                </p:cTn>
                <p:tgtEl>
                  <p:spTgt spid="2"/>
                </p:tgtEl>
              </p:cMediaNode>
            </p:video>
          </p:childTnLst>
        </p:cTn>
      </p:par>
    </p:tnLst>
  </p:timing>
</p:sld>
</file>

<file path=ppt/slides/slide28.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627287" y="1660112"/>
            <a:ext cx="15033427" cy="7759389"/>
          </a:xfrm>
          <a:prstGeom prst="rect">
            <a:avLst/>
          </a:prstGeom>
        </p:spPr>
        <p:txBody>
          <a:bodyPr anchor="t" rtlCol="false" tIns="0" lIns="0" bIns="0" rIns="0">
            <a:spAutoFit/>
          </a:bodyPr>
          <a:lstStyle/>
          <a:p>
            <a:pPr algn="just">
              <a:lnSpc>
                <a:spcPts val="3867"/>
              </a:lnSpc>
              <a:spcBef>
                <a:spcPct val="0"/>
              </a:spcBef>
            </a:pPr>
            <a:r>
              <a:rPr lang="en-US" sz="2762">
                <a:solidFill>
                  <a:srgbClr val="12BBFE"/>
                </a:solidFill>
                <a:latin typeface="Inter"/>
                <a:ea typeface="Inter"/>
                <a:cs typeface="Inter"/>
                <a:sym typeface="Inter"/>
              </a:rPr>
              <a:t>HARDWARE REQUIREMENTS:</a:t>
            </a:r>
          </a:p>
          <a:p>
            <a:pPr algn="just">
              <a:lnSpc>
                <a:spcPts val="3867"/>
              </a:lnSpc>
              <a:spcBef>
                <a:spcPct val="0"/>
              </a:spcBef>
            </a:pPr>
          </a:p>
          <a:p>
            <a:pPr algn="just">
              <a:lnSpc>
                <a:spcPts val="3867"/>
              </a:lnSpc>
              <a:spcBef>
                <a:spcPct val="0"/>
              </a:spcBef>
            </a:pPr>
            <a:r>
              <a:rPr lang="en-US" sz="2762">
                <a:solidFill>
                  <a:srgbClr val="FFFFFF"/>
                </a:solidFill>
                <a:latin typeface="Inter"/>
                <a:ea typeface="Inter"/>
                <a:cs typeface="Inter"/>
                <a:sym typeface="Inter"/>
              </a:rPr>
              <a:t>Processor: Intel i5 or above</a:t>
            </a:r>
          </a:p>
          <a:p>
            <a:pPr algn="just">
              <a:lnSpc>
                <a:spcPts val="3867"/>
              </a:lnSpc>
              <a:spcBef>
                <a:spcPct val="0"/>
              </a:spcBef>
            </a:pPr>
            <a:r>
              <a:rPr lang="en-US" sz="2762">
                <a:solidFill>
                  <a:srgbClr val="FFFFFF"/>
                </a:solidFill>
                <a:latin typeface="Inter"/>
                <a:ea typeface="Inter"/>
                <a:cs typeface="Inter"/>
                <a:sym typeface="Inter"/>
              </a:rPr>
              <a:t>Processor Speed: 2.0 GHz or higher</a:t>
            </a:r>
          </a:p>
          <a:p>
            <a:pPr algn="just">
              <a:lnSpc>
                <a:spcPts val="3867"/>
              </a:lnSpc>
              <a:spcBef>
                <a:spcPct val="0"/>
              </a:spcBef>
            </a:pPr>
            <a:r>
              <a:rPr lang="en-US" sz="2762">
                <a:solidFill>
                  <a:srgbClr val="FFFFFF"/>
                </a:solidFill>
                <a:latin typeface="Inter"/>
                <a:ea typeface="Inter"/>
                <a:cs typeface="Inter"/>
                <a:sym typeface="Inter"/>
              </a:rPr>
              <a:t>Random Access Memory: 8 GB or more</a:t>
            </a:r>
          </a:p>
          <a:p>
            <a:pPr algn="just">
              <a:lnSpc>
                <a:spcPts val="3867"/>
              </a:lnSpc>
              <a:spcBef>
                <a:spcPct val="0"/>
              </a:spcBef>
            </a:pPr>
            <a:r>
              <a:rPr lang="en-US" sz="2762">
                <a:solidFill>
                  <a:srgbClr val="FFFFFF"/>
                </a:solidFill>
                <a:latin typeface="Inter"/>
                <a:ea typeface="Inter"/>
                <a:cs typeface="Inter"/>
                <a:sym typeface="Inter"/>
              </a:rPr>
              <a:t>Hard Disk Memory: 500 GB</a:t>
            </a:r>
          </a:p>
          <a:p>
            <a:pPr algn="just">
              <a:lnSpc>
                <a:spcPts val="3867"/>
              </a:lnSpc>
              <a:spcBef>
                <a:spcPct val="0"/>
              </a:spcBef>
            </a:pPr>
            <a:r>
              <a:rPr lang="en-US" sz="2762">
                <a:solidFill>
                  <a:srgbClr val="FFFFFF"/>
                </a:solidFill>
                <a:latin typeface="Inter"/>
                <a:ea typeface="Inter"/>
                <a:cs typeface="Inter"/>
                <a:sym typeface="Inter"/>
              </a:rPr>
              <a:t>GPU: NVIDIA GTX 1650 or higher</a:t>
            </a:r>
          </a:p>
          <a:p>
            <a:pPr algn="just">
              <a:lnSpc>
                <a:spcPts val="3867"/>
              </a:lnSpc>
              <a:spcBef>
                <a:spcPct val="0"/>
              </a:spcBef>
            </a:pPr>
            <a:r>
              <a:rPr lang="en-US" sz="2762">
                <a:solidFill>
                  <a:srgbClr val="FFFFFF"/>
                </a:solidFill>
                <a:latin typeface="Inter"/>
                <a:ea typeface="Inter"/>
                <a:cs typeface="Inter"/>
                <a:sym typeface="Inter"/>
              </a:rPr>
              <a:t>Monitor: Colour Monitor with at least 1080p resolution</a:t>
            </a:r>
          </a:p>
          <a:p>
            <a:pPr algn="just">
              <a:lnSpc>
                <a:spcPts val="3867"/>
              </a:lnSpc>
              <a:spcBef>
                <a:spcPct val="0"/>
              </a:spcBef>
            </a:pPr>
          </a:p>
          <a:p>
            <a:pPr algn="just">
              <a:lnSpc>
                <a:spcPts val="3867"/>
              </a:lnSpc>
              <a:spcBef>
                <a:spcPct val="0"/>
              </a:spcBef>
            </a:pPr>
            <a:r>
              <a:rPr lang="en-US" sz="2762">
                <a:solidFill>
                  <a:srgbClr val="12BBFE"/>
                </a:solidFill>
                <a:latin typeface="Inter"/>
                <a:ea typeface="Inter"/>
                <a:cs typeface="Inter"/>
                <a:sym typeface="Inter"/>
              </a:rPr>
              <a:t>SOFTWARE REQUIREMENTS:</a:t>
            </a:r>
          </a:p>
          <a:p>
            <a:pPr algn="just">
              <a:lnSpc>
                <a:spcPts val="3867"/>
              </a:lnSpc>
              <a:spcBef>
                <a:spcPct val="0"/>
              </a:spcBef>
            </a:pPr>
          </a:p>
          <a:p>
            <a:pPr algn="just">
              <a:lnSpc>
                <a:spcPts val="3867"/>
              </a:lnSpc>
              <a:spcBef>
                <a:spcPct val="0"/>
              </a:spcBef>
            </a:pPr>
            <a:r>
              <a:rPr lang="en-US" sz="2762">
                <a:solidFill>
                  <a:srgbClr val="FFFFFF"/>
                </a:solidFill>
                <a:latin typeface="Inter"/>
                <a:ea typeface="Inter"/>
                <a:cs typeface="Inter"/>
                <a:sym typeface="Inter"/>
              </a:rPr>
              <a:t>Operating System: Windows/Linux</a:t>
            </a:r>
          </a:p>
          <a:p>
            <a:pPr algn="just">
              <a:lnSpc>
                <a:spcPts val="3867"/>
              </a:lnSpc>
              <a:spcBef>
                <a:spcPct val="0"/>
              </a:spcBef>
            </a:pPr>
            <a:r>
              <a:rPr lang="en-US" sz="2762">
                <a:solidFill>
                  <a:srgbClr val="FFFFFF"/>
                </a:solidFill>
                <a:latin typeface="Inter"/>
                <a:ea typeface="Inter"/>
                <a:cs typeface="Inter"/>
                <a:sym typeface="Inter"/>
              </a:rPr>
              <a:t>Front End: React.js for a responsive user interface</a:t>
            </a:r>
          </a:p>
          <a:p>
            <a:pPr algn="just">
              <a:lnSpc>
                <a:spcPts val="3867"/>
              </a:lnSpc>
              <a:spcBef>
                <a:spcPct val="0"/>
              </a:spcBef>
            </a:pPr>
            <a:r>
              <a:rPr lang="en-US" sz="2762">
                <a:solidFill>
                  <a:srgbClr val="FFFFFF"/>
                </a:solidFill>
                <a:latin typeface="Inter"/>
                <a:ea typeface="Inter"/>
                <a:cs typeface="Inter"/>
                <a:sym typeface="Inter"/>
              </a:rPr>
              <a:t>Back End: Node.js and Express.js for server-side operations</a:t>
            </a:r>
          </a:p>
          <a:p>
            <a:pPr algn="just">
              <a:lnSpc>
                <a:spcPts val="3867"/>
              </a:lnSpc>
              <a:spcBef>
                <a:spcPct val="0"/>
              </a:spcBef>
            </a:pPr>
            <a:r>
              <a:rPr lang="en-US" sz="2762">
                <a:solidFill>
                  <a:srgbClr val="FFFFFF"/>
                </a:solidFill>
                <a:latin typeface="Inter"/>
                <a:ea typeface="Inter"/>
                <a:cs typeface="Inter"/>
                <a:sym typeface="Inter"/>
              </a:rPr>
              <a:t>Machine Learning Frameworks: TensorFlow and Keras for model development and training</a:t>
            </a:r>
          </a:p>
          <a:p>
            <a:pPr algn="just">
              <a:lnSpc>
                <a:spcPts val="3867"/>
              </a:lnSpc>
              <a:spcBef>
                <a:spcPct val="0"/>
              </a:spcBef>
            </a:pPr>
            <a:r>
              <a:rPr lang="en-US" sz="2762">
                <a:solidFill>
                  <a:srgbClr val="FFFFFF"/>
                </a:solidFill>
                <a:latin typeface="Inter"/>
                <a:ea typeface="Inter"/>
                <a:cs typeface="Inter"/>
                <a:sym typeface="Inter"/>
              </a:rPr>
              <a:t>Database: MongoDB or SQL for storing recipes and user data</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911066" y="2483195"/>
            <a:ext cx="15455171" cy="6775105"/>
          </a:xfrm>
          <a:prstGeom prst="rect">
            <a:avLst/>
          </a:prstGeom>
        </p:spPr>
        <p:txBody>
          <a:bodyPr anchor="t" rtlCol="false" tIns="0" lIns="0" bIns="0" rIns="0">
            <a:spAutoFit/>
          </a:bodyPr>
          <a:lstStyle/>
          <a:p>
            <a:pPr algn="l">
              <a:lnSpc>
                <a:spcPts val="3842"/>
              </a:lnSpc>
            </a:pPr>
            <a:r>
              <a:rPr lang="en-US" sz="2867">
                <a:solidFill>
                  <a:srgbClr val="FFFFFF"/>
                </a:solidFill>
                <a:latin typeface="Inter"/>
                <a:ea typeface="Inter"/>
                <a:cs typeface="Inter"/>
                <a:sym typeface="Inter"/>
              </a:rPr>
              <a:t>The FIRE (Food Image to REcipe generation) model represents a significant advancement in the field of food computing, combining cutting-edge techniques from computer vision and natural language processing. By leveraging state-of-the-art models like Vision Transformers (ViT) for ingredient extraction, BLIP for title generation, and T5 for cooking instruction generation, FIRE successfully bridges the gap between visual understanding and natural language generation. It addresses the complex challenge of generating accurate, comprehensive recipes from food images by integrating multimodal techniques into a unified pipeline.</a:t>
            </a:r>
          </a:p>
          <a:p>
            <a:pPr algn="l">
              <a:lnSpc>
                <a:spcPts val="3842"/>
              </a:lnSpc>
            </a:pPr>
            <a:r>
              <a:rPr lang="en-US" sz="2867">
                <a:solidFill>
                  <a:srgbClr val="FFFFFF"/>
                </a:solidFill>
                <a:latin typeface="Inter"/>
                <a:ea typeface="Inter"/>
                <a:cs typeface="Inter"/>
                <a:sym typeface="Inter"/>
              </a:rPr>
              <a:t>The model outperforms existing approaches in both ingredient prediction and recipe generation, demonstrating superior performance on large-scale datasets such as Recipe1M. With applications extending to personalized recipe customization and automated cooking systems, FIRE has the potential to revolutionize the way we interact with food-related technology.</a:t>
            </a:r>
          </a:p>
          <a:p>
            <a:pPr algn="l" marL="0" indent="0" lvl="0">
              <a:lnSpc>
                <a:spcPts val="3842"/>
              </a:lnSpc>
            </a:pPr>
          </a:p>
        </p:txBody>
      </p:sp>
      <p:sp>
        <p:nvSpPr>
          <p:cNvPr name="TextBox 3" id="3"/>
          <p:cNvSpPr txBox="true"/>
          <p:nvPr/>
        </p:nvSpPr>
        <p:spPr>
          <a:xfrm rot="0">
            <a:off x="5321024" y="433440"/>
            <a:ext cx="7941786" cy="1566544"/>
          </a:xfrm>
          <a:prstGeom prst="rect">
            <a:avLst/>
          </a:prstGeom>
        </p:spPr>
        <p:txBody>
          <a:bodyPr anchor="t" rtlCol="false" tIns="0" lIns="0" bIns="0" rIns="0">
            <a:spAutoFit/>
          </a:bodyPr>
          <a:lstStyle/>
          <a:p>
            <a:pPr algn="ctr">
              <a:lnSpc>
                <a:spcPts val="12880"/>
              </a:lnSpc>
            </a:pPr>
            <a:r>
              <a:rPr lang="en-US" sz="9200" b="true">
                <a:solidFill>
                  <a:srgbClr val="12BBFE"/>
                </a:solidFill>
                <a:latin typeface="Canva Sans Bold"/>
                <a:ea typeface="Canva Sans Bold"/>
                <a:cs typeface="Canva Sans Bold"/>
                <a:sym typeface="Canva Sans Bold"/>
              </a:rPr>
              <a:t>CONCLUSION</a:t>
            </a: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4980107" y="159703"/>
            <a:ext cx="7551896" cy="1566544"/>
          </a:xfrm>
          <a:prstGeom prst="rect">
            <a:avLst/>
          </a:prstGeom>
        </p:spPr>
        <p:txBody>
          <a:bodyPr anchor="t" rtlCol="false" tIns="0" lIns="0" bIns="0" rIns="0">
            <a:spAutoFit/>
          </a:bodyPr>
          <a:lstStyle/>
          <a:p>
            <a:pPr algn="ctr">
              <a:lnSpc>
                <a:spcPts val="12880"/>
              </a:lnSpc>
            </a:pPr>
            <a:r>
              <a:rPr lang="en-US" sz="9200" b="true">
                <a:solidFill>
                  <a:srgbClr val="FF914D"/>
                </a:solidFill>
                <a:latin typeface="Canva Sans Bold"/>
                <a:ea typeface="Canva Sans Bold"/>
                <a:cs typeface="Canva Sans Bold"/>
                <a:sym typeface="Canva Sans Bold"/>
              </a:rPr>
              <a:t>REFERENCES</a:t>
            </a:r>
          </a:p>
        </p:txBody>
      </p:sp>
      <p:sp>
        <p:nvSpPr>
          <p:cNvPr name="TextBox 3" id="3"/>
          <p:cNvSpPr txBox="true"/>
          <p:nvPr/>
        </p:nvSpPr>
        <p:spPr>
          <a:xfrm rot="0">
            <a:off x="835265" y="1901190"/>
            <a:ext cx="8308735" cy="8099470"/>
          </a:xfrm>
          <a:prstGeom prst="rect">
            <a:avLst/>
          </a:prstGeom>
        </p:spPr>
        <p:txBody>
          <a:bodyPr anchor="t" rtlCol="false" tIns="0" lIns="0" bIns="0" rIns="0">
            <a:spAutoFit/>
          </a:bodyPr>
          <a:lstStyle/>
          <a:p>
            <a:pPr algn="just">
              <a:lnSpc>
                <a:spcPts val="1927"/>
              </a:lnSpc>
              <a:spcBef>
                <a:spcPct val="0"/>
              </a:spcBef>
            </a:pPr>
          </a:p>
          <a:p>
            <a:pPr algn="just">
              <a:lnSpc>
                <a:spcPts val="1927"/>
              </a:lnSpc>
              <a:spcBef>
                <a:spcPct val="0"/>
              </a:spcBef>
            </a:pPr>
            <a:r>
              <a:rPr lang="en-US" sz="1927" spc="-80">
                <a:solidFill>
                  <a:srgbClr val="FFFFFF"/>
                </a:solidFill>
                <a:latin typeface="Inter"/>
                <a:ea typeface="Inter"/>
                <a:cs typeface="Inter"/>
                <a:sym typeface="Inter"/>
              </a:rPr>
              <a:t>[1] Lukas Bossard, Matthieu Guillaumin, and Luc Van Gool. Food-101–</a:t>
            </a:r>
          </a:p>
          <a:p>
            <a:pPr algn="just">
              <a:lnSpc>
                <a:spcPts val="1927"/>
              </a:lnSpc>
              <a:spcBef>
                <a:spcPct val="0"/>
              </a:spcBef>
            </a:pPr>
            <a:r>
              <a:rPr lang="en-US" sz="1927" spc="-80">
                <a:solidFill>
                  <a:srgbClr val="FFFFFF"/>
                </a:solidFill>
                <a:latin typeface="Inter"/>
                <a:ea typeface="Inter"/>
                <a:cs typeface="Inter"/>
                <a:sym typeface="Inter"/>
              </a:rPr>
              <a:t>mining discriminative components with random forests. In European</a:t>
            </a:r>
          </a:p>
          <a:p>
            <a:pPr algn="just">
              <a:lnSpc>
                <a:spcPts val="1927"/>
              </a:lnSpc>
              <a:spcBef>
                <a:spcPct val="0"/>
              </a:spcBef>
            </a:pPr>
            <a:r>
              <a:rPr lang="en-US" sz="1927" spc="-80">
                <a:solidFill>
                  <a:srgbClr val="FFFFFF"/>
                </a:solidFill>
                <a:latin typeface="Inter"/>
                <a:ea typeface="Inter"/>
                <a:cs typeface="Inter"/>
                <a:sym typeface="Inter"/>
              </a:rPr>
              <a:t>conference on computer vision, pages 446–461. Springer, 2014.</a:t>
            </a:r>
          </a:p>
          <a:p>
            <a:pPr algn="just">
              <a:lnSpc>
                <a:spcPts val="1927"/>
              </a:lnSpc>
              <a:spcBef>
                <a:spcPct val="0"/>
              </a:spcBef>
            </a:pPr>
          </a:p>
          <a:p>
            <a:pPr algn="just">
              <a:lnSpc>
                <a:spcPts val="1927"/>
              </a:lnSpc>
              <a:spcBef>
                <a:spcPct val="0"/>
              </a:spcBef>
            </a:pPr>
            <a:r>
              <a:rPr lang="en-US" sz="1927" spc="-80">
                <a:solidFill>
                  <a:srgbClr val="FFFFFF"/>
                </a:solidFill>
                <a:latin typeface="Inter"/>
                <a:ea typeface="Inter"/>
                <a:cs typeface="Inter"/>
                <a:sym typeface="Inter"/>
              </a:rPr>
              <a:t>[2] Micael Carvalho, R ́emi Cad`ene, David Picard, Laure Soulier, Nicolas</a:t>
            </a:r>
          </a:p>
          <a:p>
            <a:pPr algn="just">
              <a:lnSpc>
                <a:spcPts val="1927"/>
              </a:lnSpc>
              <a:spcBef>
                <a:spcPct val="0"/>
              </a:spcBef>
            </a:pPr>
            <a:r>
              <a:rPr lang="en-US" sz="1927" spc="-80">
                <a:solidFill>
                  <a:srgbClr val="FFFFFF"/>
                </a:solidFill>
                <a:latin typeface="Inter"/>
                <a:ea typeface="Inter"/>
                <a:cs typeface="Inter"/>
                <a:sym typeface="Inter"/>
              </a:rPr>
              <a:t>Thome, and Matthieu Cord. Cross-modal retrieval in the cooking</a:t>
            </a:r>
          </a:p>
          <a:p>
            <a:pPr algn="just">
              <a:lnSpc>
                <a:spcPts val="1927"/>
              </a:lnSpc>
              <a:spcBef>
                <a:spcPct val="0"/>
              </a:spcBef>
            </a:pPr>
            <a:r>
              <a:rPr lang="en-US" sz="1927" spc="-80">
                <a:solidFill>
                  <a:srgbClr val="FFFFFF"/>
                </a:solidFill>
                <a:latin typeface="Inter"/>
                <a:ea typeface="Inter"/>
                <a:cs typeface="Inter"/>
                <a:sym typeface="Inter"/>
              </a:rPr>
              <a:t>context: Learning semantic text-image embeddings. In The 41st In-</a:t>
            </a:r>
          </a:p>
          <a:p>
            <a:pPr algn="just">
              <a:lnSpc>
                <a:spcPts val="1927"/>
              </a:lnSpc>
              <a:spcBef>
                <a:spcPct val="0"/>
              </a:spcBef>
            </a:pPr>
            <a:r>
              <a:rPr lang="en-US" sz="1927" spc="-80">
                <a:solidFill>
                  <a:srgbClr val="FFFFFF"/>
                </a:solidFill>
                <a:latin typeface="Inter"/>
                <a:ea typeface="Inter"/>
                <a:cs typeface="Inter"/>
                <a:sym typeface="Inter"/>
              </a:rPr>
              <a:t>ternational ACM SIGIR Conference on Research &amp; Development in</a:t>
            </a:r>
          </a:p>
          <a:p>
            <a:pPr algn="just">
              <a:lnSpc>
                <a:spcPts val="1927"/>
              </a:lnSpc>
              <a:spcBef>
                <a:spcPct val="0"/>
              </a:spcBef>
            </a:pPr>
            <a:r>
              <a:rPr lang="en-US" sz="1927" spc="-80">
                <a:solidFill>
                  <a:srgbClr val="FFFFFF"/>
                </a:solidFill>
                <a:latin typeface="Inter"/>
                <a:ea typeface="Inter"/>
                <a:cs typeface="Inter"/>
                <a:sym typeface="Inter"/>
              </a:rPr>
              <a:t>Information Retrieval, pages 35–44, 2018.</a:t>
            </a:r>
          </a:p>
          <a:p>
            <a:pPr algn="just">
              <a:lnSpc>
                <a:spcPts val="1927"/>
              </a:lnSpc>
              <a:spcBef>
                <a:spcPct val="0"/>
              </a:spcBef>
            </a:pPr>
          </a:p>
          <a:p>
            <a:pPr algn="just">
              <a:lnSpc>
                <a:spcPts val="1927"/>
              </a:lnSpc>
              <a:spcBef>
                <a:spcPct val="0"/>
              </a:spcBef>
            </a:pPr>
            <a:r>
              <a:rPr lang="en-US" sz="1927" spc="-80">
                <a:solidFill>
                  <a:srgbClr val="FFFFFF"/>
                </a:solidFill>
                <a:latin typeface="Inter"/>
                <a:ea typeface="Inter"/>
                <a:cs typeface="Inter"/>
                <a:sym typeface="Inter"/>
              </a:rPr>
              <a:t>[3] Jing-jing Chen, Chong-Wah Ngo, and Tat-Seng Chua. Cross-modal</a:t>
            </a:r>
          </a:p>
          <a:p>
            <a:pPr algn="just">
              <a:lnSpc>
                <a:spcPts val="1927"/>
              </a:lnSpc>
              <a:spcBef>
                <a:spcPct val="0"/>
              </a:spcBef>
            </a:pPr>
            <a:r>
              <a:rPr lang="en-US" sz="1927" spc="-80">
                <a:solidFill>
                  <a:srgbClr val="FFFFFF"/>
                </a:solidFill>
                <a:latin typeface="Inter"/>
                <a:ea typeface="Inter"/>
                <a:cs typeface="Inter"/>
                <a:sym typeface="Inter"/>
              </a:rPr>
              <a:t>recipe retrieval with rich food attributes. In Proceedings of the 25th</a:t>
            </a:r>
          </a:p>
          <a:p>
            <a:pPr algn="just">
              <a:lnSpc>
                <a:spcPts val="1927"/>
              </a:lnSpc>
              <a:spcBef>
                <a:spcPct val="0"/>
              </a:spcBef>
            </a:pPr>
            <a:r>
              <a:rPr lang="en-US" sz="1927" spc="-80">
                <a:solidFill>
                  <a:srgbClr val="FFFFFF"/>
                </a:solidFill>
                <a:latin typeface="Inter"/>
                <a:ea typeface="Inter"/>
                <a:cs typeface="Inter"/>
                <a:sym typeface="Inter"/>
              </a:rPr>
              <a:t>ACM international conference on Multimedia, pages 1771–1779, 2017.</a:t>
            </a:r>
          </a:p>
          <a:p>
            <a:pPr algn="just">
              <a:lnSpc>
                <a:spcPts val="1927"/>
              </a:lnSpc>
              <a:spcBef>
                <a:spcPct val="0"/>
              </a:spcBef>
            </a:pPr>
          </a:p>
          <a:p>
            <a:pPr algn="just">
              <a:lnSpc>
                <a:spcPts val="1927"/>
              </a:lnSpc>
              <a:spcBef>
                <a:spcPct val="0"/>
              </a:spcBef>
            </a:pPr>
            <a:r>
              <a:rPr lang="en-US" sz="1927" spc="-80">
                <a:solidFill>
                  <a:srgbClr val="FFFFFF"/>
                </a:solidFill>
                <a:latin typeface="Inter"/>
                <a:ea typeface="Inter"/>
                <a:cs typeface="Inter"/>
                <a:sym typeface="Inter"/>
              </a:rPr>
              <a:t>[4] Jing-Jing Chen, Chong-Wah Ngo, Fu-Li Feng, and Tat-Seng Chua. Deep</a:t>
            </a:r>
          </a:p>
          <a:p>
            <a:pPr algn="just">
              <a:lnSpc>
                <a:spcPts val="1927"/>
              </a:lnSpc>
              <a:spcBef>
                <a:spcPct val="0"/>
              </a:spcBef>
            </a:pPr>
            <a:r>
              <a:rPr lang="en-US" sz="1927" spc="-80">
                <a:solidFill>
                  <a:srgbClr val="FFFFFF"/>
                </a:solidFill>
                <a:latin typeface="Inter"/>
                <a:ea typeface="Inter"/>
                <a:cs typeface="Inter"/>
                <a:sym typeface="Inter"/>
              </a:rPr>
              <a:t>understanding of cooking procedure for cross-modal recipe retrieval. In</a:t>
            </a:r>
          </a:p>
          <a:p>
            <a:pPr algn="just">
              <a:lnSpc>
                <a:spcPts val="1927"/>
              </a:lnSpc>
              <a:spcBef>
                <a:spcPct val="0"/>
              </a:spcBef>
            </a:pPr>
            <a:r>
              <a:rPr lang="en-US" sz="1927" spc="-80">
                <a:solidFill>
                  <a:srgbClr val="FFFFFF"/>
                </a:solidFill>
                <a:latin typeface="Inter"/>
                <a:ea typeface="Inter"/>
                <a:cs typeface="Inter"/>
                <a:sym typeface="Inter"/>
              </a:rPr>
              <a:t>Proceedings of the 26th ACM international conference on Multimedia,</a:t>
            </a:r>
          </a:p>
          <a:p>
            <a:pPr algn="just">
              <a:lnSpc>
                <a:spcPts val="1927"/>
              </a:lnSpc>
              <a:spcBef>
                <a:spcPct val="0"/>
              </a:spcBef>
            </a:pPr>
            <a:r>
              <a:rPr lang="en-US" sz="1927" spc="-80">
                <a:solidFill>
                  <a:srgbClr val="FFFFFF"/>
                </a:solidFill>
                <a:latin typeface="Inter"/>
                <a:ea typeface="Inter"/>
                <a:cs typeface="Inter"/>
                <a:sym typeface="Inter"/>
              </a:rPr>
              <a:t>pages 1020–1028, 2018.</a:t>
            </a:r>
          </a:p>
          <a:p>
            <a:pPr algn="just">
              <a:lnSpc>
                <a:spcPts val="1927"/>
              </a:lnSpc>
              <a:spcBef>
                <a:spcPct val="0"/>
              </a:spcBef>
            </a:pPr>
          </a:p>
          <a:p>
            <a:pPr algn="just">
              <a:lnSpc>
                <a:spcPts val="1927"/>
              </a:lnSpc>
              <a:spcBef>
                <a:spcPct val="0"/>
              </a:spcBef>
            </a:pPr>
            <a:r>
              <a:rPr lang="en-US" sz="1927" spc="-80">
                <a:solidFill>
                  <a:srgbClr val="FFFFFF"/>
                </a:solidFill>
                <a:latin typeface="Inter"/>
                <a:ea typeface="Inter"/>
                <a:cs typeface="Inter"/>
                <a:sym typeface="Inter"/>
              </a:rPr>
              <a:t>[5] Mei Chen, Kapil Dhingra, Wen Wu, Lei Yang, Rahul Sukthankar, and</a:t>
            </a:r>
          </a:p>
          <a:p>
            <a:pPr algn="just">
              <a:lnSpc>
                <a:spcPts val="1927"/>
              </a:lnSpc>
              <a:spcBef>
                <a:spcPct val="0"/>
              </a:spcBef>
            </a:pPr>
            <a:r>
              <a:rPr lang="en-US" sz="1927" spc="-80">
                <a:solidFill>
                  <a:srgbClr val="FFFFFF"/>
                </a:solidFill>
                <a:latin typeface="Inter"/>
                <a:ea typeface="Inter"/>
                <a:cs typeface="Inter"/>
                <a:sym typeface="Inter"/>
              </a:rPr>
              <a:t>Jie Yang. Pfid: Pittsburgh fast-food image dataset. In 2009 16th IEEE</a:t>
            </a:r>
          </a:p>
          <a:p>
            <a:pPr algn="just">
              <a:lnSpc>
                <a:spcPts val="1927"/>
              </a:lnSpc>
              <a:spcBef>
                <a:spcPct val="0"/>
              </a:spcBef>
            </a:pPr>
            <a:r>
              <a:rPr lang="en-US" sz="1927" spc="-80">
                <a:solidFill>
                  <a:srgbClr val="FFFFFF"/>
                </a:solidFill>
                <a:latin typeface="Inter"/>
                <a:ea typeface="Inter"/>
                <a:cs typeface="Inter"/>
                <a:sym typeface="Inter"/>
              </a:rPr>
              <a:t>International Conference on Image Processing (ICIP), pages 289–292.</a:t>
            </a:r>
          </a:p>
          <a:p>
            <a:pPr algn="just">
              <a:lnSpc>
                <a:spcPts val="1927"/>
              </a:lnSpc>
              <a:spcBef>
                <a:spcPct val="0"/>
              </a:spcBef>
            </a:pPr>
            <a:r>
              <a:rPr lang="en-US" sz="1927" spc="-80">
                <a:solidFill>
                  <a:srgbClr val="FFFFFF"/>
                </a:solidFill>
                <a:latin typeface="Inter"/>
                <a:ea typeface="Inter"/>
                <a:cs typeface="Inter"/>
                <a:sym typeface="Inter"/>
              </a:rPr>
              <a:t>IEEE, 2009.</a:t>
            </a:r>
          </a:p>
          <a:p>
            <a:pPr algn="just">
              <a:lnSpc>
                <a:spcPts val="1927"/>
              </a:lnSpc>
              <a:spcBef>
                <a:spcPct val="0"/>
              </a:spcBef>
            </a:pPr>
          </a:p>
          <a:p>
            <a:pPr algn="just">
              <a:lnSpc>
                <a:spcPts val="1927"/>
              </a:lnSpc>
              <a:spcBef>
                <a:spcPct val="0"/>
              </a:spcBef>
            </a:pPr>
            <a:r>
              <a:rPr lang="en-US" sz="1927" spc="-80">
                <a:solidFill>
                  <a:srgbClr val="FFFFFF"/>
                </a:solidFill>
                <a:latin typeface="Inter"/>
                <a:ea typeface="Inter"/>
                <a:cs typeface="Inter"/>
                <a:sym typeface="Inter"/>
              </a:rPr>
              <a:t>[6] Gianluigi Ciocca, Paolo Napoletano, and Raimondo Schettini. Food</a:t>
            </a:r>
          </a:p>
          <a:p>
            <a:pPr algn="just">
              <a:lnSpc>
                <a:spcPts val="1927"/>
              </a:lnSpc>
              <a:spcBef>
                <a:spcPct val="0"/>
              </a:spcBef>
            </a:pPr>
            <a:r>
              <a:rPr lang="en-US" sz="1927" spc="-80">
                <a:solidFill>
                  <a:srgbClr val="FFFFFF"/>
                </a:solidFill>
                <a:latin typeface="Inter"/>
                <a:ea typeface="Inter"/>
                <a:cs typeface="Inter"/>
                <a:sym typeface="Inter"/>
              </a:rPr>
              <a:t>recognition: a new dataset, experiments, and results. IEEE journal of</a:t>
            </a:r>
          </a:p>
          <a:p>
            <a:pPr algn="just">
              <a:lnSpc>
                <a:spcPts val="1927"/>
              </a:lnSpc>
              <a:spcBef>
                <a:spcPct val="0"/>
              </a:spcBef>
            </a:pPr>
            <a:r>
              <a:rPr lang="en-US" sz="1927" spc="-80">
                <a:solidFill>
                  <a:srgbClr val="FFFFFF"/>
                </a:solidFill>
                <a:latin typeface="Inter"/>
                <a:ea typeface="Inter"/>
                <a:cs typeface="Inter"/>
                <a:sym typeface="Inter"/>
              </a:rPr>
              <a:t>biomedical and health informatics, 21(3):588–598, 2016.</a:t>
            </a:r>
          </a:p>
          <a:p>
            <a:pPr algn="just">
              <a:lnSpc>
                <a:spcPts val="1927"/>
              </a:lnSpc>
              <a:spcBef>
                <a:spcPct val="0"/>
              </a:spcBef>
            </a:pPr>
          </a:p>
          <a:p>
            <a:pPr algn="just">
              <a:lnSpc>
                <a:spcPts val="1927"/>
              </a:lnSpc>
              <a:spcBef>
                <a:spcPct val="0"/>
              </a:spcBef>
            </a:pPr>
            <a:r>
              <a:rPr lang="en-US" sz="1927" spc="-80">
                <a:solidFill>
                  <a:srgbClr val="FFFFFF"/>
                </a:solidFill>
                <a:latin typeface="Inter"/>
                <a:ea typeface="Inter"/>
                <a:cs typeface="Inter"/>
                <a:sym typeface="Inter"/>
              </a:rPr>
              <a:t>[7] Jia Deng, Wei Dong, Richard Socher, Li-Jia Li, Kai Li, and Li Fei-</a:t>
            </a:r>
          </a:p>
          <a:p>
            <a:pPr algn="just">
              <a:lnSpc>
                <a:spcPts val="1927"/>
              </a:lnSpc>
              <a:spcBef>
                <a:spcPct val="0"/>
              </a:spcBef>
            </a:pPr>
            <a:r>
              <a:rPr lang="en-US" sz="1927" spc="-80">
                <a:solidFill>
                  <a:srgbClr val="FFFFFF"/>
                </a:solidFill>
                <a:latin typeface="Inter"/>
                <a:ea typeface="Inter"/>
                <a:cs typeface="Inter"/>
                <a:sym typeface="Inter"/>
              </a:rPr>
              <a:t>Fei. Imagenet: A large-scale hierarchical image database. In 2009 IEEE</a:t>
            </a:r>
          </a:p>
          <a:p>
            <a:pPr algn="just">
              <a:lnSpc>
                <a:spcPts val="1927"/>
              </a:lnSpc>
              <a:spcBef>
                <a:spcPct val="0"/>
              </a:spcBef>
            </a:pPr>
            <a:r>
              <a:rPr lang="en-US" sz="1927" spc="-80">
                <a:solidFill>
                  <a:srgbClr val="FFFFFF"/>
                </a:solidFill>
                <a:latin typeface="Inter"/>
                <a:ea typeface="Inter"/>
                <a:cs typeface="Inter"/>
                <a:sym typeface="Inter"/>
              </a:rPr>
              <a:t>conference on computer vision and pattern recognition, pages 248–255.</a:t>
            </a:r>
          </a:p>
          <a:p>
            <a:pPr algn="just">
              <a:lnSpc>
                <a:spcPts val="1927"/>
              </a:lnSpc>
              <a:spcBef>
                <a:spcPct val="0"/>
              </a:spcBef>
            </a:pPr>
            <a:r>
              <a:rPr lang="en-US" sz="1927" spc="-80">
                <a:solidFill>
                  <a:srgbClr val="FFFFFF"/>
                </a:solidFill>
                <a:latin typeface="Inter"/>
                <a:ea typeface="Inter"/>
                <a:cs typeface="Inter"/>
                <a:sym typeface="Inter"/>
              </a:rPr>
              <a:t>Ieee, 2009.</a:t>
            </a:r>
          </a:p>
        </p:txBody>
      </p:sp>
      <p:sp>
        <p:nvSpPr>
          <p:cNvPr name="TextBox 4" id="4"/>
          <p:cNvSpPr txBox="true"/>
          <p:nvPr/>
        </p:nvSpPr>
        <p:spPr>
          <a:xfrm rot="0">
            <a:off x="9027204" y="2026388"/>
            <a:ext cx="8232096" cy="7974273"/>
          </a:xfrm>
          <a:prstGeom prst="rect">
            <a:avLst/>
          </a:prstGeom>
        </p:spPr>
        <p:txBody>
          <a:bodyPr anchor="t" rtlCol="false" tIns="0" lIns="0" bIns="0" rIns="0">
            <a:spAutoFit/>
          </a:bodyPr>
          <a:lstStyle/>
          <a:p>
            <a:pPr algn="just">
              <a:lnSpc>
                <a:spcPts val="2019"/>
              </a:lnSpc>
              <a:spcBef>
                <a:spcPct val="0"/>
              </a:spcBef>
            </a:pPr>
            <a:r>
              <a:rPr lang="en-US" sz="2019" spc="-84">
                <a:solidFill>
                  <a:srgbClr val="FFFFFF"/>
                </a:solidFill>
                <a:latin typeface="Inter"/>
                <a:ea typeface="Inter"/>
                <a:cs typeface="Inter"/>
                <a:sym typeface="Inter"/>
              </a:rPr>
              <a:t>[</a:t>
            </a:r>
            <a:r>
              <a:rPr lang="en-US" sz="2019" spc="-84">
                <a:solidFill>
                  <a:srgbClr val="FFFFFF"/>
                </a:solidFill>
                <a:latin typeface="Inter"/>
                <a:ea typeface="Inter"/>
                <a:cs typeface="Inter"/>
                <a:sym typeface="Inter"/>
              </a:rPr>
              <a:t>8] Shaobo Fang, Chang Liu, Fengqing Zhu, Edward J Delp, and Carol J</a:t>
            </a:r>
          </a:p>
          <a:p>
            <a:pPr algn="just">
              <a:lnSpc>
                <a:spcPts val="2019"/>
              </a:lnSpc>
              <a:spcBef>
                <a:spcPct val="0"/>
              </a:spcBef>
            </a:pPr>
            <a:r>
              <a:rPr lang="en-US" sz="2019" spc="-84">
                <a:solidFill>
                  <a:srgbClr val="FFFFFF"/>
                </a:solidFill>
                <a:latin typeface="Inter"/>
                <a:ea typeface="Inter"/>
                <a:cs typeface="Inter"/>
                <a:sym typeface="Inter"/>
              </a:rPr>
              <a:t>Boushey. Single-view food portion estimation based on geometric</a:t>
            </a:r>
          </a:p>
          <a:p>
            <a:pPr algn="just">
              <a:lnSpc>
                <a:spcPts val="2019"/>
              </a:lnSpc>
              <a:spcBef>
                <a:spcPct val="0"/>
              </a:spcBef>
            </a:pPr>
            <a:r>
              <a:rPr lang="en-US" sz="2019" spc="-84">
                <a:solidFill>
                  <a:srgbClr val="FFFFFF"/>
                </a:solidFill>
                <a:latin typeface="Inter"/>
                <a:ea typeface="Inter"/>
                <a:cs typeface="Inter"/>
                <a:sym typeface="Inter"/>
              </a:rPr>
              <a:t>models. In 2015 IEEE International Symposium on Multimedia (ISM),</a:t>
            </a:r>
          </a:p>
          <a:p>
            <a:pPr algn="just">
              <a:lnSpc>
                <a:spcPts val="2019"/>
              </a:lnSpc>
              <a:spcBef>
                <a:spcPct val="0"/>
              </a:spcBef>
            </a:pPr>
            <a:r>
              <a:rPr lang="en-US" sz="2019" spc="-84">
                <a:solidFill>
                  <a:srgbClr val="FFFFFF"/>
                </a:solidFill>
                <a:latin typeface="Inter"/>
                <a:ea typeface="Inter"/>
                <a:cs typeface="Inter"/>
                <a:sym typeface="Inter"/>
              </a:rPr>
              <a:t>pages 385–390. IEEE, 2015.</a:t>
            </a:r>
          </a:p>
          <a:p>
            <a:pPr algn="just">
              <a:lnSpc>
                <a:spcPts val="2019"/>
              </a:lnSpc>
              <a:spcBef>
                <a:spcPct val="0"/>
              </a:spcBef>
            </a:pPr>
          </a:p>
          <a:p>
            <a:pPr algn="just">
              <a:lnSpc>
                <a:spcPts val="2019"/>
              </a:lnSpc>
              <a:spcBef>
                <a:spcPct val="0"/>
              </a:spcBef>
            </a:pPr>
            <a:r>
              <a:rPr lang="en-US" sz="2019" spc="-84">
                <a:solidFill>
                  <a:srgbClr val="FFFFFF"/>
                </a:solidFill>
                <a:latin typeface="Inter"/>
                <a:ea typeface="Inter"/>
                <a:cs typeface="Inter"/>
                <a:sym typeface="Inter"/>
              </a:rPr>
              <a:t>[9] Erica Greene. Extracting structured data from recipes using conditional</a:t>
            </a:r>
          </a:p>
          <a:p>
            <a:pPr algn="just">
              <a:lnSpc>
                <a:spcPts val="2019"/>
              </a:lnSpc>
              <a:spcBef>
                <a:spcPct val="0"/>
              </a:spcBef>
            </a:pPr>
            <a:r>
              <a:rPr lang="en-US" sz="2019" spc="-84">
                <a:solidFill>
                  <a:srgbClr val="FFFFFF"/>
                </a:solidFill>
                <a:latin typeface="Inter"/>
                <a:ea typeface="Inter"/>
                <a:cs typeface="Inter"/>
                <a:sym typeface="Inter"/>
              </a:rPr>
              <a:t>random fields, Apr 2015.</a:t>
            </a:r>
          </a:p>
          <a:p>
            <a:pPr algn="just">
              <a:lnSpc>
                <a:spcPts val="2019"/>
              </a:lnSpc>
              <a:spcBef>
                <a:spcPct val="0"/>
              </a:spcBef>
            </a:pPr>
          </a:p>
          <a:p>
            <a:pPr algn="just">
              <a:lnSpc>
                <a:spcPts val="2019"/>
              </a:lnSpc>
              <a:spcBef>
                <a:spcPct val="0"/>
              </a:spcBef>
            </a:pPr>
            <a:r>
              <a:rPr lang="en-US" sz="2019" spc="-84">
                <a:solidFill>
                  <a:srgbClr val="FFFFFF"/>
                </a:solidFill>
                <a:latin typeface="Inter"/>
                <a:ea typeface="Inter"/>
                <a:cs typeface="Inter"/>
                <a:sym typeface="Inter"/>
              </a:rPr>
              <a:t>[10] Hamid Hassannejad, Guido Matrella, Paolo Ciampolini, Ilaria De Mu-</a:t>
            </a:r>
          </a:p>
          <a:p>
            <a:pPr algn="just">
              <a:lnSpc>
                <a:spcPts val="2019"/>
              </a:lnSpc>
              <a:spcBef>
                <a:spcPct val="0"/>
              </a:spcBef>
            </a:pPr>
            <a:r>
              <a:rPr lang="en-US" sz="2019" spc="-84">
                <a:solidFill>
                  <a:srgbClr val="FFFFFF"/>
                </a:solidFill>
                <a:latin typeface="Inter"/>
                <a:ea typeface="Inter"/>
                <a:cs typeface="Inter"/>
                <a:sym typeface="Inter"/>
              </a:rPr>
              <a:t>nari, Monica Mordonini, and Stefano Cagnoni. Food image recognition</a:t>
            </a:r>
          </a:p>
          <a:p>
            <a:pPr algn="just">
              <a:lnSpc>
                <a:spcPts val="2019"/>
              </a:lnSpc>
              <a:spcBef>
                <a:spcPct val="0"/>
              </a:spcBef>
            </a:pPr>
            <a:r>
              <a:rPr lang="en-US" sz="2019" spc="-84">
                <a:solidFill>
                  <a:srgbClr val="FFFFFF"/>
                </a:solidFill>
                <a:latin typeface="Inter"/>
                <a:ea typeface="Inter"/>
                <a:cs typeface="Inter"/>
                <a:sym typeface="Inter"/>
              </a:rPr>
              <a:t>using very deep convolutional networks. In Proceedings of the 2nd</a:t>
            </a:r>
          </a:p>
          <a:p>
            <a:pPr algn="just">
              <a:lnSpc>
                <a:spcPts val="2019"/>
              </a:lnSpc>
              <a:spcBef>
                <a:spcPct val="0"/>
              </a:spcBef>
            </a:pPr>
            <a:r>
              <a:rPr lang="en-US" sz="2019" spc="-84">
                <a:solidFill>
                  <a:srgbClr val="FFFFFF"/>
                </a:solidFill>
                <a:latin typeface="Inter"/>
                <a:ea typeface="Inter"/>
                <a:cs typeface="Inter"/>
                <a:sym typeface="Inter"/>
              </a:rPr>
              <a:t>International Workshop on Multimedia Assisted Dietary Management,</a:t>
            </a:r>
          </a:p>
          <a:p>
            <a:pPr algn="just">
              <a:lnSpc>
                <a:spcPts val="2019"/>
              </a:lnSpc>
              <a:spcBef>
                <a:spcPct val="0"/>
              </a:spcBef>
            </a:pPr>
            <a:r>
              <a:rPr lang="en-US" sz="2019" spc="-84">
                <a:solidFill>
                  <a:srgbClr val="FFFFFF"/>
                </a:solidFill>
                <a:latin typeface="Inter"/>
                <a:ea typeface="Inter"/>
                <a:cs typeface="Inter"/>
                <a:sym typeface="Inter"/>
              </a:rPr>
              <a:t>pages 41–49, 2016.</a:t>
            </a:r>
          </a:p>
          <a:p>
            <a:pPr algn="just">
              <a:lnSpc>
                <a:spcPts val="2019"/>
              </a:lnSpc>
              <a:spcBef>
                <a:spcPct val="0"/>
              </a:spcBef>
            </a:pPr>
          </a:p>
          <a:p>
            <a:pPr algn="just">
              <a:lnSpc>
                <a:spcPts val="2019"/>
              </a:lnSpc>
              <a:spcBef>
                <a:spcPct val="0"/>
              </a:spcBef>
            </a:pPr>
            <a:r>
              <a:rPr lang="en-US" sz="2019" spc="-84">
                <a:solidFill>
                  <a:srgbClr val="FFFFFF"/>
                </a:solidFill>
                <a:latin typeface="Inter"/>
                <a:ea typeface="Inter"/>
                <a:cs typeface="Inter"/>
                <a:sym typeface="Inter"/>
              </a:rPr>
              <a:t>[11] Kaiming He, Xiangyu Zhang, Shaoqing Ren, and Jian Sun. Deep</a:t>
            </a:r>
          </a:p>
          <a:p>
            <a:pPr algn="just">
              <a:lnSpc>
                <a:spcPts val="2019"/>
              </a:lnSpc>
              <a:spcBef>
                <a:spcPct val="0"/>
              </a:spcBef>
            </a:pPr>
            <a:r>
              <a:rPr lang="en-US" sz="2019" spc="-84">
                <a:solidFill>
                  <a:srgbClr val="FFFFFF"/>
                </a:solidFill>
                <a:latin typeface="Inter"/>
                <a:ea typeface="Inter"/>
                <a:cs typeface="Inter"/>
                <a:sym typeface="Inter"/>
              </a:rPr>
              <a:t>residual learning for image recognition. In Proceedings of the IEEE</a:t>
            </a:r>
          </a:p>
          <a:p>
            <a:pPr algn="just">
              <a:lnSpc>
                <a:spcPts val="2019"/>
              </a:lnSpc>
              <a:spcBef>
                <a:spcPct val="0"/>
              </a:spcBef>
            </a:pPr>
            <a:r>
              <a:rPr lang="en-US" sz="2019" spc="-84">
                <a:solidFill>
                  <a:srgbClr val="FFFFFF"/>
                </a:solidFill>
                <a:latin typeface="Inter"/>
                <a:ea typeface="Inter"/>
                <a:cs typeface="Inter"/>
                <a:sym typeface="Inter"/>
              </a:rPr>
              <a:t>conference on computer vision and pattern recognition, pages 770–778,</a:t>
            </a:r>
          </a:p>
          <a:p>
            <a:pPr algn="just">
              <a:lnSpc>
                <a:spcPts val="2019"/>
              </a:lnSpc>
              <a:spcBef>
                <a:spcPct val="0"/>
              </a:spcBef>
            </a:pPr>
            <a:r>
              <a:rPr lang="en-US" sz="2019" spc="-84">
                <a:solidFill>
                  <a:srgbClr val="FFFFFF"/>
                </a:solidFill>
                <a:latin typeface="Inter"/>
                <a:ea typeface="Inter"/>
                <a:cs typeface="Inter"/>
                <a:sym typeface="Inter"/>
              </a:rPr>
              <a:t>2016.</a:t>
            </a:r>
          </a:p>
          <a:p>
            <a:pPr algn="just">
              <a:lnSpc>
                <a:spcPts val="2019"/>
              </a:lnSpc>
              <a:spcBef>
                <a:spcPct val="0"/>
              </a:spcBef>
            </a:pPr>
          </a:p>
          <a:p>
            <a:pPr algn="just">
              <a:lnSpc>
                <a:spcPts val="2019"/>
              </a:lnSpc>
              <a:spcBef>
                <a:spcPct val="0"/>
              </a:spcBef>
            </a:pPr>
            <a:r>
              <a:rPr lang="en-US" sz="2019" spc="-84">
                <a:solidFill>
                  <a:srgbClr val="FFFFFF"/>
                </a:solidFill>
                <a:latin typeface="Inter"/>
                <a:ea typeface="Inter"/>
                <a:cs typeface="Inter"/>
                <a:sym typeface="Inter"/>
              </a:rPr>
              <a:t>[12] Ye He, Chang Xu, Nitin Khanna, Carol J Boushey, and Edward J</a:t>
            </a:r>
          </a:p>
          <a:p>
            <a:pPr algn="just">
              <a:lnSpc>
                <a:spcPts val="2019"/>
              </a:lnSpc>
              <a:spcBef>
                <a:spcPct val="0"/>
              </a:spcBef>
            </a:pPr>
            <a:r>
              <a:rPr lang="en-US" sz="2019" spc="-84">
                <a:solidFill>
                  <a:srgbClr val="FFFFFF"/>
                </a:solidFill>
                <a:latin typeface="Inter"/>
                <a:ea typeface="Inter"/>
                <a:cs typeface="Inter"/>
                <a:sym typeface="Inter"/>
              </a:rPr>
              <a:t>Delp. Context based food image analysis. In 2013 IEEE International</a:t>
            </a:r>
          </a:p>
          <a:p>
            <a:pPr algn="just">
              <a:lnSpc>
                <a:spcPts val="2019"/>
              </a:lnSpc>
              <a:spcBef>
                <a:spcPct val="0"/>
              </a:spcBef>
            </a:pPr>
            <a:r>
              <a:rPr lang="en-US" sz="2019" spc="-84">
                <a:solidFill>
                  <a:srgbClr val="FFFFFF"/>
                </a:solidFill>
                <a:latin typeface="Inter"/>
                <a:ea typeface="Inter"/>
                <a:cs typeface="Inter"/>
                <a:sym typeface="Inter"/>
              </a:rPr>
              <a:t>Conference on Image Processing, pages 2748–2752. IEEE, 2013.</a:t>
            </a:r>
          </a:p>
          <a:p>
            <a:pPr algn="just">
              <a:lnSpc>
                <a:spcPts val="2019"/>
              </a:lnSpc>
              <a:spcBef>
                <a:spcPct val="0"/>
              </a:spcBef>
            </a:pPr>
          </a:p>
          <a:p>
            <a:pPr algn="just">
              <a:lnSpc>
                <a:spcPts val="2019"/>
              </a:lnSpc>
              <a:spcBef>
                <a:spcPct val="0"/>
              </a:spcBef>
            </a:pPr>
            <a:r>
              <a:rPr lang="en-US" sz="2019" spc="-84">
                <a:solidFill>
                  <a:srgbClr val="FFFFFF"/>
                </a:solidFill>
                <a:latin typeface="Inter"/>
                <a:ea typeface="Inter"/>
                <a:cs typeface="Inter"/>
                <a:sym typeface="Inter"/>
              </a:rPr>
              <a:t>[13] Luis Herranz, Weiqing Min, and Shuqiang Jiang. Food recognition</a:t>
            </a:r>
          </a:p>
          <a:p>
            <a:pPr algn="just">
              <a:lnSpc>
                <a:spcPts val="2019"/>
              </a:lnSpc>
              <a:spcBef>
                <a:spcPct val="0"/>
              </a:spcBef>
            </a:pPr>
            <a:r>
              <a:rPr lang="en-US" sz="2019" spc="-84">
                <a:solidFill>
                  <a:srgbClr val="FFFFFF"/>
                </a:solidFill>
                <a:latin typeface="Inter"/>
                <a:ea typeface="Inter"/>
                <a:cs typeface="Inter"/>
                <a:sym typeface="Inter"/>
              </a:rPr>
              <a:t>and recipe analysis: integrating visual content, context and external</a:t>
            </a:r>
          </a:p>
          <a:p>
            <a:pPr algn="just">
              <a:lnSpc>
                <a:spcPts val="2019"/>
              </a:lnSpc>
              <a:spcBef>
                <a:spcPct val="0"/>
              </a:spcBef>
            </a:pPr>
            <a:r>
              <a:rPr lang="en-US" sz="2019" spc="-84">
                <a:solidFill>
                  <a:srgbClr val="FFFFFF"/>
                </a:solidFill>
                <a:latin typeface="Inter"/>
                <a:ea typeface="Inter"/>
                <a:cs typeface="Inter"/>
                <a:sym typeface="Inter"/>
              </a:rPr>
              <a:t>knowledge. arXiv preprint arXiv:1801.07239, 2018.</a:t>
            </a:r>
          </a:p>
          <a:p>
            <a:pPr algn="just">
              <a:lnSpc>
                <a:spcPts val="2019"/>
              </a:lnSpc>
              <a:spcBef>
                <a:spcPct val="0"/>
              </a:spcBef>
            </a:pPr>
          </a:p>
          <a:p>
            <a:pPr algn="just">
              <a:lnSpc>
                <a:spcPts val="2019"/>
              </a:lnSpc>
              <a:spcBef>
                <a:spcPct val="0"/>
              </a:spcBef>
            </a:pPr>
            <a:r>
              <a:rPr lang="en-US" sz="2019" spc="-84">
                <a:solidFill>
                  <a:srgbClr val="FFFFFF"/>
                </a:solidFill>
                <a:latin typeface="Inter"/>
                <a:ea typeface="Inter"/>
                <a:cs typeface="Inter"/>
                <a:sym typeface="Inter"/>
              </a:rPr>
              <a:t>[14] Gao Huang, Zhuang Liu, Laurens Van Der Maaten, and Kilian Q</a:t>
            </a:r>
          </a:p>
          <a:p>
            <a:pPr algn="just">
              <a:lnSpc>
                <a:spcPts val="2019"/>
              </a:lnSpc>
              <a:spcBef>
                <a:spcPct val="0"/>
              </a:spcBef>
            </a:pPr>
            <a:r>
              <a:rPr lang="en-US" sz="2019" spc="-84">
                <a:solidFill>
                  <a:srgbClr val="FFFFFF"/>
                </a:solidFill>
                <a:latin typeface="Inter"/>
                <a:ea typeface="Inter"/>
                <a:cs typeface="Inter"/>
                <a:sym typeface="Inter"/>
              </a:rPr>
              <a:t>Weinberger. Densely connected convolutional networks. In Proceedings</a:t>
            </a:r>
          </a:p>
          <a:p>
            <a:pPr algn="just">
              <a:lnSpc>
                <a:spcPts val="2019"/>
              </a:lnSpc>
              <a:spcBef>
                <a:spcPct val="0"/>
              </a:spcBef>
            </a:pPr>
            <a:r>
              <a:rPr lang="en-US" sz="2019" spc="-84">
                <a:solidFill>
                  <a:srgbClr val="FFFFFF"/>
                </a:solidFill>
                <a:latin typeface="Inter"/>
                <a:ea typeface="Inter"/>
                <a:cs typeface="Inter"/>
                <a:sym typeface="Inter"/>
              </a:rPr>
              <a:t>of the IEEE conference on computer vision and pattern recognition,</a:t>
            </a:r>
          </a:p>
          <a:p>
            <a:pPr algn="just">
              <a:lnSpc>
                <a:spcPts val="2019"/>
              </a:lnSpc>
              <a:spcBef>
                <a:spcPct val="0"/>
              </a:spcBef>
            </a:pPr>
            <a:r>
              <a:rPr lang="en-US" sz="2019" spc="-84">
                <a:solidFill>
                  <a:srgbClr val="FFFFFF"/>
                </a:solidFill>
                <a:latin typeface="Inter"/>
                <a:ea typeface="Inter"/>
                <a:cs typeface="Inter"/>
                <a:sym typeface="Inter"/>
              </a:rPr>
              <a:t>pages 4700–4708, 2017.</a:t>
            </a: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498427" y="1519704"/>
            <a:ext cx="7272097" cy="5226767"/>
          </a:xfrm>
          <a:prstGeom prst="rect">
            <a:avLst/>
          </a:prstGeom>
        </p:spPr>
        <p:txBody>
          <a:bodyPr anchor="t" rtlCol="false" tIns="0" lIns="0" bIns="0" rIns="0">
            <a:spAutoFit/>
          </a:bodyPr>
          <a:lstStyle/>
          <a:p>
            <a:pPr algn="ctr">
              <a:lnSpc>
                <a:spcPts val="13948"/>
              </a:lnSpc>
            </a:pPr>
            <a:r>
              <a:rPr lang="en-US" b="true" sz="10107" spc="990">
                <a:solidFill>
                  <a:srgbClr val="FFFFFF"/>
                </a:solidFill>
                <a:latin typeface="Oswald Bold"/>
                <a:ea typeface="Oswald Bold"/>
                <a:cs typeface="Oswald Bold"/>
                <a:sym typeface="Oswald Bold"/>
              </a:rPr>
              <a:t>THANK YOU</a:t>
            </a:r>
          </a:p>
          <a:p>
            <a:pPr algn="ctr">
              <a:lnSpc>
                <a:spcPts val="13948"/>
              </a:lnSpc>
            </a:pPr>
            <a:r>
              <a:rPr lang="en-US" b="true" sz="10107" spc="990">
                <a:solidFill>
                  <a:srgbClr val="FFFFFF"/>
                </a:solidFill>
                <a:latin typeface="Oswald Bold"/>
                <a:ea typeface="Oswald Bold"/>
                <a:cs typeface="Oswald Bold"/>
                <a:sym typeface="Oswald Bold"/>
              </a:rPr>
              <a:t>ANY QUERIES?</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DAGRr2W7Idk</dc:identifier>
  <dcterms:modified xsi:type="dcterms:W3CDTF">2011-08-01T06:04:30Z</dcterms:modified>
  <cp:revision>1</cp:revision>
  <dc:title>Copy of Seminar</dc:title>
</cp:coreProperties>
</file>